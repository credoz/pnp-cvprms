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e6eea6b-0266-3e01-8851-c9bb35350fc3}">
          <p14:sldIdLst>
            <p14:sldId id="256"/>
            <p14:sldId id="257"/>
          </p14:sldIdLst>
        </p14:section>
        <p14:section name="Problem &amp; Objectives" id="{118de314-dba1-a380-004b-f53fdf9c2005}">
          <p14:sldIdLst>
            <p14:sldId id="258"/>
            <p14:sldId id="259"/>
            <p14:sldId id="260"/>
          </p14:sldIdLst>
        </p14:section>
        <p14:section name="Scope &amp; Requirements" id="{c3e50d2d-e551-5296-bcaf-c4598957a89c}">
          <p14:sldIdLst>
            <p14:sldId id="261"/>
            <p14:sldId id="262"/>
          </p14:sldIdLst>
        </p14:section>
        <p14:section name="System Design" id="{38684d47-496b-4691-b144-9b720a0d7cac}">
          <p14:sldIdLst>
            <p14:sldId id="263"/>
            <p14:sldId id="264"/>
            <p14:sldId id="265"/>
            <p14:sldId id="266"/>
          </p14:sldIdLst>
        </p14:section>
        <p14:section name="Implementation" id="{ceb7ef23-0fc2-16ac-9017-be77038c7b70}">
          <p14:sldIdLst>
            <p14:sldId id="267"/>
            <p14:sldId id="268"/>
            <p14:sldId id="269"/>
          </p14:sldIdLst>
        </p14:section>
        <p14:section name="Quality &amp; Process" id="{c5005f30-face-9eb1-b5d6-15969c781fbc}">
          <p14:sldIdLst>
            <p14:sldId id="270"/>
            <p14:sldId id="271"/>
          </p14:sldIdLst>
        </p14:section>
        <p14:section name="Demo &amp; Close" id="{f1c2db2e-645d-e427-d61f-1a90847ab365}">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Cases</c:v>
                </c:pt>
              </c:strCache>
            </c:strRef>
          </c:tx>
          <c:spPr>
            <a:solidFill>
              <a:srgbClr val="2057B8"/>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Sheet1!$A$2:$A$8</c:f>
              <c:multiLvlStrCache>
                <c:ptCount val="7"/>
                <c:lvl>
                  <c:pt idx="0">
                    <c:v>No driver's license</c:v>
                  </c:pt>
                  <c:pt idx="1">
                    <c:v>No helmet / seatbelt</c:v>
                  </c:pt>
                  <c:pt idx="2">
                    <c:v>Disregarding signs</c:v>
                  </c:pt>
                  <c:pt idx="3">
                    <c:v>Expired registration</c:v>
                  </c:pt>
                  <c:pt idx="4">
                    <c:v>Reckless / counterflow</c:v>
                  </c:pt>
                  <c:pt idx="5">
                    <c:v>Defective equip. / smoke</c:v>
                  </c:pt>
                  <c:pt idx="6">
                    <c:v>DUI</c:v>
                  </c:pt>
                </c:lvl>
              </c:multiLvlStrCache>
            </c:multiLvlStrRef>
          </c:cat>
          <c:val>
            <c:numRef>
              <c:f>Sheet1!$B$2:$B$8</c:f>
              <c:numCache>
                <c:formatCode>General</c:formatCode>
                <c:ptCount val="7"/>
                <c:pt idx="0">
                  <c:v>84</c:v>
                </c:pt>
                <c:pt idx="1">
                  <c:v>62</c:v>
                </c:pt>
                <c:pt idx="2">
                  <c:v>48</c:v>
                </c:pt>
                <c:pt idx="3">
                  <c:v>39</c:v>
                </c:pt>
                <c:pt idx="4">
                  <c:v>27</c:v>
                </c:pt>
                <c:pt idx="5">
                  <c:v>18</c:v>
                </c:pt>
                <c:pt idx="6">
                  <c:v>9</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Fines (PHP)</c:v>
                </c:pt>
              </c:strCache>
            </c:strRef>
          </c:tx>
          <c:spPr>
            <a:solidFill>
              <a:srgbClr val="2057B8"/>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Day 06-14</c:v>
                  </c:pt>
                  <c:pt idx="1">
                    <c:v>Afternoon 14-22</c:v>
                  </c:pt>
                  <c:pt idx="2">
                    <c:v>Night 22-06</c:v>
                  </c:pt>
                </c:lvl>
              </c:multiLvlStrCache>
            </c:multiLvlStrRef>
          </c:cat>
          <c:val>
            <c:numRef>
              <c:f>Sheet1!$B$2:$B$4</c:f>
              <c:numCache>
                <c:formatCode>General</c:formatCode>
                <c:ptCount val="3"/>
                <c:pt idx="0">
                  <c:v>145</c:v>
                </c:pt>
                <c:pt idx="1">
                  <c:v>210</c:v>
                </c:pt>
                <c:pt idx="2">
                  <c:v>85</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Citations</c:v>
                </c:pt>
              </c:strCache>
            </c:strRef>
          </c:tx>
          <c:spPr>
            <a:solidFill>
              <a:srgbClr val="2057B8"/>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San Nicolas Norte</c:v>
                  </c:pt>
                  <c:pt idx="1">
                    <c:v>Poblacion Plaza</c:v>
                  </c:pt>
                  <c:pt idx="2">
                    <c:v>MacArthur Bypass</c:v>
                  </c:pt>
                  <c:pt idx="3">
                    <c:v>Mobile Alpha</c:v>
                  </c:pt>
                </c:lvl>
              </c:multiLvlStrCache>
            </c:multiLvlStrRef>
          </c:cat>
          <c:val>
            <c:numRef>
              <c:f>Sheet1!$B$2:$B$5</c:f>
              <c:numCache>
                <c:formatCode>General</c:formatCode>
                <c:ptCount val="4"/>
                <c:pt idx="0">
                  <c:v>98</c:v>
                </c:pt>
                <c:pt idx="1">
                  <c:v>76</c:v>
                </c:pt>
                <c:pt idx="2">
                  <c:v>54</c:v>
                </c:pt>
                <c:pt idx="3">
                  <c:v>32</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Casey Freud (Team Leader)
ALLOTTED TIME: 1.0 Minute
RUBRIC ALIGNMENT: Overview &amp; Presentation Framing
TALKING POINTS:
- Good day to our respected panel and professors. Today our team proudly presents the Computerized Violation Processing and Records Management System, or PNP-CVPRMS.
- Built specifically for the Philippine National Police, with Agoo Municipal Police Station as our pilot deployment, this system modernizes roadside checkpoint operations.
- It tackles long-standing law enforcement bottlenecks: transforming slow, error-prone manual paper tickets into an instantaneous, computerized platform featuring real-time intelligence screening, statutory fine calculation, thermal POS printing, and centralized treasury synchronization.
- All 8 team members are present, and every member will present a dedicated technical component and answer panel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Casey Freud
ALLOTTED TIME: 1.0 Minute
RUBRIC ALIGNMENT: Category C - Organization &amp; Time Management (5/5 pts)
TALKING POINTS:
- As mandated by the Software Engineering 2 rubric, our session is strictly budgeted for a 20-minute presentation and live demo, followed by 10 minutes of panel defense.
- To demonstrate complete team synergy and accountability, our 8 team members have divided the technical content according to our Software Configuration Management ownership.
- Every single member will present their assigned domain and take questions during our 10-minute defense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Casey Freud
ALLOTTED TIME: 1.5 Minutes
RUBRIC ALIGNMENT: Criterion 1 - Problem and Objectives (Target: 9-10/10 Excellent)
TALKING POINTS:
- Roadside PNP checkpoints along major corridors like MacArthur Highway in Agoo handle hundreds of vehicles per shift.
- The current manual paper-based ticketing system suffers from four critical failures:
  1. Administrative delays: Taking 8-12 minutes per motorist creates severe traffic congestion.
  2. Complete lack of real-time intelligence: Officers cannot verify if an apprehended motorcycle is on the HPG stolen vehicle watchlist or if the driver has an active court warrant.
  3. No repeat offender tracking across different checkpoint posts.
  4. Disconnect with the Municipal Treasury: Paper records take weeks to reconcile, resulting in uncollected fines and zero data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Casey Freud
ALLOTTED TIME: 1.5 Minutes
RUBRIC ALIGNMENT: Criterion 1 - Target Users (Target: 9-10/10 Excellent)
TALKING POINTS:
- We designed PNP-CVPRMS around four distinct stakeholder classes in the municipal ecosystem.
- Checkpoint Officers need speed and simplicity under daylight conditions.
- Station Commanders need macro-level intelligence and accountability.
- Municipal Treasury Cashiers need real-time payment reconciliation without paper slip delays.
- And the Public deserves transparent, tamper-proof, itemized citations that clearly state the law violated and legal settlement avenues.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Angelo
ALLOTTED TIME: 1.5 Minutes
RUBRIC ALIGNMENT: Criterion 1 - Measurable Objectives (Target: 9-10/10 Excellent)
TALKING POINTS:
- Rather than vague goals, PNP-CVPRMS was engineered against five concrete, measurable engineering benchmarks.
- First: Time efficiency - reducing roadside traffic obstruction by 90%, from 8-12 minutes down to under 60 seconds.
- Second: Sub-second screening against stolen vehicle alarms and warrants.
- Third: Eliminating calculation disputes through standardized statutory offense scheduling.
- Fourth: 100% offline edge resilience using embedded SQLite.
- Fifth: Complete auditability and financial reconciliation with the Municipal Treasury through live PATCH endpoints and Excel-ready UTF-8 CSV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Angelo
ALLOTTED TIME: 1.5 Minutes
RUBRIC ALIGNMENT: Criterion 2 - Scope and Boundaries (Target: 9-10/10 Excellent)
TALKING POINTS:
- To earn full marks under Criterion 2, we clearly delineate our target enterprise production architecture from our current v2.0-PRO demonstration release.
- In full deployment, PNP-CVPRMS will interconnect regional police command centers, LTO LTMS registries, and municipal payment portals via cloud WebSockets and PostgreSQL.
- For our capstone defense, we deliberately engineered a self-contained edge prototype. It contains our complete Node.js REST server, embedded SQLite database, and thermal POS engine.
- This architectural design ensures zero-downtime, zero-network-latency presentations regardless of classroom Wi-Fi or police VPN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Augusto Manuel
ALLOTTED TIME: 1.5 Minutes
RUBRIC ALIGNMENT: Criterion 2 - Requirements and Scope (Target: 9-10/10 Excellent)
TALKING POINTS:
- In software engineering, every feature must be traceable back to an approved requirement and verified by an automated test.
- Here we present our Requirements Traceability Matrix. Notice how every critical functional requirement - from FR-01 screening to FR-05 payment settlement - maps directly to:
  1. Specific backend functions in server.js,
  2. Concrete UI elements in index.html, and
  3. Dedicated automated regression tests in our test suite.
- For example, FR-02 handles unlicensed drivers by enforcing alternative government IDs, and our test runner explicitly verifies both failure on missing IDs and success on valid National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Augusto Manuel
ALLOTTED TIME: 1.5 Minutes
RUBRIC ALIGNMENT: Criterion 3 - System Design and Architecture (Target: 14-15/15 Excellent)
TALKING POINTS:
- On this slide, we present the Context Diagram, or Stage 0 DFD, representing the high-level boundary of our system.
- The central process - 0.0 PNP-CVPRMS - interfaces directly with five external entities.
- Notice the bidirectional flows: The Apprehending Officer feeds checkpoint session details and evidence photos, receiving immediate screening badges and auto-calculated statutory fines.
- The Motorist receives an official thermal citation slip.
- The Municipal Treasury exchanges settlement updates.
- External registries supply stolen vehicle alarms and court warrants.
- And the Station Commander extracts high-level KPI summaries and audit trails.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Emmanuel John
ALLOTTED TIME: 1.5 Minutes
RUBRIC ALIGNMENT: Criterion 3 - Process Decomposition (Target: 14-15/15 Excellent)
TALKING POINTS:
- Decomposing the system one level deeper, our Level 1 DFD illustrates how data is transformed across eight core subsystems and four distinct data stores.
- Process 1.0 sets the operational session context.
- Process 2.0 performs sub-millisecond screening against Data Store D3.
- Process 3.0 computes statutory fines from Data Store D2 and commits valid records to Data Store D1.
- Process 4.0 formats and triggers thermal POS printouts.
- Processes 5.0 through 7.0 govern search, payment status updates with the Treasury, and analytical exports.
- Process 8.0 records every administrative transaction into an append-only audit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Antonio
ALLOTTED TIME: 1.5 Minutes
RUBRIC ALIGNMENT: Criterion 3 - Data Model &amp; Schema (Target: 14-15/15 Excellent)
TALKING POINTS:
- A major technical highlight of PNP-CVPRMS is our dual-tier data persistence strategy.
- For our running demonstration prototype, we use an edge-optimized SQLite schema centering on the high-throughput violations entity with 20 synchronized attributes. This ensures sub-millisecond latency and offline durability on checkpoint laptops.
- Simultaneously, our documented target cloud architecture decouples data into a normalized Third Normal Form (3NF) schema comprising 8 relational entities: Officers, Checkpoints, Violators, Vehicles, Offenses, Tickets, Ticket_Offenses, and Treasury Payments.
- This proves to the panel that our data model scales gracefully from a single checkpoint terminal to a nationwide enterprise police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Ranier
ALLOTTED TIME: 1.5 Minutes
RUBRIC ALIGNMENT: Criterion 3 - Modular Diagrams &amp; Hierarchy (Target: 14-15/15 Excellent)
TALKING POINTS:
- To guarantee maintainability and code clarity, PNP-CVPRMS was structured using top-down modular decomposition, documented via our HIPO VTOC and Structure Chart.
- In our Structure Chart, we decouple client-side event controllers from our backend RESTful service layer and SQLite persistence engine.
- Notice the explicit distinction between Data Couples - such as sanitized citation JSON payloads - and Control Couples - such as boolean validation flags and HTTP 400/404 return codes.
- This architectural separation ensures that backend calculation routines and validation logic remain completely testable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Antonio
ALLOTTED TIME: 1.5 Minutes
RUBRIC ALIGNMENT: Criterion 3 - Trade-offs and Engineering Rationale (Target: 14-15/15 Excellent)
TALKING POINTS:
- Strong software engineering is defined not by chasing the newest buzzwords, but by making defensible trade-offs suited to the operational environment.
- We made four deliberate design decisions:
  1. We selected SQLite over cloud databases for the prototype because zero-downtime offline reliability at remote checkpoints is paramount.
  2. We selected Vanilla JavaScript and semantic CSS over React or Angular to eliminate bundler dependencies and ensure instant startup.
  3. We compressed photos in the client browser canvas before transmission, preventing HTTP 413 payload errors.
  4. We created a deterministic local rule engine to ensure 100% dependable test execution during panel defense without depending on live police VPNs.
--- Content merged from the former slide 13 ---
SPEAKER: Benjie
ALLOTTED TIME: 1.5 Minutes
RUBRIC ALIGNMENT: Criterion 4 - Tech Stack &amp; Implementation Decisions (Target: 9-10/10 Excellent)
TALKING POINTS:
- Our technology stack balances modern web standards with bulletproof operational simplicity.
- On the backend, Node.js and Express deliver lightweight, asynchronous REST routing with a 10MB body parser limit to support base64 digital evidence.
- Our persistence layer uses SQLite3 with parameterized queries, preventing SQL injection while guaranteeing portable, zero-configuration USB transfer for presentations.
- On the frontend, semantic HTML5, responsive CSS Grid, and custom @media print thermal styling give officers an ergonomic, sunlight-readable UI.
- Finally, our platform includes automated Windows batch and PowerShell launchers that verify dependencies and install desktop shortcuts on any host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Benjie
ALLOTTED TIME: 1.5 Minutes
RUBRIC ALIGNMENT: Criterion 4 - Business Logic &amp; Design Patterns (Target: 9-10/10 Excellent)
TALKING POINTS:
- On this slide, we examine our three core backend algorithms implemented in server.js.
- Algorithm 1 is our Multi-Tier Screening Engine: It analyzes plates, drivers, and licenses to instantly return Clear, Warning, or Alarm badges.
- Algorithm 2 is our Defensive Validation Module: It enforces our specialized Unlicensed Driver Workflow. If a driver has no license, the system locks the license field, suppresses false alerts, and mandates an alternative government ID like PhilID or SSS.
- Algorithm 3 is our Statutory Fine Calculator: It queries our centralized offense schedule to compute compound fines under Philippine law, while supporting authorized supervisory fine overrides with an immutable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Emmanuel John
ALLOTTED TIME: 1.5 Minutes
RUBRIC ALIGNMENT: Criterion 4 - Challenges and Solutions in Depth (Target: 9-10/10 Excellent)
TALKING POINTS:
- Real-world development is defined by overcoming concrete technical hurdles. Here are four key engineering challenges we resolved:
  1. High-resolution mobile photos were crashing our server with HTTP 413 Payload Too Large errors. We engineered a client-side canvas compression pipeline that reduces photos to under 150KB before upload.
  2. Microsoft Excel was corrupting our Philippine Peso sign into strange characters. We solved this by injecting a UTF-8 Byte Order Mark directly into the CSV export stream.
  3. Continuous thermal printing on 58mm and 80mm roll printers required specialized @media print CSS rules to eliminate paper waste and clipping.
  4. Chain of custody on impounded vehicles was secured by adding conditional validation requiring mandatory impound slip serial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Genuflect
ALLOTTED TIME: 1.5 Minutes
RUBRIC ALIGNMENT: Criterion 5 - Test Strategy and QA (Target: 9-10/10 Excellent)
TALKING POINTS:
- Under Criterion 5, our testing methodology spans three distinct tiers: Unit Tests, Defensive Input Validation, and Integration API testing.
- We used Node.js's built-in test runner (
ode:test and 
ode:assert/strict), which eliminates heavy third-party testing dependencies while giving us complete assertions over our asynchronous Express routes and SQLite database.
- Every layer of the application is tested: from statutory penalty math and ticket number regex patterns to conditional validation for unlicensed motorists and live PATCH updates for Treasury settlements.
--- Content merged from the former slide 17 ---
SPEAKER: Genuflect
ALLOTTED TIME: 1.5 Minutes
RUBRIC ALIGNMENT: Criterion 5 - QA Evidence and Results (Target: 9-10/10 Excellent)
TALKING POINTS:
- To provide indisputable evidence of code quality for Criterion 5, here are the actual results from our automated test suite.
- As seen on screen, all 14 test cases pass with a 100% success rate in under 6 seconds.
- Every edge case is explicitly validated:
  - We test that multiple statutory violations add up to exactly ₱14,200.
  - We test that unlicensed drivers trigger alternative ID requirements without false license alarms.
  - We test that impounded vehicles require valid impound slips.
  - And we verify that large base64 digital photos upload seamlessly without HTTP 413 errors.
- Any member of the panel can run 
ode --test right now to verify these 14 assertions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Ranier
ALLOTTED TIME: 1.5 Minutes
RUBRIC ALIGNMENT: Criterion 6 - Project Management &amp; Process (Target: 5/5 Excellent)
TALKING POINTS:
- Under Criterion 6, our project was managed using an Agile Scrum process across four distinct sprints, backed by a formal Software Configuration Management (SCM) plan.
- Our SCM_PLAN.md governs 20 configuration items across five classes: source code, schema, dependencies, automated tests, and documentation.
- We maintained strict Semantic Versioning starting from baseline v1.0.0 to our current v2.0-PRO release.
- Every modification followed a 5-step change request workflow: request, rationale, test validation with 
ode --test, peer review, and authorized merge.
- This configuration discipline prevented regression defects and merge conflicts across all 8 team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Casey Freud &amp; Team
ALLOTTED TIME: 6.0 to 8.0 Minutes
RUBRIC ALIGNMENT: Category B - Live Demonstration (Target: 14-15/15 Excellent)
DEMONSTRATION SCRIPT &amp; OPERATOR ACTIONS:
- Now, our team transitions to Category B: the Live System Demonstration of our working v2.0-PRO software.
- [Switch to browser running at http://localhost:3000]
- Step 1: Point out the Checkpoint Session banner: Station Agoo MPS, Post San Nicolas Norte, Shift 2 Afternoon, and live synchronized clock.
- Step 2: In the screening input, enter plate 'ABC-1234'. Show the panel the high-visibility RED ALARM badge identifying an HPG Stolen Vehicle match.
- Step 3: Fill out the apprehension form. Choose 'No Driver's License'. Show how the license box is disabled, and the system prompts for a Philippine National ID. Pick 'Expired Registration' and 'No Helmet' to demonstrate instant statutory totaling.
- Step 4: Toggle disposition to 'Impounded' and show the mandatory towing receipt validation.
- Step 5: Attach an evidence photo, click Submit, and trigger the Thermal POS Print Preview to display the 58mm/80mm ticket.
- Step 6: Scroll down to the Centralized Registry. Search for the new ticket. Toggle the 'Unsettled Only' and 'Flagged Alarms' filter chips.
- Step 7: Open the dossier modal. Simulate the Municipal Treasury payment by changing status to 'Settled'.
- Step 8: Click Export CSV and point out how the KPI dashboard counters updated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Casey Freud
ALLOTTED TIME: 1.5 Minutes
RUBRIC ALIGNMENT: Criterion 3 &amp; Category B - Analytics &amp; Operational Insights
TALKING POINTS:
- In addition to operational citation processing, PNP-CVPRMS provides high-level executive analytics for station commanders.
- As shown on screen, the system dynamically calculates four critical metrics via GET /api/reports/summary.
- Looking at our infraction breakdown, 'No Driver's License' and 'No Helmet' account for over 50% of all apprehensions, confirming the need for sustained motorcycle interdiction along provincial boundaries.
- Furthermore, shift analysis reveals that Shift 2 (Afternoon) generates peak citation revenue (₱210,000), while San Nicolas Norte represents the densest enforcement bottleneck in Agoo.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Casey Freud &amp; All Members
ALLOTTED TIME: 1.5 Minutes presentation wrap-up + 10.0 Minutes Panel Q&amp;A
RUBRIC ALIGNMENT: Category C - Speaking, Organization and Q&amp;A Defense (25/25 pts)
TALKING POINTS:
- In summary, our team has delivered a fully tested, field-resilient violation processing system that addresses real-world law enforcement bottlenecks for the Philippine National Police.
- We have validated every requirement against our automated test suite and documented the complete software engineering lifecycle from DFDs and ERDs to formal SCM governance.
- Looking ahead, our architecture provides a seamless roadmap toward a nationwide cloud deployment with live LTO LTMS integration and online treasury payments.
- We sincerely thank our panel of evaluators for their time and guidance. Our team is now prepared and eager to take your questions. Every member will answer at least one question.
--- Content merged from the former slide 19 ---
SPEAKER: Ranier
ALLOTTED TIME: 1.5 Minutes
RUBRIC ALIGNMENT: Criterion 6 - Task Allocation and Lessons Learned (Target: 5/5 Excellent)
TALKING POINTS:
- On this slide, we present our complete Task Allocation Matrix and Engineering Lessons Learned.
- As documented in our SCM Plan, every team member took clear ownership of specific functional modules, documentation artifacts, and configuration items.
- Key lessons learned:
  1. Strict configuration baselines and automated tests allowed our 8-person team to work concurrently without overwriting code.
  2. Always enforce defensive validation on the server - client forms alone are never sufficient.
  3. Designing for real-world constraints - such as mobile image compression and thermal POS printing - is what separates a toy demo from a production-grade law enforcement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1000" dirty="0">
                <a:solidFill>
                  <a:schemeClr val="accent6"/>
                </a:solidFill>
              </a:rPr>
              <a:t>PNP-CVPRMS  |  Philippine National Police - Agoo MPS  |  Software Engineering 2 Final Defense</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1000" dirty="0">
                <a:solidFill>
                  <a:schemeClr val="accent6"/>
                </a:solidFill>
              </a:rPr>
              <a:t>PNP-CVPRMS  |  Philippine National Police - Agoo MPS  |  Software Engineering 2 Final Defense</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960120"/>
            <a:ext cx="6949440" cy="17830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640080" y="594360"/>
            <a:ext cx="71323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PHILIPPINE NATIONAL POLICE  |  LA UNION POLICE PROVINCIAL OFFICE</a:t>
            </a:r>
            <a:endParaRPr lang="en-US" sz="1200" dirty="0"/>
          </a:p>
        </p:txBody>
      </p:sp>
      <p:sp>
        <p:nvSpPr>
          <p:cNvPr id="3" name="Text 0"/>
          <p:cNvSpPr/>
          <p:nvPr>
            <p:ph idx="100" type="title" hasCustomPrompt="1"/>
          </p:nvPr>
        </p:nvSpPr>
        <p:spPr>
          <a:xfrm>
            <a:off x="640080" y="960120"/>
            <a:ext cx="6949440" cy="1783080"/>
          </a:xfrm>
          <a:prstGeom prst="rect">
            <a:avLst/>
          </a:prstGeom>
          <a:noFill/>
          <a:ln/>
        </p:spPr>
        <p:txBody>
          <a:bodyPr wrap="square" lIns="0" tIns="0" rIns="0" bIns="0" rtlCol="0" anchor="t"/>
          <a:lstStyle/>
          <a:p>
            <a:pPr algn="l" indent="0" marL="0">
              <a:buNone/>
            </a:pPr>
            <a:r>
              <a:rPr lang="en-US" sz="3600" b="1" dirty="0">
                <a:solidFill>
                  <a:schemeClr val="bg1"/>
                </a:solidFill>
              </a:rPr>
              <a:t>Computerized Violation Processing &amp; Records Management System</a:t>
            </a:r>
            <a:endParaRPr lang="en-US" sz="3600" dirty="0"/>
          </a:p>
        </p:txBody>
      </p:sp>
      <p:sp>
        <p:nvSpPr>
          <p:cNvPr id="4" name="Acronym"/>
          <p:cNvSpPr txBox="1"/>
          <p:nvPr/>
        </p:nvSpPr>
        <p:spPr>
          <a:xfrm>
            <a:off x="640080" y="2834640"/>
            <a:ext cx="6949440"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PNP-CVPRMS</a:t>
            </a:r>
            <a:endParaRPr lang="en-US" sz="3200" dirty="0"/>
          </a:p>
        </p:txBody>
      </p:sp>
      <p:sp>
        <p:nvSpPr>
          <p:cNvPr id="5" name="Subtitle"/>
          <p:cNvSpPr txBox="1"/>
          <p:nvPr/>
        </p:nvSpPr>
        <p:spPr>
          <a:xfrm>
            <a:off x="640080" y="3520440"/>
            <a:ext cx="6949440" cy="731520"/>
          </a:xfrm>
          <a:prstGeom prst="rect">
            <a:avLst/>
          </a:prstGeom>
          <a:noFill/>
          <a:ln/>
        </p:spPr>
        <p:txBody>
          <a:bodyPr wrap="square" lIns="0" tIns="0" rIns="0" bIns="0" rtlCol="0" anchor="t"/>
          <a:lstStyle/>
          <a:p>
            <a:pPr indent="0" marL="0">
              <a:buNone/>
            </a:pPr>
            <a:r>
              <a:rPr lang="en-US" sz="1600" dirty="0">
                <a:solidFill>
                  <a:schemeClr val="bg2"/>
                </a:solidFill>
              </a:rPr>
              <a:t>Real-time checkpoint screening, statutory fine calculation, thermal citation POS, and centralized treasury synchronization  |  Release v2.0-PRO</a:t>
            </a:r>
            <a:endParaRPr lang="en-US" sz="1600" dirty="0"/>
          </a:p>
        </p:txBody>
      </p:sp>
      <p:sp>
        <p:nvSpPr>
          <p:cNvPr id="6" name="Project facts"/>
          <p:cNvSpPr txBox="1"/>
          <p:nvPr/>
        </p:nvSpPr>
        <p:spPr>
          <a:xfrm>
            <a:off x="640080" y="4389120"/>
            <a:ext cx="6949440" cy="1188720"/>
          </a:xfrm>
          <a:prstGeom prst="rect">
            <a:avLst/>
          </a:prstGeom>
          <a:noFill/>
          <a:ln/>
        </p:spPr>
        <p:txBody>
          <a:bodyPr wrap="square" lIns="0" tIns="0" rIns="0" bIns="0" rtlCol="0" anchor="t"/>
          <a:lstStyle/>
          <a:p>
            <a:pPr indent="0" marL="0">
              <a:buNone/>
            </a:pPr>
            <a:r>
              <a:rPr lang="en-US" sz="1200" b="1" dirty="0">
                <a:solidFill>
                  <a:schemeClr val="accent1"/>
                </a:solidFill>
              </a:rPr>
              <a:t>COURSE  </a:t>
            </a:r>
            <a:pPr indent="0" marL="0">
              <a:spcAft>
                <a:spcPts val="300"/>
              </a:spcAft>
              <a:buNone/>
            </a:pPr>
            <a:r>
              <a:rPr lang="en-US" sz="1300" dirty="0">
                <a:solidFill>
                  <a:schemeClr val="bg1"/>
                </a:solidFill>
              </a:rPr>
              <a:t>Software Engineering 2 - Final Capstone Defense</a:t>
            </a:r>
            <a:endParaRPr lang="en-US" sz="1400" dirty="0"/>
          </a:p>
          <a:p>
            <a:pPr indent="0" marL="0">
              <a:buNone/>
            </a:pPr>
            <a:r>
              <a:rPr lang="en-US" sz="1200" b="1" dirty="0">
                <a:solidFill>
                  <a:schemeClr val="accent1"/>
                </a:solidFill>
              </a:rPr>
              <a:t>STATION  </a:t>
            </a:r>
            <a:pPr indent="0" marL="0">
              <a:spcAft>
                <a:spcPts val="300"/>
              </a:spcAft>
              <a:buNone/>
            </a:pPr>
            <a:r>
              <a:rPr lang="en-US" sz="1300" dirty="0">
                <a:solidFill>
                  <a:schemeClr val="bg1"/>
                </a:solidFill>
              </a:rPr>
              <a:t>Agoo Municipal Police Station, Region 1</a:t>
            </a:r>
            <a:endParaRPr lang="en-US" sz="1400" dirty="0"/>
          </a:p>
          <a:p>
            <a:pPr indent="0" marL="0">
              <a:buNone/>
            </a:pPr>
            <a:r>
              <a:rPr lang="en-US" sz="1200" b="1" dirty="0">
                <a:solidFill>
                  <a:schemeClr val="accent1"/>
                </a:solidFill>
              </a:rPr>
              <a:t>STACK  </a:t>
            </a:r>
            <a:pPr indent="0" marL="0">
              <a:spcAft>
                <a:spcPts val="300"/>
              </a:spcAft>
              <a:buNone/>
            </a:pPr>
            <a:r>
              <a:rPr lang="en-US" sz="1300" dirty="0">
                <a:solidFill>
                  <a:schemeClr val="bg1"/>
                </a:solidFill>
              </a:rPr>
              <a:t>Multi-tier REST app: Node.js/Express, SQLite3, semantic UI, POS engine</a:t>
            </a:r>
            <a:endParaRPr lang="en-US" sz="1400" dirty="0"/>
          </a:p>
          <a:p>
            <a:pPr indent="0" marL="0">
              <a:buNone/>
            </a:pPr>
            <a:r>
              <a:rPr lang="en-US" sz="1200" b="1" dirty="0">
                <a:solidFill>
                  <a:schemeClr val="accent1"/>
                </a:solidFill>
              </a:rPr>
              <a:t>REPO  </a:t>
            </a:r>
            <a:pPr indent="0" marL="0">
              <a:spcAft>
                <a:spcPts val="300"/>
              </a:spcAft>
              <a:buNone/>
            </a:pPr>
            <a:r>
              <a:rPr lang="en-US" sz="1300" dirty="0">
                <a:solidFill>
                  <a:schemeClr val="bg1"/>
                </a:solidFill>
              </a:rPr>
              <a:t>https://github.com/Credoz/PNP-CVPRMS</a:t>
            </a:r>
            <a:endParaRPr lang="en-US" sz="1400" dirty="0"/>
          </a:p>
        </p:txBody>
      </p:sp>
      <p:sp>
        <p:nvSpPr>
          <p:cNvPr id="7" name="Team label"/>
          <p:cNvSpPr txBox="1"/>
          <p:nvPr/>
        </p:nvSpPr>
        <p:spPr>
          <a:xfrm>
            <a:off x="640080" y="5760720"/>
            <a:ext cx="694944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PROJECT TEAM (8 MEMBERS)</a:t>
            </a:r>
            <a:endParaRPr lang="en-US" sz="1100" dirty="0"/>
          </a:p>
        </p:txBody>
      </p:sp>
      <p:sp>
        <p:nvSpPr>
          <p:cNvPr id="8" name="Team names"/>
          <p:cNvSpPr txBox="1"/>
          <p:nvPr/>
        </p:nvSpPr>
        <p:spPr>
          <a:xfrm>
            <a:off x="640080" y="6016752"/>
            <a:ext cx="6949440" cy="502920"/>
          </a:xfrm>
          <a:prstGeom prst="rect">
            <a:avLst/>
          </a:prstGeom>
          <a:noFill/>
          <a:ln/>
        </p:spPr>
        <p:txBody>
          <a:bodyPr wrap="square" lIns="0" tIns="0" rIns="0" bIns="0" rtlCol="0" anchor="t"/>
          <a:lstStyle/>
          <a:p>
            <a:pPr indent="0" marL="0">
              <a:buNone/>
            </a:pPr>
            <a:r>
              <a:rPr lang="en-US" sz="1300" dirty="0">
                <a:solidFill>
                  <a:schemeClr val="bg1"/>
                </a:solidFill>
              </a:rPr>
              <a:t>Casey Freud (Team Leader)  |  Angelo  |  Antonio  |  Augusto Manuel  |  Benjie  |  Emmanuel John  |  Genuflect  |  Ranier</a:t>
            </a:r>
            <a:endParaRPr lang="en-US" sz="1300" dirty="0"/>
          </a:p>
        </p:txBody>
      </p:sp>
      <p:sp>
        <p:nvSpPr>
          <p:cNvPr id="9" name="Screening panel"/>
          <p:cNvSpPr/>
          <p:nvPr/>
        </p:nvSpPr>
        <p:spPr>
          <a:xfrm>
            <a:off x="8001000" y="777240"/>
            <a:ext cx="3566160" cy="5303520"/>
          </a:xfrm>
          <a:prstGeom prst="roundRect">
            <a:avLst>
              <a:gd name="adj" fmla="val 2564"/>
            </a:avLst>
          </a:prstGeom>
          <a:solidFill>
            <a:schemeClr val="tx2"/>
          </a:solidFill>
          <a:ln/>
        </p:spPr>
      </p:sp>
      <p:sp>
        <p:nvSpPr>
          <p:cNvPr id="10" name="Screening icon background"/>
          <p:cNvSpPr/>
          <p:nvPr/>
        </p:nvSpPr>
        <p:spPr>
          <a:xfrm>
            <a:off x="8321040" y="1097280"/>
            <a:ext cx="640080" cy="640080"/>
          </a:xfrm>
          <a:prstGeom prst="ellipse">
            <a:avLst/>
          </a:prstGeom>
          <a:solidFill>
            <a:schemeClr val="accent2"/>
          </a:solidFill>
          <a:ln/>
        </p:spPr>
      </p:sp>
      <p:pic>
        <p:nvPicPr>
          <p:cNvPr id="11" name="Image 0" descr="Screening icon">    </p:cNvPr>
          <p:cNvPicPr>
            <a:picLocks noChangeAspect="1"/>
          </p:cNvPicPr>
          <p:nvPr/>
        </p:nvPicPr>
        <p:blipFill>
          <a:blip r:embed="rId1"/>
          <a:stretch>
            <a:fillRect/>
          </a:stretch>
        </p:blipFill>
        <p:spPr>
          <a:xfrm>
            <a:off x="8487461" y="1263701"/>
            <a:ext cx="307238" cy="307238"/>
          </a:xfrm>
          <a:prstGeom prst="rect">
            <a:avLst/>
          </a:prstGeom>
        </p:spPr>
      </p:pic>
      <p:sp>
        <p:nvSpPr>
          <p:cNvPr id="12" name="Panel label"/>
          <p:cNvSpPr txBox="1"/>
          <p:nvPr/>
        </p:nvSpPr>
        <p:spPr>
          <a:xfrm>
            <a:off x="9098280" y="1115568"/>
            <a:ext cx="22860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LIVE CHECKPOINT SCREENING</a:t>
            </a:r>
            <a:endParaRPr lang="en-US" sz="1100" dirty="0"/>
          </a:p>
        </p:txBody>
      </p:sp>
      <p:sp>
        <p:nvSpPr>
          <p:cNvPr id="13" name="Panel caption"/>
          <p:cNvSpPr txBox="1"/>
          <p:nvPr/>
        </p:nvSpPr>
        <p:spPr>
          <a:xfrm>
            <a:off x="9098280" y="1371600"/>
            <a:ext cx="2286000" cy="411480"/>
          </a:xfrm>
          <a:prstGeom prst="rect">
            <a:avLst/>
          </a:prstGeom>
          <a:noFill/>
          <a:ln/>
        </p:spPr>
        <p:txBody>
          <a:bodyPr wrap="square" lIns="0" tIns="0" rIns="0" bIns="0" rtlCol="0" anchor="t"/>
          <a:lstStyle/>
          <a:p>
            <a:pPr indent="0" marL="0">
              <a:buNone/>
            </a:pPr>
            <a:r>
              <a:rPr lang="en-US" sz="1300" dirty="0">
                <a:solidFill>
                  <a:schemeClr val="bg1"/>
                </a:solidFill>
              </a:rPr>
              <a:t>Instant plate, license &amp; warrant check</a:t>
            </a:r>
            <a:endParaRPr lang="en-US" sz="1300" dirty="0"/>
          </a:p>
        </p:txBody>
      </p:sp>
      <p:sp>
        <p:nvSpPr>
          <p:cNvPr id="14" name="Result row 1"/>
          <p:cNvSpPr/>
          <p:nvPr/>
        </p:nvSpPr>
        <p:spPr>
          <a:xfrm>
            <a:off x="8321040" y="2148840"/>
            <a:ext cx="3017520" cy="1078992"/>
          </a:xfrm>
          <a:prstGeom prst="roundRect">
            <a:avLst>
              <a:gd name="adj" fmla="val 8475"/>
            </a:avLst>
          </a:prstGeom>
          <a:solidFill>
            <a:schemeClr val="tx1"/>
          </a:solidFill>
          <a:ln/>
        </p:spPr>
      </p:sp>
      <p:sp>
        <p:nvSpPr>
          <p:cNvPr id="15" name="Plate 1"/>
          <p:cNvSpPr txBox="1"/>
          <p:nvPr/>
        </p:nvSpPr>
        <p:spPr>
          <a:xfrm>
            <a:off x="8503920" y="2276856"/>
            <a:ext cx="1554480" cy="274320"/>
          </a:xfrm>
          <a:prstGeom prst="rect">
            <a:avLst/>
          </a:prstGeom>
          <a:noFill/>
          <a:ln/>
        </p:spPr>
        <p:txBody>
          <a:bodyPr wrap="square" lIns="0" tIns="0" rIns="0" bIns="0" rtlCol="0" anchor="t"/>
          <a:lstStyle/>
          <a:p>
            <a:pPr indent="0" marL="0">
              <a:buNone/>
            </a:pPr>
            <a:r>
              <a:rPr lang="en-US" sz="1300" b="1" dirty="0">
                <a:solidFill>
                  <a:schemeClr val="bg2"/>
                </a:solidFill>
              </a:rPr>
              <a:t>Plate ABC-1234</a:t>
            </a:r>
            <a:endParaRPr lang="en-US" sz="1300" dirty="0"/>
          </a:p>
        </p:txBody>
      </p:sp>
      <p:sp>
        <p:nvSpPr>
          <p:cNvPr id="16" name="Badge 1 pill"/>
          <p:cNvSpPr/>
          <p:nvPr/>
        </p:nvSpPr>
        <p:spPr>
          <a:xfrm>
            <a:off x="10058400" y="2258568"/>
            <a:ext cx="1143000" cy="329184"/>
          </a:xfrm>
          <a:prstGeom prst="roundRect">
            <a:avLst>
              <a:gd name="adj" fmla="val 50000"/>
            </a:avLst>
          </a:prstGeom>
          <a:solidFill>
            <a:schemeClr val="accent3"/>
          </a:solidFill>
          <a:ln/>
        </p:spPr>
      </p:sp>
      <p:sp>
        <p:nvSpPr>
          <p:cNvPr id="17" name="Badge 1 label"/>
          <p:cNvSpPr txBox="1"/>
          <p:nvPr/>
        </p:nvSpPr>
        <p:spPr>
          <a:xfrm>
            <a:off x="10058400" y="2258568"/>
            <a:ext cx="1143000" cy="329184"/>
          </a:xfrm>
          <a:prstGeom prst="rect">
            <a:avLst/>
          </a:prstGeom>
          <a:noFill/>
          <a:ln/>
        </p:spPr>
        <p:txBody>
          <a:bodyPr wrap="square" lIns="0" tIns="0" rIns="0" bIns="0" rtlCol="0" anchor="ctr"/>
          <a:lstStyle/>
          <a:p>
            <a:pPr algn="ctr" indent="0" marL="0">
              <a:buNone/>
            </a:pPr>
            <a:r>
              <a:rPr lang="en-US" sz="1200" b="1" dirty="0">
                <a:solidFill>
                  <a:schemeClr val="bg1"/>
                </a:solidFill>
              </a:rPr>
              <a:t>ALARM</a:t>
            </a:r>
            <a:endParaRPr lang="en-US" sz="1200" dirty="0"/>
          </a:p>
        </p:txBody>
      </p:sp>
      <p:sp>
        <p:nvSpPr>
          <p:cNvPr id="18" name="Result caption 1"/>
          <p:cNvSpPr txBox="1"/>
          <p:nvPr/>
        </p:nvSpPr>
        <p:spPr>
          <a:xfrm>
            <a:off x="8503920" y="2679192"/>
            <a:ext cx="2651760" cy="457200"/>
          </a:xfrm>
          <a:prstGeom prst="rect">
            <a:avLst/>
          </a:prstGeom>
          <a:noFill/>
          <a:ln/>
        </p:spPr>
        <p:txBody>
          <a:bodyPr wrap="square" lIns="0" tIns="0" rIns="0" bIns="0" rtlCol="0" anchor="t"/>
          <a:lstStyle/>
          <a:p>
            <a:pPr indent="0" marL="0">
              <a:buNone/>
            </a:pPr>
            <a:r>
              <a:rPr lang="en-US" sz="1300" dirty="0">
                <a:solidFill>
                  <a:schemeClr val="bg1"/>
                </a:solidFill>
              </a:rPr>
              <a:t>HPG alarm / stolen vehicle match</a:t>
            </a:r>
            <a:endParaRPr lang="en-US" sz="1300" dirty="0"/>
          </a:p>
        </p:txBody>
      </p:sp>
      <p:sp>
        <p:nvSpPr>
          <p:cNvPr id="19" name="Result row 2"/>
          <p:cNvSpPr/>
          <p:nvPr/>
        </p:nvSpPr>
        <p:spPr>
          <a:xfrm>
            <a:off x="8321040" y="3337560"/>
            <a:ext cx="3017520" cy="1078992"/>
          </a:xfrm>
          <a:prstGeom prst="roundRect">
            <a:avLst>
              <a:gd name="adj" fmla="val 8475"/>
            </a:avLst>
          </a:prstGeom>
          <a:solidFill>
            <a:schemeClr val="tx1"/>
          </a:solidFill>
          <a:ln/>
        </p:spPr>
      </p:sp>
      <p:sp>
        <p:nvSpPr>
          <p:cNvPr id="20" name="Plate 2"/>
          <p:cNvSpPr txBox="1"/>
          <p:nvPr/>
        </p:nvSpPr>
        <p:spPr>
          <a:xfrm>
            <a:off x="8503920" y="3465576"/>
            <a:ext cx="1554480" cy="274320"/>
          </a:xfrm>
          <a:prstGeom prst="rect">
            <a:avLst/>
          </a:prstGeom>
          <a:noFill/>
          <a:ln/>
        </p:spPr>
        <p:txBody>
          <a:bodyPr wrap="square" lIns="0" tIns="0" rIns="0" bIns="0" rtlCol="0" anchor="t"/>
          <a:lstStyle/>
          <a:p>
            <a:pPr indent="0" marL="0">
              <a:buNone/>
            </a:pPr>
            <a:r>
              <a:rPr lang="en-US" sz="1300" b="1" dirty="0">
                <a:solidFill>
                  <a:schemeClr val="bg2"/>
                </a:solidFill>
              </a:rPr>
              <a:t>Test: expired reg.</a:t>
            </a:r>
            <a:endParaRPr lang="en-US" sz="1300" dirty="0"/>
          </a:p>
        </p:txBody>
      </p:sp>
      <p:sp>
        <p:nvSpPr>
          <p:cNvPr id="21" name="Badge 2 pill"/>
          <p:cNvSpPr/>
          <p:nvPr/>
        </p:nvSpPr>
        <p:spPr>
          <a:xfrm>
            <a:off x="10058400" y="3447288"/>
            <a:ext cx="1143000" cy="329184"/>
          </a:xfrm>
          <a:prstGeom prst="roundRect">
            <a:avLst>
              <a:gd name="adj" fmla="val 50000"/>
            </a:avLst>
          </a:prstGeom>
          <a:solidFill>
            <a:schemeClr val="accent4"/>
          </a:solidFill>
          <a:ln/>
        </p:spPr>
      </p:sp>
      <p:sp>
        <p:nvSpPr>
          <p:cNvPr id="22" name="Badge 2 label"/>
          <p:cNvSpPr txBox="1"/>
          <p:nvPr/>
        </p:nvSpPr>
        <p:spPr>
          <a:xfrm>
            <a:off x="10058400" y="3447288"/>
            <a:ext cx="1143000" cy="329184"/>
          </a:xfrm>
          <a:prstGeom prst="rect">
            <a:avLst/>
          </a:prstGeom>
          <a:noFill/>
          <a:ln/>
        </p:spPr>
        <p:txBody>
          <a:bodyPr wrap="square" lIns="0" tIns="0" rIns="0" bIns="0" rtlCol="0" anchor="ctr"/>
          <a:lstStyle/>
          <a:p>
            <a:pPr algn="ctr" indent="0" marL="0">
              <a:buNone/>
            </a:pPr>
            <a:r>
              <a:rPr lang="en-US" sz="1200" b="1" dirty="0">
                <a:solidFill>
                  <a:schemeClr val="tx1"/>
                </a:solidFill>
              </a:rPr>
              <a:t>WARNING</a:t>
            </a:r>
            <a:endParaRPr lang="en-US" sz="1200" dirty="0"/>
          </a:p>
        </p:txBody>
      </p:sp>
      <p:sp>
        <p:nvSpPr>
          <p:cNvPr id="23" name="Result caption 2"/>
          <p:cNvSpPr txBox="1"/>
          <p:nvPr/>
        </p:nvSpPr>
        <p:spPr>
          <a:xfrm>
            <a:off x="8503920" y="3867912"/>
            <a:ext cx="2651760" cy="457200"/>
          </a:xfrm>
          <a:prstGeom prst="rect">
            <a:avLst/>
          </a:prstGeom>
          <a:noFill/>
          <a:ln/>
        </p:spPr>
        <p:txBody>
          <a:bodyPr wrap="square" lIns="0" tIns="0" rIns="0" bIns="0" rtlCol="0" anchor="t"/>
          <a:lstStyle/>
          <a:p>
            <a:pPr indent="0" marL="0">
              <a:buNone/>
            </a:pPr>
            <a:r>
              <a:rPr lang="en-US" sz="1300" dirty="0">
                <a:solidFill>
                  <a:schemeClr val="bg1"/>
                </a:solidFill>
              </a:rPr>
              <a:t>Expired registration or suspended license</a:t>
            </a:r>
            <a:endParaRPr lang="en-US" sz="1300" dirty="0"/>
          </a:p>
        </p:txBody>
      </p:sp>
      <p:sp>
        <p:nvSpPr>
          <p:cNvPr id="24" name="Result row 3"/>
          <p:cNvSpPr/>
          <p:nvPr/>
        </p:nvSpPr>
        <p:spPr>
          <a:xfrm>
            <a:off x="8321040" y="4526280"/>
            <a:ext cx="3017520" cy="1078992"/>
          </a:xfrm>
          <a:prstGeom prst="roundRect">
            <a:avLst>
              <a:gd name="adj" fmla="val 8475"/>
            </a:avLst>
          </a:prstGeom>
          <a:solidFill>
            <a:schemeClr val="tx1"/>
          </a:solidFill>
          <a:ln/>
        </p:spPr>
      </p:sp>
      <p:sp>
        <p:nvSpPr>
          <p:cNvPr id="25" name="Plate 3"/>
          <p:cNvSpPr txBox="1"/>
          <p:nvPr/>
        </p:nvSpPr>
        <p:spPr>
          <a:xfrm>
            <a:off x="8503920" y="4654296"/>
            <a:ext cx="1554480" cy="274320"/>
          </a:xfrm>
          <a:prstGeom prst="rect">
            <a:avLst/>
          </a:prstGeom>
          <a:noFill/>
          <a:ln/>
        </p:spPr>
        <p:txBody>
          <a:bodyPr wrap="square" lIns="0" tIns="0" rIns="0" bIns="0" rtlCol="0" anchor="t"/>
          <a:lstStyle/>
          <a:p>
            <a:pPr indent="0" marL="0">
              <a:buNone/>
            </a:pPr>
            <a:r>
              <a:rPr lang="en-US" sz="1300" b="1" dirty="0">
                <a:solidFill>
                  <a:schemeClr val="bg2"/>
                </a:solidFill>
              </a:rPr>
              <a:t>Test: valid driver</a:t>
            </a:r>
            <a:endParaRPr lang="en-US" sz="1300" dirty="0"/>
          </a:p>
        </p:txBody>
      </p:sp>
      <p:sp>
        <p:nvSpPr>
          <p:cNvPr id="26" name="Badge 3 pill"/>
          <p:cNvSpPr/>
          <p:nvPr/>
        </p:nvSpPr>
        <p:spPr>
          <a:xfrm>
            <a:off x="10058400" y="4636008"/>
            <a:ext cx="1143000" cy="329184"/>
          </a:xfrm>
          <a:prstGeom prst="roundRect">
            <a:avLst>
              <a:gd name="adj" fmla="val 50000"/>
            </a:avLst>
          </a:prstGeom>
          <a:solidFill>
            <a:schemeClr val="accent5"/>
          </a:solidFill>
          <a:ln/>
        </p:spPr>
      </p:sp>
      <p:sp>
        <p:nvSpPr>
          <p:cNvPr id="27" name="Badge 3 label"/>
          <p:cNvSpPr txBox="1"/>
          <p:nvPr/>
        </p:nvSpPr>
        <p:spPr>
          <a:xfrm>
            <a:off x="10058400" y="4636008"/>
            <a:ext cx="1143000" cy="329184"/>
          </a:xfrm>
          <a:prstGeom prst="rect">
            <a:avLst/>
          </a:prstGeom>
          <a:noFill/>
          <a:ln/>
        </p:spPr>
        <p:txBody>
          <a:bodyPr wrap="square" lIns="0" tIns="0" rIns="0" bIns="0" rtlCol="0" anchor="ctr"/>
          <a:lstStyle/>
          <a:p>
            <a:pPr algn="ctr" indent="0" marL="0">
              <a:buNone/>
            </a:pPr>
            <a:r>
              <a:rPr lang="en-US" sz="1200" b="1" dirty="0">
                <a:solidFill>
                  <a:schemeClr val="bg1"/>
                </a:solidFill>
              </a:rPr>
              <a:t>CLEAR</a:t>
            </a:r>
            <a:endParaRPr lang="en-US" sz="1200" dirty="0"/>
          </a:p>
        </p:txBody>
      </p:sp>
      <p:sp>
        <p:nvSpPr>
          <p:cNvPr id="28" name="Result caption 3"/>
          <p:cNvSpPr txBox="1"/>
          <p:nvPr/>
        </p:nvSpPr>
        <p:spPr>
          <a:xfrm>
            <a:off x="8503920" y="5056632"/>
            <a:ext cx="2651760" cy="457200"/>
          </a:xfrm>
          <a:prstGeom prst="rect">
            <a:avLst/>
          </a:prstGeom>
          <a:noFill/>
          <a:ln/>
        </p:spPr>
        <p:txBody>
          <a:bodyPr wrap="square" lIns="0" tIns="0" rIns="0" bIns="0" rtlCol="0" anchor="t"/>
          <a:lstStyle/>
          <a:p>
            <a:pPr indent="0" marL="0">
              <a:buNone/>
            </a:pPr>
            <a:r>
              <a:rPr lang="en-US" sz="1300" dirty="0">
                <a:solidFill>
                  <a:schemeClr val="bg1"/>
                </a:solidFill>
              </a:rPr>
              <a:t>Valid driver, no flags on any watchlist</a:t>
            </a:r>
            <a:endParaRPr lang="en-US" sz="1300" dirty="0"/>
          </a:p>
        </p:txBody>
      </p:sp>
      <p:sp>
        <p:nvSpPr>
          <p:cNvPr id="29" name="Panel footnote"/>
          <p:cNvSpPr txBox="1"/>
          <p:nvPr/>
        </p:nvSpPr>
        <p:spPr>
          <a:xfrm>
            <a:off x="8321040" y="5788152"/>
            <a:ext cx="3017520" cy="228600"/>
          </a:xfrm>
          <a:prstGeom prst="rect">
            <a:avLst/>
          </a:prstGeom>
          <a:noFill/>
          <a:ln/>
        </p:spPr>
        <p:txBody>
          <a:bodyPr wrap="square" lIns="0" tIns="0" rIns="0" bIns="0" rtlCol="0" anchor="t"/>
          <a:lstStyle/>
          <a:p>
            <a:pPr indent="0" marL="0">
              <a:buNone/>
            </a:pPr>
            <a:r>
              <a:rPr lang="en-US" sz="1100" i="1" dirty="0">
                <a:solidFill>
                  <a:schemeClr val="bg2"/>
                </a:solidFill>
              </a:rPr>
              <a:t>Sub-second screening with color-coded badges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Presentation Roadmap &amp; Team</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DELIVERY &amp; TIME MANAGEMENT  |  RUBRIC CATEGORY C</a:t>
            </a:r>
            <a:endParaRPr lang="en-US" sz="1100" dirty="0"/>
          </a:p>
        </p:txBody>
      </p:sp>
      <p:sp>
        <p:nvSpPr>
          <p:cNvPr id="4" name="Speaker chip"/>
          <p:cNvSpPr/>
          <p:nvPr/>
        </p:nvSpPr>
        <p:spPr>
          <a:xfrm>
            <a:off x="9185148" y="384048"/>
            <a:ext cx="2455164" cy="365760"/>
          </a:xfrm>
          <a:prstGeom prst="roundRect">
            <a:avLst>
              <a:gd name="adj" fmla="val 50000"/>
            </a:avLst>
          </a:prstGeom>
          <a:solidFill>
            <a:schemeClr val="tx2"/>
          </a:solidFill>
          <a:ln/>
        </p:spPr>
      </p:sp>
      <p:sp>
        <p:nvSpPr>
          <p:cNvPr id="5" name="Speaker label"/>
          <p:cNvSpPr txBox="1"/>
          <p:nvPr/>
        </p:nvSpPr>
        <p:spPr>
          <a:xfrm>
            <a:off x="9185148" y="384048"/>
            <a:ext cx="2455164" cy="365760"/>
          </a:xfrm>
          <a:prstGeom prst="rect">
            <a:avLst/>
          </a:prstGeom>
          <a:noFill/>
          <a:ln/>
        </p:spPr>
        <p:txBody>
          <a:bodyPr wrap="square" lIns="0" tIns="0" rIns="0" bIns="0" rtlCol="0" anchor="ctr"/>
          <a:lstStyle/>
          <a:p>
            <a:pPr algn="ctr" indent="0" marL="0">
              <a:buNone/>
            </a:pPr>
            <a:r>
              <a:rPr lang="en-US" sz="1200" b="1" dirty="0">
                <a:solidFill>
                  <a:schemeClr val="bg1"/>
                </a:solidFill>
              </a:rPr>
              <a:t>Casey Freud  |  1.0 min</a:t>
            </a:r>
            <a:endParaRPr lang="en-US" sz="1200" dirty="0"/>
          </a:p>
        </p:txBody>
      </p:sp>
      <p:graphicFrame>
        <p:nvGraphicFramePr>
          <p:cNvPr id="3" name="Speaker roadmap table"/>
          <p:cNvGraphicFramePr>
            <a:graphicFrameLocks noGrp="1"/>
          </p:cNvGraphicFramePr>
          <p:nvPr>
            <p:extLst>
              <p:ext uri="{D42A27DB-BD31-4B8C-83A1-F6EECF244321}">
                <p14:modId xmlns:p14="http://schemas.microsoft.com/office/powerpoint/2010/main" val="1579011935"/>
              </p:ext>
            </p:extLst>
          </p:nvPr>
        </p:nvGraphicFramePr>
        <p:xfrm>
          <a:off x="548640" y="1417320"/>
          <a:ext cx="8412480" cy="914400"/>
        </p:xfrm>
        <a:graphic>
          <a:graphicData uri="http://schemas.openxmlformats.org/drawingml/2006/table">
            <a:tbl>
              <a:tblPr/>
              <a:tblGrid>
                <a:gridCol w="1645920"/>
                <a:gridCol w="3200400"/>
                <a:gridCol w="548640"/>
                <a:gridCol w="3017520"/>
              </a:tblGrid>
              <a:tr h="365760">
                <a:tc>
                  <a:txBody>
                    <a:bodyPr/>
                    <a:lstStyle/>
                    <a:p>
                      <a:pPr algn="l" indent="0" marL="0">
                        <a:buNone/>
                      </a:pPr>
                      <a:r>
                        <a:rPr lang="en-US" sz="1200" b="1" dirty="0">
                          <a:solidFill>
                            <a:schemeClr val="bg1"/>
                          </a:solidFill>
                        </a:rPr>
                        <a:t>MEMBER</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rPr>
                        <a:t>PRESENTS</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MIN</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rPr>
                        <a:t>BUILD ROLE &amp; SCM OWNERSHIP</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tx2"/>
                    </a:solidFill>
                  </a:tcPr>
                </a:tc>
              </a:tr>
              <a:tr h="475488">
                <a:tc>
                  <a:txBody>
                    <a:bodyPr/>
                    <a:lstStyle/>
                    <a:p>
                      <a:pPr indent="0" marL="0">
                        <a:buNone/>
                      </a:pPr>
                      <a:r>
                        <a:rPr lang="en-US" sz="1200" b="1" dirty="0">
                          <a:solidFill>
                            <a:schemeClr val="tx1"/>
                          </a:solidFill>
                        </a:rPr>
                        <a:t>Casey Freud (Lead)</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Opening, problem statement, objectives, demo co-host, analytics</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3.5</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Backend architecture &amp; pseudocode</a:t>
                      </a:r>
                      <a:endParaRPr lang="en-US" sz="1200" dirty="0"/>
                    </a:p>
                    <a:p>
                      <a:pPr indent="0" marL="0">
                        <a:buNone/>
                      </a:pPr>
                      <a:r>
                        <a:rPr lang="en-US" sz="1100" dirty="0">
                          <a:solidFill>
                            <a:schemeClr val="accent6"/>
                          </a:solidFill>
                        </a:rPr>
                        <a:t>server.js, README.md</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200" b="1" dirty="0">
                          <a:solidFill>
                            <a:schemeClr val="tx1"/>
                          </a:solidFill>
                        </a:rPr>
                        <a:t>Angelo</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Scope: target cloud vs. prototype, requirements traceability</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3.0</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REST API endpoints &amp; structure chart</a:t>
                      </a:r>
                      <a:endParaRPr lang="en-US" sz="1200" dirty="0"/>
                    </a:p>
                    <a:p>
                      <a:pPr indent="0" marL="0">
                        <a:buNone/>
                      </a:pPr>
                      <a:r>
                        <a:rPr lang="en-US" sz="1100" dirty="0">
                          <a:solidFill>
                            <a:schemeClr val="accent6"/>
                          </a:solidFill>
                        </a:rPr>
                        <a:t>server.js, User Manual</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200" b="1" dirty="0">
                          <a:solidFill>
                            <a:schemeClr val="tx1"/>
                          </a:solidFill>
                        </a:rPr>
                        <a:t>Augusto Manuel</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Context DFD (Stage 0), system boundaries &amp; data flows</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3.0</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Frontend UI/UX, SCM plan &amp; ERD</a:t>
                      </a:r>
                      <a:endParaRPr lang="en-US" sz="1200" dirty="0"/>
                    </a:p>
                    <a:p>
                      <a:pPr indent="0" marL="0">
                        <a:buNone/>
                      </a:pPr>
                      <a:r>
                        <a:rPr lang="en-US" sz="1100" dirty="0">
                          <a:solidFill>
                            <a:schemeClr val="accent6"/>
                          </a:solidFill>
                        </a:rPr>
                        <a:t>index.html, SCM_PLAN.md</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200" b="1" dirty="0">
                          <a:solidFill>
                            <a:schemeClr val="tx1"/>
                          </a:solidFill>
                        </a:rPr>
                        <a:t>Emmanuel John</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Level 1 DFD (8 subsystems), technical challenges</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3.0</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Database administration &amp; assets</a:t>
                      </a:r>
                      <a:endParaRPr lang="en-US" sz="1200" dirty="0"/>
                    </a:p>
                    <a:p>
                      <a:pPr indent="0" marL="0">
                        <a:buNone/>
                      </a:pPr>
                      <a:r>
                        <a:rPr lang="en-US" sz="1100" dirty="0">
                          <a:solidFill>
                            <a:schemeClr val="accent6"/>
                          </a:solidFill>
                        </a:rPr>
                        <a:t>pnp_checkpoint.db, DFD 1</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200" b="1" dirty="0">
                          <a:solidFill>
                            <a:schemeClr val="tx1"/>
                          </a:solidFill>
                        </a:rPr>
                        <a:t>Antonio</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Relational data model (ERD), architectural trade-offs</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3.0</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SQLite schema, migrations &amp; data dictionary</a:t>
                      </a:r>
                      <a:endParaRPr lang="en-US" sz="1200" dirty="0"/>
                    </a:p>
                    <a:p>
                      <a:pPr indent="0" marL="0">
                        <a:buNone/>
                      </a:pPr>
                      <a:r>
                        <a:rPr lang="en-US" sz="1100" dirty="0">
                          <a:solidFill>
                            <a:schemeClr val="accent6"/>
                          </a:solidFill>
                        </a:rPr>
                        <a:t>server.js, Schema SQL</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200" b="1" dirty="0">
                          <a:solidFill>
                            <a:schemeClr val="tx1"/>
                          </a:solidFill>
                        </a:rPr>
                        <a:t>Ranier</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HIPO VTOC, structure chart, SCM governance &amp; CIs</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3.0</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Git policies, ignore rules &amp; HIPO</a:t>
                      </a:r>
                      <a:endParaRPr lang="en-US" sz="1200" dirty="0"/>
                    </a:p>
                    <a:p>
                      <a:pPr indent="0" marL="0">
                        <a:buNone/>
                      </a:pPr>
                      <a:r>
                        <a:rPr lang="en-US" sz="1100" dirty="0">
                          <a:solidFill>
                            <a:schemeClr val="accent6"/>
                          </a:solidFill>
                        </a:rPr>
                        <a:t>.gitignore, HIPO diagrams</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200" b="1" dirty="0">
                          <a:solidFill>
                            <a:schemeClr val="tx1"/>
                          </a:solidFill>
                        </a:rPr>
                        <a:t>Benjie</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Tech stack rationale, core algorithms &amp; validation</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3.0</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Dependencies &amp; DFD process flows</a:t>
                      </a:r>
                      <a:endParaRPr lang="en-US" sz="1200" dirty="0"/>
                    </a:p>
                    <a:p>
                      <a:pPr indent="0" marL="0">
                        <a:buNone/>
                      </a:pPr>
                      <a:r>
                        <a:rPr lang="en-US" sz="1100" dirty="0">
                          <a:solidFill>
                            <a:schemeClr val="accent6"/>
                          </a:solidFill>
                        </a:rPr>
                        <a:t>package.json, DFD Stage 0</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200" b="1" dirty="0">
                          <a:solidFill>
                            <a:schemeClr val="tx1"/>
                          </a:solidFill>
                        </a:rPr>
                        <a:t>Genuflect</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14-test QA suite, quality report, defect remediation</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3.0</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Automated QA suite &amp; builds</a:t>
                      </a:r>
                      <a:endParaRPr lang="en-US" sz="1200" dirty="0"/>
                    </a:p>
                    <a:p>
                      <a:pPr indent="0" marL="0">
                        <a:buNone/>
                      </a:pPr>
                      <a:r>
                        <a:rPr lang="en-US" sz="1100" dirty="0">
                          <a:solidFill>
                            <a:schemeClr val="accent6"/>
                          </a:solidFill>
                        </a:rPr>
                        <a:t>features.test.js, DFD 2</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200" b="1" dirty="0">
                          <a:solidFill>
                            <a:schemeClr val="tx1"/>
                          </a:solidFill>
                        </a:rPr>
                        <a:t>All members</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200" dirty="0">
                          <a:solidFill>
                            <a:schemeClr val="tx1"/>
                          </a:solidFill>
                        </a:rPr>
                        <a:t>Panel defense Q&amp;A session</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1200" b="1" dirty="0">
                          <a:solidFill>
                            <a:schemeClr val="tx1"/>
                          </a:solidFill>
                        </a:rPr>
                        <a:t>10.0</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200" dirty="0">
                          <a:solidFill>
                            <a:schemeClr val="tx1"/>
                          </a:solidFill>
                        </a:rPr>
                        <a:t>Every member answers at least one question</a:t>
                      </a:r>
                      <a:endParaRPr lang="en-US" sz="1200" dirty="0"/>
                    </a:p>
                  </a:txBody>
                  <a:tcPr marL="91440" marR="91440" marT="27432" marB="27432" anchor="ctr">
                    <a:lnL w="0" cap="flat" cmpd="sng" algn="ctr">
                      <a:noFill/>
                    </a:lnL>
                    <a:lnR w="0" cap="flat" cmpd="sng" algn="ctr">
                      <a:noFill/>
                    </a:lnR>
                    <a:lnT w="0" cap="flat" cmpd="sng" algn="ctr">
                      <a:noFill/>
                    </a:lnT>
                    <a:lnB w="0" cap="flat" cmpd="sng" algn="ctr">
                      <a:noFill/>
                    </a:lnB>
                    <a:solidFill>
                      <a:schemeClr val="accent1"/>
                    </a:solidFill>
                  </a:tcPr>
                </a:tc>
              </a:tr>
            </a:tbl>
          </a:graphicData>
        </a:graphic>
      </p:graphicFrame>
      <p:sp>
        <p:nvSpPr>
          <p:cNvPr id="7" name="Format card"/>
          <p:cNvSpPr/>
          <p:nvPr/>
        </p:nvSpPr>
        <p:spPr>
          <a:xfrm>
            <a:off x="9235440" y="1417320"/>
            <a:ext cx="2404872" cy="1691640"/>
          </a:xfrm>
          <a:prstGeom prst="roundRect">
            <a:avLst>
              <a:gd name="adj" fmla="val 5405"/>
            </a:avLst>
          </a:prstGeom>
          <a:solidFill>
            <a:schemeClr val="tx2"/>
          </a:solidFill>
          <a:ln/>
        </p:spPr>
      </p:sp>
      <p:sp>
        <p:nvSpPr>
          <p:cNvPr id="8" name="Presentation minutes"/>
          <p:cNvSpPr txBox="1"/>
          <p:nvPr/>
        </p:nvSpPr>
        <p:spPr>
          <a:xfrm>
            <a:off x="9418320" y="1536192"/>
            <a:ext cx="2103120" cy="45720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20 min</a:t>
            </a:r>
            <a:endParaRPr lang="en-US" sz="2800" dirty="0"/>
          </a:p>
        </p:txBody>
      </p:sp>
      <p:sp>
        <p:nvSpPr>
          <p:cNvPr id="9" name="Presentation label"/>
          <p:cNvSpPr txBox="1"/>
          <p:nvPr/>
        </p:nvSpPr>
        <p:spPr>
          <a:xfrm>
            <a:off x="9418320" y="1984248"/>
            <a:ext cx="2103120" cy="256032"/>
          </a:xfrm>
          <a:prstGeom prst="rect">
            <a:avLst/>
          </a:prstGeom>
          <a:noFill/>
          <a:ln/>
        </p:spPr>
        <p:txBody>
          <a:bodyPr wrap="square" lIns="0" tIns="0" rIns="0" bIns="0" rtlCol="0" anchor="t"/>
          <a:lstStyle/>
          <a:p>
            <a:pPr indent="0" marL="0">
              <a:buNone/>
            </a:pPr>
            <a:r>
              <a:rPr lang="en-US" sz="1200" dirty="0">
                <a:solidFill>
                  <a:schemeClr val="bg1"/>
                </a:solidFill>
              </a:rPr>
              <a:t>presentation + live demo</a:t>
            </a:r>
            <a:endParaRPr lang="en-US" sz="1200" dirty="0"/>
          </a:p>
        </p:txBody>
      </p:sp>
      <p:sp>
        <p:nvSpPr>
          <p:cNvPr id="10" name="Q&amp;amp;A minutes"/>
          <p:cNvSpPr txBox="1"/>
          <p:nvPr/>
        </p:nvSpPr>
        <p:spPr>
          <a:xfrm>
            <a:off x="9418320" y="2331720"/>
            <a:ext cx="2103120" cy="45720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10 min</a:t>
            </a:r>
            <a:endParaRPr lang="en-US" sz="2800" dirty="0"/>
          </a:p>
        </p:txBody>
      </p:sp>
      <p:sp>
        <p:nvSpPr>
          <p:cNvPr id="11" name="Q&amp;amp;A label"/>
          <p:cNvSpPr txBox="1"/>
          <p:nvPr/>
        </p:nvSpPr>
        <p:spPr>
          <a:xfrm>
            <a:off x="9418320" y="2779776"/>
            <a:ext cx="2103120" cy="256032"/>
          </a:xfrm>
          <a:prstGeom prst="rect">
            <a:avLst/>
          </a:prstGeom>
          <a:noFill/>
          <a:ln/>
        </p:spPr>
        <p:txBody>
          <a:bodyPr wrap="square" lIns="0" tIns="0" rIns="0" bIns="0" rtlCol="0" anchor="t"/>
          <a:lstStyle/>
          <a:p>
            <a:pPr indent="0" marL="0">
              <a:buNone/>
            </a:pPr>
            <a:r>
              <a:rPr lang="en-US" sz="1200" dirty="0">
                <a:solidFill>
                  <a:schemeClr val="bg1"/>
                </a:solidFill>
              </a:rPr>
              <a:t>panel defense &amp; Q&amp;A</a:t>
            </a:r>
            <a:endParaRPr lang="en-US" sz="1200" dirty="0"/>
          </a:p>
        </p:txBody>
      </p:sp>
      <p:sp>
        <p:nvSpPr>
          <p:cNvPr id="12" name="Rubric label"/>
          <p:cNvSpPr txBox="1"/>
          <p:nvPr/>
        </p:nvSpPr>
        <p:spPr>
          <a:xfrm>
            <a:off x="9235440" y="3273552"/>
            <a:ext cx="2404872"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100-POINT RUBRIC</a:t>
            </a:r>
            <a:endParaRPr lang="en-US" sz="1100" dirty="0"/>
          </a:p>
        </p:txBody>
      </p:sp>
      <p:sp>
        <p:nvSpPr>
          <p:cNvPr id="13" name="Rubric Category A"/>
          <p:cNvSpPr/>
          <p:nvPr/>
        </p:nvSpPr>
        <p:spPr>
          <a:xfrm>
            <a:off x="9235440" y="3566160"/>
            <a:ext cx="2404872" cy="758952"/>
          </a:xfrm>
          <a:prstGeom prst="roundRect">
            <a:avLst>
              <a:gd name="adj" fmla="val 12048"/>
            </a:avLst>
          </a:prstGeom>
          <a:solidFill>
            <a:schemeClr val="bg2"/>
          </a:solidFill>
          <a:ln/>
        </p:spPr>
      </p:sp>
      <p:sp>
        <p:nvSpPr>
          <p:cNvPr id="14" name="Points Category A"/>
          <p:cNvSpPr txBox="1"/>
          <p:nvPr/>
        </p:nvSpPr>
        <p:spPr>
          <a:xfrm>
            <a:off x="9345168" y="3566160"/>
            <a:ext cx="822960" cy="758952"/>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60</a:t>
            </a:r>
            <a:endParaRPr lang="en-US" sz="3000" dirty="0"/>
          </a:p>
        </p:txBody>
      </p:sp>
      <p:sp>
        <p:nvSpPr>
          <p:cNvPr id="15" name="Label Category A"/>
          <p:cNvSpPr txBox="1"/>
          <p:nvPr/>
        </p:nvSpPr>
        <p:spPr>
          <a:xfrm>
            <a:off x="10168128" y="3566160"/>
            <a:ext cx="1417320" cy="758952"/>
          </a:xfrm>
          <a:prstGeom prst="rect">
            <a:avLst/>
          </a:prstGeom>
          <a:noFill/>
          <a:ln/>
        </p:spPr>
        <p:txBody>
          <a:bodyPr wrap="square" lIns="0" tIns="0" rIns="0" bIns="0" rtlCol="0" anchor="ctr"/>
          <a:lstStyle/>
          <a:p>
            <a:pPr indent="0" marL="0">
              <a:buNone/>
            </a:pPr>
            <a:r>
              <a:rPr lang="en-US" sz="1200" b="1" dirty="0">
                <a:solidFill>
                  <a:schemeClr val="tx1"/>
                </a:solidFill>
              </a:rPr>
              <a:t>Category A</a:t>
            </a:r>
            <a:endParaRPr lang="en-US" sz="1400" dirty="0"/>
          </a:p>
          <a:p>
            <a:pPr indent="0" marL="0">
              <a:buNone/>
            </a:pPr>
            <a:r>
              <a:rPr lang="en-US" sz="1100" dirty="0">
                <a:solidFill>
                  <a:schemeClr val="accent6"/>
                </a:solidFill>
              </a:rPr>
              <a:t>Technical content, criteria 1-6</a:t>
            </a:r>
            <a:endParaRPr lang="en-US" sz="1400" dirty="0"/>
          </a:p>
        </p:txBody>
      </p:sp>
      <p:sp>
        <p:nvSpPr>
          <p:cNvPr id="16" name="Rubric Category B"/>
          <p:cNvSpPr/>
          <p:nvPr/>
        </p:nvSpPr>
        <p:spPr>
          <a:xfrm>
            <a:off x="9235440" y="4434840"/>
            <a:ext cx="2404872" cy="758952"/>
          </a:xfrm>
          <a:prstGeom prst="roundRect">
            <a:avLst>
              <a:gd name="adj" fmla="val 12048"/>
            </a:avLst>
          </a:prstGeom>
          <a:solidFill>
            <a:schemeClr val="bg2"/>
          </a:solidFill>
          <a:ln/>
        </p:spPr>
      </p:sp>
      <p:sp>
        <p:nvSpPr>
          <p:cNvPr id="17" name="Points Category B"/>
          <p:cNvSpPr txBox="1"/>
          <p:nvPr/>
        </p:nvSpPr>
        <p:spPr>
          <a:xfrm>
            <a:off x="9345168" y="4434840"/>
            <a:ext cx="822960" cy="758952"/>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15</a:t>
            </a:r>
            <a:endParaRPr lang="en-US" sz="3000" dirty="0"/>
          </a:p>
        </p:txBody>
      </p:sp>
      <p:sp>
        <p:nvSpPr>
          <p:cNvPr id="18" name="Label Category B"/>
          <p:cNvSpPr txBox="1"/>
          <p:nvPr/>
        </p:nvSpPr>
        <p:spPr>
          <a:xfrm>
            <a:off x="10168128" y="4434840"/>
            <a:ext cx="1417320" cy="758952"/>
          </a:xfrm>
          <a:prstGeom prst="rect">
            <a:avLst/>
          </a:prstGeom>
          <a:noFill/>
          <a:ln/>
        </p:spPr>
        <p:txBody>
          <a:bodyPr wrap="square" lIns="0" tIns="0" rIns="0" bIns="0" rtlCol="0" anchor="ctr"/>
          <a:lstStyle/>
          <a:p>
            <a:pPr indent="0" marL="0">
              <a:buNone/>
            </a:pPr>
            <a:r>
              <a:rPr lang="en-US" sz="1200" b="1" dirty="0">
                <a:solidFill>
                  <a:schemeClr val="tx1"/>
                </a:solidFill>
              </a:rPr>
              <a:t>Category B</a:t>
            </a:r>
            <a:endParaRPr lang="en-US" sz="1400" dirty="0"/>
          </a:p>
          <a:p>
            <a:pPr indent="0" marL="0">
              <a:buNone/>
            </a:pPr>
            <a:r>
              <a:rPr lang="en-US" sz="1100" dirty="0">
                <a:solidFill>
                  <a:schemeClr val="accent6"/>
                </a:solidFill>
              </a:rPr>
              <a:t>Live demonstration</a:t>
            </a:r>
            <a:endParaRPr lang="en-US" sz="1400" dirty="0"/>
          </a:p>
        </p:txBody>
      </p:sp>
      <p:sp>
        <p:nvSpPr>
          <p:cNvPr id="19" name="Rubric Category C"/>
          <p:cNvSpPr/>
          <p:nvPr/>
        </p:nvSpPr>
        <p:spPr>
          <a:xfrm>
            <a:off x="9235440" y="5303520"/>
            <a:ext cx="2404872" cy="758952"/>
          </a:xfrm>
          <a:prstGeom prst="roundRect">
            <a:avLst>
              <a:gd name="adj" fmla="val 12048"/>
            </a:avLst>
          </a:prstGeom>
          <a:solidFill>
            <a:schemeClr val="bg2"/>
          </a:solidFill>
          <a:ln/>
        </p:spPr>
      </p:sp>
      <p:sp>
        <p:nvSpPr>
          <p:cNvPr id="20" name="Points Category C"/>
          <p:cNvSpPr txBox="1"/>
          <p:nvPr/>
        </p:nvSpPr>
        <p:spPr>
          <a:xfrm>
            <a:off x="9345168" y="5303520"/>
            <a:ext cx="822960" cy="758952"/>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25</a:t>
            </a:r>
            <a:endParaRPr lang="en-US" sz="3000" dirty="0"/>
          </a:p>
        </p:txBody>
      </p:sp>
      <p:sp>
        <p:nvSpPr>
          <p:cNvPr id="21" name="Label Category C"/>
          <p:cNvSpPr txBox="1"/>
          <p:nvPr/>
        </p:nvSpPr>
        <p:spPr>
          <a:xfrm>
            <a:off x="10168128" y="5303520"/>
            <a:ext cx="1417320" cy="758952"/>
          </a:xfrm>
          <a:prstGeom prst="rect">
            <a:avLst/>
          </a:prstGeom>
          <a:noFill/>
          <a:ln/>
        </p:spPr>
        <p:txBody>
          <a:bodyPr wrap="square" lIns="0" tIns="0" rIns="0" bIns="0" rtlCol="0" anchor="ctr"/>
          <a:lstStyle/>
          <a:p>
            <a:pPr indent="0" marL="0">
              <a:buNone/>
            </a:pPr>
            <a:r>
              <a:rPr lang="en-US" sz="1200" b="1" dirty="0">
                <a:solidFill>
                  <a:schemeClr val="tx1"/>
                </a:solidFill>
              </a:rPr>
              <a:t>Category C</a:t>
            </a:r>
            <a:endParaRPr lang="en-US" sz="1400" dirty="0"/>
          </a:p>
          <a:p>
            <a:pPr indent="0" marL="0">
              <a:buNone/>
            </a:pPr>
            <a:r>
              <a:rPr lang="en-US" sz="1100" dirty="0">
                <a:solidFill>
                  <a:schemeClr val="accent6"/>
                </a:solidFill>
              </a:rPr>
              <a:t>Delivery, visuals &amp; Q&amp;A</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Problem Statement: Checkpoint Realities</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1: PROBLEM &amp; OBJECTIVES (10 PTS)</a:t>
            </a:r>
            <a:endParaRPr lang="en-US" sz="1100" dirty="0"/>
          </a:p>
        </p:txBody>
      </p:sp>
      <p:sp>
        <p:nvSpPr>
          <p:cNvPr id="4" name="Speaker chip"/>
          <p:cNvSpPr/>
          <p:nvPr/>
        </p:nvSpPr>
        <p:spPr>
          <a:xfrm>
            <a:off x="9185148" y="384048"/>
            <a:ext cx="2455164" cy="365760"/>
          </a:xfrm>
          <a:prstGeom prst="roundRect">
            <a:avLst>
              <a:gd name="adj" fmla="val 50000"/>
            </a:avLst>
          </a:prstGeom>
          <a:solidFill>
            <a:schemeClr val="tx2"/>
          </a:solidFill>
          <a:ln/>
        </p:spPr>
      </p:sp>
      <p:sp>
        <p:nvSpPr>
          <p:cNvPr id="5" name="Speaker label"/>
          <p:cNvSpPr txBox="1"/>
          <p:nvPr/>
        </p:nvSpPr>
        <p:spPr>
          <a:xfrm>
            <a:off x="9185148" y="384048"/>
            <a:ext cx="2455164" cy="365760"/>
          </a:xfrm>
          <a:prstGeom prst="rect">
            <a:avLst/>
          </a:prstGeom>
          <a:noFill/>
          <a:ln/>
        </p:spPr>
        <p:txBody>
          <a:bodyPr wrap="square" lIns="0" tIns="0" rIns="0" bIns="0" rtlCol="0" anchor="ctr"/>
          <a:lstStyle/>
          <a:p>
            <a:pPr algn="ctr" indent="0" marL="0">
              <a:buNone/>
            </a:pPr>
            <a:r>
              <a:rPr lang="en-US" sz="1200" b="1" dirty="0">
                <a:solidFill>
                  <a:schemeClr val="bg1"/>
                </a:solidFill>
              </a:rPr>
              <a:t>Casey Freud  |  1.5 min</a:t>
            </a:r>
            <a:endParaRPr lang="en-US" sz="1200" dirty="0"/>
          </a:p>
        </p:txBody>
      </p:sp>
      <p:sp>
        <p:nvSpPr>
          <p:cNvPr id="6" name="Problem card 1"/>
          <p:cNvSpPr/>
          <p:nvPr/>
        </p:nvSpPr>
        <p:spPr>
          <a:xfrm>
            <a:off x="548640" y="1417320"/>
            <a:ext cx="5440680" cy="2286000"/>
          </a:xfrm>
          <a:prstGeom prst="roundRect">
            <a:avLst>
              <a:gd name="adj" fmla="val 4000"/>
            </a:avLst>
          </a:prstGeom>
          <a:solidFill>
            <a:schemeClr val="bg2"/>
          </a:solidFill>
          <a:ln/>
        </p:spPr>
      </p:sp>
      <p:sp>
        <p:nvSpPr>
          <p:cNvPr id="7" name="Problem 1 icon background"/>
          <p:cNvSpPr/>
          <p:nvPr/>
        </p:nvSpPr>
        <p:spPr>
          <a:xfrm>
            <a:off x="777240" y="1618488"/>
            <a:ext cx="548640" cy="548640"/>
          </a:xfrm>
          <a:prstGeom prst="ellipse">
            <a:avLst/>
          </a:prstGeom>
          <a:solidFill>
            <a:schemeClr val="accent3"/>
          </a:solidFill>
          <a:ln/>
        </p:spPr>
      </p:sp>
      <p:pic>
        <p:nvPicPr>
          <p:cNvPr id="8" name="Image 0" descr="Problem 1 icon">    </p:cNvPr>
          <p:cNvPicPr>
            <a:picLocks noChangeAspect="1"/>
          </p:cNvPicPr>
          <p:nvPr/>
        </p:nvPicPr>
        <p:blipFill>
          <a:blip r:embed="rId1"/>
          <a:stretch>
            <a:fillRect/>
          </a:stretch>
        </p:blipFill>
        <p:spPr>
          <a:xfrm>
            <a:off x="919886" y="1761134"/>
            <a:ext cx="263347" cy="263347"/>
          </a:xfrm>
          <a:prstGeom prst="rect">
            <a:avLst/>
          </a:prstGeom>
        </p:spPr>
      </p:pic>
      <p:sp>
        <p:nvSpPr>
          <p:cNvPr id="9" name="Problem title 1"/>
          <p:cNvSpPr txBox="1"/>
          <p:nvPr/>
        </p:nvSpPr>
        <p:spPr>
          <a:xfrm>
            <a:off x="1508760" y="1618488"/>
            <a:ext cx="4297680" cy="54864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Manual paper ticketing bottleneck</a:t>
            </a:r>
            <a:endParaRPr lang="en-US" sz="1900" dirty="0"/>
          </a:p>
        </p:txBody>
      </p:sp>
      <p:sp>
        <p:nvSpPr>
          <p:cNvPr id="10" name="Problem details 1"/>
          <p:cNvSpPr txBox="1"/>
          <p:nvPr/>
        </p:nvSpPr>
        <p:spPr>
          <a:xfrm>
            <a:off x="822960" y="2331720"/>
            <a:ext cx="4937760" cy="1280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Hand-written TVR/OVR takes 8-12 minutes per motorist stop</a:t>
            </a:r>
            <a:endParaRPr lang="en-US" sz="1400" dirty="0"/>
          </a:p>
          <a:p>
            <a:pPr marL="177800" indent="-177800">
              <a:spcAft>
                <a:spcPts val="500"/>
              </a:spcAft>
              <a:buSzPct val="100000"/>
              <a:buChar char="•"/>
            </a:pPr>
            <a:r>
              <a:rPr lang="en-US" sz="1400" dirty="0">
                <a:solidFill>
                  <a:schemeClr val="tx1"/>
                </a:solidFill>
              </a:rPr>
              <a:t>Illegible entries cause wrong plates, misspelled names, contested citations</a:t>
            </a:r>
            <a:endParaRPr lang="en-US" sz="1400" dirty="0"/>
          </a:p>
          <a:p>
            <a:pPr marL="177800" indent="-177800">
              <a:spcAft>
                <a:spcPts val="500"/>
              </a:spcAft>
              <a:buSzPct val="100000"/>
              <a:buChar char="•"/>
            </a:pPr>
            <a:r>
              <a:rPr lang="en-US" sz="1400" dirty="0">
                <a:solidFill>
                  <a:schemeClr val="tx1"/>
                </a:solidFill>
              </a:rPr>
              <a:t>Paper slips get lost, damaged, or altered with no audit trail</a:t>
            </a:r>
            <a:endParaRPr lang="en-US" sz="1400" dirty="0"/>
          </a:p>
        </p:txBody>
      </p:sp>
      <p:sp>
        <p:nvSpPr>
          <p:cNvPr id="11" name="Problem card 2"/>
          <p:cNvSpPr/>
          <p:nvPr/>
        </p:nvSpPr>
        <p:spPr>
          <a:xfrm>
            <a:off x="6199632" y="1417320"/>
            <a:ext cx="5440680" cy="2286000"/>
          </a:xfrm>
          <a:prstGeom prst="roundRect">
            <a:avLst>
              <a:gd name="adj" fmla="val 4000"/>
            </a:avLst>
          </a:prstGeom>
          <a:solidFill>
            <a:schemeClr val="bg2"/>
          </a:solidFill>
          <a:ln/>
        </p:spPr>
      </p:sp>
      <p:sp>
        <p:nvSpPr>
          <p:cNvPr id="12" name="Problem 2 icon background"/>
          <p:cNvSpPr/>
          <p:nvPr/>
        </p:nvSpPr>
        <p:spPr>
          <a:xfrm>
            <a:off x="6428232" y="1618488"/>
            <a:ext cx="548640" cy="548640"/>
          </a:xfrm>
          <a:prstGeom prst="ellipse">
            <a:avLst/>
          </a:prstGeom>
          <a:solidFill>
            <a:schemeClr val="accent3"/>
          </a:solidFill>
          <a:ln/>
        </p:spPr>
      </p:sp>
      <p:pic>
        <p:nvPicPr>
          <p:cNvPr id="13" name="Image 1" descr="Problem 2 icon">    </p:cNvPr>
          <p:cNvPicPr>
            <a:picLocks noChangeAspect="1"/>
          </p:cNvPicPr>
          <p:nvPr/>
        </p:nvPicPr>
        <p:blipFill>
          <a:blip r:embed="rId2"/>
          <a:stretch>
            <a:fillRect/>
          </a:stretch>
        </p:blipFill>
        <p:spPr>
          <a:xfrm>
            <a:off x="6570878" y="1761134"/>
            <a:ext cx="263347" cy="263347"/>
          </a:xfrm>
          <a:prstGeom prst="rect">
            <a:avLst/>
          </a:prstGeom>
        </p:spPr>
      </p:pic>
      <p:sp>
        <p:nvSpPr>
          <p:cNvPr id="14" name="Problem title 2"/>
          <p:cNvSpPr txBox="1"/>
          <p:nvPr/>
        </p:nvSpPr>
        <p:spPr>
          <a:xfrm>
            <a:off x="7159752" y="1618488"/>
            <a:ext cx="4297680" cy="54864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Zero real-time intelligence screening</a:t>
            </a:r>
            <a:endParaRPr lang="en-US" sz="1900" dirty="0"/>
          </a:p>
        </p:txBody>
      </p:sp>
      <p:sp>
        <p:nvSpPr>
          <p:cNvPr id="15" name="Problem details 2"/>
          <p:cNvSpPr txBox="1"/>
          <p:nvPr/>
        </p:nvSpPr>
        <p:spPr>
          <a:xfrm>
            <a:off x="6473952" y="2331720"/>
            <a:ext cx="4937760" cy="1280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No instant check of plates against HPG alarms</a:t>
            </a:r>
            <a:endParaRPr lang="en-US" sz="1400" dirty="0"/>
          </a:p>
          <a:p>
            <a:pPr marL="177800" indent="-177800">
              <a:spcAft>
                <a:spcPts val="500"/>
              </a:spcAft>
              <a:buSzPct val="100000"/>
              <a:buChar char="•"/>
            </a:pPr>
            <a:r>
              <a:rPr lang="en-US" sz="1400" dirty="0">
                <a:solidFill>
                  <a:schemeClr val="tx1"/>
                </a:solidFill>
              </a:rPr>
              <a:t>Stolen vehicles pass when hotlist checks are impossible at peak traffic</a:t>
            </a:r>
            <a:endParaRPr lang="en-US" sz="1400" dirty="0"/>
          </a:p>
          <a:p>
            <a:pPr marL="177800" indent="-177800">
              <a:spcAft>
                <a:spcPts val="500"/>
              </a:spcAft>
              <a:buSzPct val="100000"/>
              <a:buChar char="•"/>
            </a:pPr>
            <a:r>
              <a:rPr lang="en-US" sz="1400" dirty="0">
                <a:solidFill>
                  <a:schemeClr val="tx1"/>
                </a:solidFill>
              </a:rPr>
              <a:t>Court warrants and wanted persons can't be cross-referenced at roadside</a:t>
            </a:r>
            <a:endParaRPr lang="en-US" sz="1400" dirty="0"/>
          </a:p>
        </p:txBody>
      </p:sp>
      <p:sp>
        <p:nvSpPr>
          <p:cNvPr id="16" name="Problem card 3"/>
          <p:cNvSpPr/>
          <p:nvPr/>
        </p:nvSpPr>
        <p:spPr>
          <a:xfrm>
            <a:off x="548640" y="3886200"/>
            <a:ext cx="5440680" cy="2286000"/>
          </a:xfrm>
          <a:prstGeom prst="roundRect">
            <a:avLst>
              <a:gd name="adj" fmla="val 4000"/>
            </a:avLst>
          </a:prstGeom>
          <a:solidFill>
            <a:schemeClr val="bg2"/>
          </a:solidFill>
          <a:ln/>
        </p:spPr>
      </p:sp>
      <p:sp>
        <p:nvSpPr>
          <p:cNvPr id="17" name="Problem 3 icon background"/>
          <p:cNvSpPr/>
          <p:nvPr/>
        </p:nvSpPr>
        <p:spPr>
          <a:xfrm>
            <a:off x="777240" y="4087368"/>
            <a:ext cx="548640" cy="548640"/>
          </a:xfrm>
          <a:prstGeom prst="ellipse">
            <a:avLst/>
          </a:prstGeom>
          <a:solidFill>
            <a:schemeClr val="accent3"/>
          </a:solidFill>
          <a:ln/>
        </p:spPr>
      </p:sp>
      <p:pic>
        <p:nvPicPr>
          <p:cNvPr id="18" name="Image 2" descr="Problem 3 icon">    </p:cNvPr>
          <p:cNvPicPr>
            <a:picLocks noChangeAspect="1"/>
          </p:cNvPicPr>
          <p:nvPr/>
        </p:nvPicPr>
        <p:blipFill>
          <a:blip r:embed="rId3"/>
          <a:stretch>
            <a:fillRect/>
          </a:stretch>
        </p:blipFill>
        <p:spPr>
          <a:xfrm>
            <a:off x="919886" y="4230014"/>
            <a:ext cx="263347" cy="263347"/>
          </a:xfrm>
          <a:prstGeom prst="rect">
            <a:avLst/>
          </a:prstGeom>
        </p:spPr>
      </p:pic>
      <p:sp>
        <p:nvSpPr>
          <p:cNvPr id="19" name="Problem title 3"/>
          <p:cNvSpPr txBox="1"/>
          <p:nvPr/>
        </p:nvSpPr>
        <p:spPr>
          <a:xfrm>
            <a:off x="1508760" y="4087368"/>
            <a:ext cx="4297680" cy="54864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Inability to track repeat offenders</a:t>
            </a:r>
            <a:endParaRPr lang="en-US" sz="1900" dirty="0"/>
          </a:p>
        </p:txBody>
      </p:sp>
      <p:sp>
        <p:nvSpPr>
          <p:cNvPr id="20" name="Problem details 3"/>
          <p:cNvSpPr txBox="1"/>
          <p:nvPr/>
        </p:nvSpPr>
        <p:spPr>
          <a:xfrm>
            <a:off x="822960" y="4800600"/>
            <a:ext cx="4937760" cy="1280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Records at Post A are invisible to Posts B and C</a:t>
            </a:r>
            <a:endParaRPr lang="en-US" sz="1400" dirty="0"/>
          </a:p>
          <a:p>
            <a:pPr marL="177800" indent="-177800">
              <a:spcAft>
                <a:spcPts val="500"/>
              </a:spcAft>
              <a:buSzPct val="100000"/>
              <a:buChar char="•"/>
            </a:pPr>
            <a:r>
              <a:rPr lang="en-US" sz="1400" dirty="0">
                <a:solidFill>
                  <a:schemeClr val="tx1"/>
                </a:solidFill>
              </a:rPr>
              <a:t>Habitual violators and suspended licenses escape escalated penalties</a:t>
            </a:r>
            <a:endParaRPr lang="en-US" sz="1400" dirty="0"/>
          </a:p>
          <a:p>
            <a:pPr marL="177800" indent="-177800">
              <a:spcAft>
                <a:spcPts val="500"/>
              </a:spcAft>
              <a:buSzPct val="100000"/>
              <a:buChar char="•"/>
            </a:pPr>
            <a:r>
              <a:rPr lang="en-US" sz="1400" dirty="0">
                <a:solidFill>
                  <a:schemeClr val="tx1"/>
                </a:solidFill>
              </a:rPr>
              <a:t>Unlicensed drivers exploit gaps with unverified fictitious names</a:t>
            </a:r>
            <a:endParaRPr lang="en-US" sz="1400" dirty="0"/>
          </a:p>
        </p:txBody>
      </p:sp>
      <p:sp>
        <p:nvSpPr>
          <p:cNvPr id="21" name="Problem card 4"/>
          <p:cNvSpPr/>
          <p:nvPr/>
        </p:nvSpPr>
        <p:spPr>
          <a:xfrm>
            <a:off x="6199632" y="3886200"/>
            <a:ext cx="5440680" cy="2286000"/>
          </a:xfrm>
          <a:prstGeom prst="roundRect">
            <a:avLst>
              <a:gd name="adj" fmla="val 4000"/>
            </a:avLst>
          </a:prstGeom>
          <a:solidFill>
            <a:schemeClr val="bg2"/>
          </a:solidFill>
          <a:ln/>
        </p:spPr>
      </p:sp>
      <p:sp>
        <p:nvSpPr>
          <p:cNvPr id="22" name="Problem 4 icon background"/>
          <p:cNvSpPr/>
          <p:nvPr/>
        </p:nvSpPr>
        <p:spPr>
          <a:xfrm>
            <a:off x="6428232" y="4087368"/>
            <a:ext cx="548640" cy="548640"/>
          </a:xfrm>
          <a:prstGeom prst="ellipse">
            <a:avLst/>
          </a:prstGeom>
          <a:solidFill>
            <a:schemeClr val="accent3"/>
          </a:solidFill>
          <a:ln/>
        </p:spPr>
      </p:sp>
      <p:pic>
        <p:nvPicPr>
          <p:cNvPr id="23" name="Image 3" descr="Problem 4 icon">    </p:cNvPr>
          <p:cNvPicPr>
            <a:picLocks noChangeAspect="1"/>
          </p:cNvPicPr>
          <p:nvPr/>
        </p:nvPicPr>
        <p:blipFill>
          <a:blip r:embed="rId4"/>
          <a:stretch>
            <a:fillRect/>
          </a:stretch>
        </p:blipFill>
        <p:spPr>
          <a:xfrm>
            <a:off x="6570878" y="4230014"/>
            <a:ext cx="263347" cy="263347"/>
          </a:xfrm>
          <a:prstGeom prst="rect">
            <a:avLst/>
          </a:prstGeom>
        </p:spPr>
      </p:pic>
      <p:sp>
        <p:nvSpPr>
          <p:cNvPr id="24" name="Problem title 4"/>
          <p:cNvSpPr txBox="1"/>
          <p:nvPr/>
        </p:nvSpPr>
        <p:spPr>
          <a:xfrm>
            <a:off x="7159752" y="4087368"/>
            <a:ext cx="4297680" cy="54864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Treasury remittance &amp; audit latency</a:t>
            </a:r>
            <a:endParaRPr lang="en-US" sz="1900" dirty="0"/>
          </a:p>
        </p:txBody>
      </p:sp>
      <p:sp>
        <p:nvSpPr>
          <p:cNvPr id="25" name="Problem details 4"/>
          <p:cNvSpPr txBox="1"/>
          <p:nvPr/>
        </p:nvSpPr>
        <p:spPr>
          <a:xfrm>
            <a:off x="6473952" y="4800600"/>
            <a:ext cx="4937760" cy="1280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Reconciling police slips with the Municipal Treasury takes days or weeks</a:t>
            </a:r>
            <a:endParaRPr lang="en-US" sz="1400" dirty="0"/>
          </a:p>
          <a:p>
            <a:pPr marL="177800" indent="-177800">
              <a:spcAft>
                <a:spcPts val="500"/>
              </a:spcAft>
              <a:buSzPct val="100000"/>
              <a:buChar char="•"/>
            </a:pPr>
            <a:r>
              <a:rPr lang="en-US" sz="1400" dirty="0">
                <a:solidFill>
                  <a:schemeClr val="tx1"/>
                </a:solidFill>
              </a:rPr>
              <a:t>Unsettled tickets go untracked: lost revenue, no aging reports</a:t>
            </a:r>
            <a:endParaRPr lang="en-US" sz="1400" dirty="0"/>
          </a:p>
          <a:p>
            <a:pPr marL="177800" indent="-177800">
              <a:spcAft>
                <a:spcPts val="500"/>
              </a:spcAft>
              <a:buSzPct val="100000"/>
              <a:buChar char="•"/>
            </a:pPr>
            <a:r>
              <a:rPr lang="en-US" sz="1400" dirty="0">
                <a:solidFill>
                  <a:schemeClr val="tx1"/>
                </a:solidFill>
              </a:rPr>
              <a:t>Commanders lack real-time views of violation corridors and shift metrics</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Target Users &amp; Stakeholders</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1: PROBLEM &amp; OBJECTIVES (10 PTS)</a:t>
            </a:r>
            <a:endParaRPr lang="en-US" sz="1100" dirty="0"/>
          </a:p>
        </p:txBody>
      </p:sp>
      <p:sp>
        <p:nvSpPr>
          <p:cNvPr id="4" name="Speaker chip"/>
          <p:cNvSpPr/>
          <p:nvPr/>
        </p:nvSpPr>
        <p:spPr>
          <a:xfrm>
            <a:off x="9185148" y="384048"/>
            <a:ext cx="2455164" cy="365760"/>
          </a:xfrm>
          <a:prstGeom prst="roundRect">
            <a:avLst>
              <a:gd name="adj" fmla="val 50000"/>
            </a:avLst>
          </a:prstGeom>
          <a:solidFill>
            <a:schemeClr val="tx2"/>
          </a:solidFill>
          <a:ln/>
        </p:spPr>
      </p:sp>
      <p:sp>
        <p:nvSpPr>
          <p:cNvPr id="5" name="Speaker label"/>
          <p:cNvSpPr txBox="1"/>
          <p:nvPr/>
        </p:nvSpPr>
        <p:spPr>
          <a:xfrm>
            <a:off x="9185148" y="384048"/>
            <a:ext cx="2455164" cy="365760"/>
          </a:xfrm>
          <a:prstGeom prst="rect">
            <a:avLst/>
          </a:prstGeom>
          <a:noFill/>
          <a:ln/>
        </p:spPr>
        <p:txBody>
          <a:bodyPr wrap="square" lIns="0" tIns="0" rIns="0" bIns="0" rtlCol="0" anchor="ctr"/>
          <a:lstStyle/>
          <a:p>
            <a:pPr algn="ctr" indent="0" marL="0">
              <a:buNone/>
            </a:pPr>
            <a:r>
              <a:rPr lang="en-US" sz="1200" b="1" dirty="0">
                <a:solidFill>
                  <a:schemeClr val="bg1"/>
                </a:solidFill>
              </a:rPr>
              <a:t>Casey Freud  |  1.5 min</a:t>
            </a:r>
            <a:endParaRPr lang="en-US" sz="1200" dirty="0"/>
          </a:p>
        </p:txBody>
      </p:sp>
      <p:sp>
        <p:nvSpPr>
          <p:cNvPr id="6" name="Stakeholder card 1"/>
          <p:cNvSpPr/>
          <p:nvPr/>
        </p:nvSpPr>
        <p:spPr>
          <a:xfrm>
            <a:off x="548640" y="1417320"/>
            <a:ext cx="2601468" cy="4754880"/>
          </a:xfrm>
          <a:prstGeom prst="roundRect">
            <a:avLst>
              <a:gd name="adj" fmla="val 3515"/>
            </a:avLst>
          </a:prstGeom>
          <a:solidFill>
            <a:schemeClr val="bg2"/>
          </a:solidFill>
          <a:ln/>
        </p:spPr>
      </p:sp>
      <p:sp>
        <p:nvSpPr>
          <p:cNvPr id="7" name="Checkpoint officers icon background"/>
          <p:cNvSpPr/>
          <p:nvPr/>
        </p:nvSpPr>
        <p:spPr>
          <a:xfrm>
            <a:off x="777240" y="1645920"/>
            <a:ext cx="640080" cy="640080"/>
          </a:xfrm>
          <a:prstGeom prst="ellipse">
            <a:avLst/>
          </a:prstGeom>
          <a:solidFill>
            <a:schemeClr val="tx2"/>
          </a:solidFill>
          <a:ln/>
        </p:spPr>
      </p:sp>
      <p:pic>
        <p:nvPicPr>
          <p:cNvPr id="8" name="Image 0" descr="Checkpoint officers icon">    </p:cNvPr>
          <p:cNvPicPr>
            <a:picLocks noChangeAspect="1"/>
          </p:cNvPicPr>
          <p:nvPr/>
        </p:nvPicPr>
        <p:blipFill>
          <a:blip r:embed="rId1"/>
          <a:stretch>
            <a:fillRect/>
          </a:stretch>
        </p:blipFill>
        <p:spPr>
          <a:xfrm>
            <a:off x="943661" y="1812341"/>
            <a:ext cx="307238" cy="307238"/>
          </a:xfrm>
          <a:prstGeom prst="rect">
            <a:avLst/>
          </a:prstGeom>
        </p:spPr>
      </p:pic>
      <p:sp>
        <p:nvSpPr>
          <p:cNvPr id="9" name="Stakeholder class 1"/>
          <p:cNvSpPr txBox="1"/>
          <p:nvPr/>
        </p:nvSpPr>
        <p:spPr>
          <a:xfrm>
            <a:off x="777240" y="2395728"/>
            <a:ext cx="21945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PRIMARY USERS</a:t>
            </a:r>
            <a:endParaRPr lang="en-US" sz="1100" dirty="0"/>
          </a:p>
        </p:txBody>
      </p:sp>
      <p:sp>
        <p:nvSpPr>
          <p:cNvPr id="10" name="Stakeholder name 1"/>
          <p:cNvSpPr txBox="1"/>
          <p:nvPr/>
        </p:nvSpPr>
        <p:spPr>
          <a:xfrm>
            <a:off x="777240" y="2633472"/>
            <a:ext cx="219456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Checkpoint officers</a:t>
            </a:r>
            <a:endParaRPr lang="en-US" sz="1900" dirty="0"/>
          </a:p>
        </p:txBody>
      </p:sp>
      <p:sp>
        <p:nvSpPr>
          <p:cNvPr id="11" name="Stakeholder description 1"/>
          <p:cNvSpPr txBox="1"/>
          <p:nvPr/>
        </p:nvSpPr>
        <p:spPr>
          <a:xfrm>
            <a:off x="777240" y="3017520"/>
            <a:ext cx="2194560" cy="640080"/>
          </a:xfrm>
          <a:prstGeom prst="rect">
            <a:avLst/>
          </a:prstGeom>
          <a:noFill/>
          <a:ln/>
        </p:spPr>
        <p:txBody>
          <a:bodyPr wrap="square" lIns="0" tIns="0" rIns="0" bIns="0" rtlCol="0" anchor="t"/>
          <a:lstStyle/>
          <a:p>
            <a:pPr indent="0" marL="0">
              <a:buNone/>
            </a:pPr>
            <a:r>
              <a:rPr lang="en-US" sz="1200" i="1" dirty="0">
                <a:solidFill>
                  <a:schemeClr val="accent6"/>
                </a:solidFill>
              </a:rPr>
              <a:t>Patrolmen &amp; shift leads on duty at Agoo MPS posts</a:t>
            </a:r>
            <a:endParaRPr lang="en-US" sz="1200" dirty="0"/>
          </a:p>
        </p:txBody>
      </p:sp>
      <p:sp>
        <p:nvSpPr>
          <p:cNvPr id="12" name="Needs label 1"/>
          <p:cNvSpPr txBox="1"/>
          <p:nvPr/>
        </p:nvSpPr>
        <p:spPr>
          <a:xfrm>
            <a:off x="777240" y="3703320"/>
            <a:ext cx="2194560" cy="201168"/>
          </a:xfrm>
          <a:prstGeom prst="rect">
            <a:avLst/>
          </a:prstGeom>
          <a:noFill/>
          <a:ln/>
        </p:spPr>
        <p:txBody>
          <a:bodyPr wrap="square" lIns="0" tIns="0" rIns="0" bIns="0" rtlCol="0" anchor="t"/>
          <a:lstStyle/>
          <a:p>
            <a:pPr indent="0" marL="0">
              <a:buNone/>
            </a:pPr>
            <a:r>
              <a:rPr lang="en-US" sz="1100" b="1" spc="100" kern="0" dirty="0">
                <a:solidFill>
                  <a:schemeClr val="tx1"/>
                </a:solidFill>
              </a:rPr>
              <a:t>CORE NEEDS</a:t>
            </a:r>
            <a:endParaRPr lang="en-US" sz="1100" dirty="0"/>
          </a:p>
        </p:txBody>
      </p:sp>
      <p:sp>
        <p:nvSpPr>
          <p:cNvPr id="13" name="Stakeholder needs 1"/>
          <p:cNvSpPr txBox="1"/>
          <p:nvPr/>
        </p:nvSpPr>
        <p:spPr>
          <a:xfrm>
            <a:off x="777240" y="3977640"/>
            <a:ext cx="2194560" cy="2103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Rapid motorist check (&lt;60 s)</a:t>
            </a:r>
            <a:endParaRPr lang="en-US" sz="1400" dirty="0"/>
          </a:p>
          <a:p>
            <a:pPr marL="177800" indent="-177800">
              <a:spcAft>
                <a:spcPts val="500"/>
              </a:spcAft>
              <a:buSzPct val="100000"/>
              <a:buChar char="•"/>
            </a:pPr>
            <a:r>
              <a:rPr lang="en-US" sz="1300" dirty="0">
                <a:solidFill>
                  <a:schemeClr val="tx1"/>
                </a:solidFill>
              </a:rPr>
              <a:t>Clear / Warning / Alarm screening badges</a:t>
            </a:r>
            <a:endParaRPr lang="en-US" sz="1400" dirty="0"/>
          </a:p>
          <a:p>
            <a:pPr marL="177800" indent="-177800">
              <a:spcAft>
                <a:spcPts val="500"/>
              </a:spcAft>
              <a:buSzPct val="100000"/>
              <a:buChar char="•"/>
            </a:pPr>
            <a:r>
              <a:rPr lang="en-US" sz="1300" dirty="0">
                <a:solidFill>
                  <a:schemeClr val="tx1"/>
                </a:solidFill>
              </a:rPr>
              <a:t>Auto-calculated statutory fines</a:t>
            </a:r>
            <a:endParaRPr lang="en-US" sz="1400" dirty="0"/>
          </a:p>
          <a:p>
            <a:pPr marL="177800" indent="-177800">
              <a:spcAft>
                <a:spcPts val="500"/>
              </a:spcAft>
              <a:buSzPct val="100000"/>
              <a:buChar char="•"/>
            </a:pPr>
            <a:r>
              <a:rPr lang="en-US" sz="1300" dirty="0">
                <a:solidFill>
                  <a:schemeClr val="tx1"/>
                </a:solidFill>
              </a:rPr>
              <a:t>Thermal receipt &amp; photo evidence</a:t>
            </a:r>
            <a:endParaRPr lang="en-US" sz="1400" dirty="0"/>
          </a:p>
        </p:txBody>
      </p:sp>
      <p:sp>
        <p:nvSpPr>
          <p:cNvPr id="14" name="Stakeholder card 2"/>
          <p:cNvSpPr/>
          <p:nvPr/>
        </p:nvSpPr>
        <p:spPr>
          <a:xfrm>
            <a:off x="3378708" y="1417320"/>
            <a:ext cx="2601468" cy="4754880"/>
          </a:xfrm>
          <a:prstGeom prst="roundRect">
            <a:avLst>
              <a:gd name="adj" fmla="val 3515"/>
            </a:avLst>
          </a:prstGeom>
          <a:solidFill>
            <a:schemeClr val="bg2"/>
          </a:solidFill>
          <a:ln/>
        </p:spPr>
      </p:sp>
      <p:sp>
        <p:nvSpPr>
          <p:cNvPr id="15" name="Station commander icon background"/>
          <p:cNvSpPr/>
          <p:nvPr/>
        </p:nvSpPr>
        <p:spPr>
          <a:xfrm>
            <a:off x="3607308" y="1645920"/>
            <a:ext cx="640080" cy="640080"/>
          </a:xfrm>
          <a:prstGeom prst="ellipse">
            <a:avLst/>
          </a:prstGeom>
          <a:solidFill>
            <a:schemeClr val="tx2"/>
          </a:solidFill>
          <a:ln/>
        </p:spPr>
      </p:sp>
      <p:pic>
        <p:nvPicPr>
          <p:cNvPr id="16" name="Image 1" descr="Station commander icon">    </p:cNvPr>
          <p:cNvPicPr>
            <a:picLocks noChangeAspect="1"/>
          </p:cNvPicPr>
          <p:nvPr/>
        </p:nvPicPr>
        <p:blipFill>
          <a:blip r:embed="rId2"/>
          <a:stretch>
            <a:fillRect/>
          </a:stretch>
        </p:blipFill>
        <p:spPr>
          <a:xfrm>
            <a:off x="3773729" y="1812341"/>
            <a:ext cx="307238" cy="307238"/>
          </a:xfrm>
          <a:prstGeom prst="rect">
            <a:avLst/>
          </a:prstGeom>
        </p:spPr>
      </p:pic>
      <p:sp>
        <p:nvSpPr>
          <p:cNvPr id="17" name="Stakeholder class 2"/>
          <p:cNvSpPr txBox="1"/>
          <p:nvPr/>
        </p:nvSpPr>
        <p:spPr>
          <a:xfrm>
            <a:off x="3607308" y="2395728"/>
            <a:ext cx="21945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EXECUTIVE USERS</a:t>
            </a:r>
            <a:endParaRPr lang="en-US" sz="1100" dirty="0"/>
          </a:p>
        </p:txBody>
      </p:sp>
      <p:sp>
        <p:nvSpPr>
          <p:cNvPr id="18" name="Stakeholder name 2"/>
          <p:cNvSpPr txBox="1"/>
          <p:nvPr/>
        </p:nvSpPr>
        <p:spPr>
          <a:xfrm>
            <a:off x="3607308" y="2633472"/>
            <a:ext cx="219456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Station commander</a:t>
            </a:r>
            <a:endParaRPr lang="en-US" sz="1900" dirty="0"/>
          </a:p>
        </p:txBody>
      </p:sp>
      <p:sp>
        <p:nvSpPr>
          <p:cNvPr id="19" name="Stakeholder description 2"/>
          <p:cNvSpPr txBox="1"/>
          <p:nvPr/>
        </p:nvSpPr>
        <p:spPr>
          <a:xfrm>
            <a:off x="3607308" y="3017520"/>
            <a:ext cx="2194560" cy="640080"/>
          </a:xfrm>
          <a:prstGeom prst="rect">
            <a:avLst/>
          </a:prstGeom>
          <a:noFill/>
          <a:ln/>
        </p:spPr>
        <p:txBody>
          <a:bodyPr wrap="square" lIns="0" tIns="0" rIns="0" bIns="0" rtlCol="0" anchor="t"/>
          <a:lstStyle/>
          <a:p>
            <a:pPr indent="0" marL="0">
              <a:buNone/>
            </a:pPr>
            <a:r>
              <a:rPr lang="en-US" sz="1200" i="1" dirty="0">
                <a:solidFill>
                  <a:schemeClr val="accent6"/>
                </a:solidFill>
              </a:rPr>
              <a:t>Chief of Police, Traffic Division Chief, records custodians</a:t>
            </a:r>
            <a:endParaRPr lang="en-US" sz="1200" dirty="0"/>
          </a:p>
        </p:txBody>
      </p:sp>
      <p:sp>
        <p:nvSpPr>
          <p:cNvPr id="20" name="Needs label 2"/>
          <p:cNvSpPr txBox="1"/>
          <p:nvPr/>
        </p:nvSpPr>
        <p:spPr>
          <a:xfrm>
            <a:off x="3607308" y="3703320"/>
            <a:ext cx="2194560" cy="201168"/>
          </a:xfrm>
          <a:prstGeom prst="rect">
            <a:avLst/>
          </a:prstGeom>
          <a:noFill/>
          <a:ln/>
        </p:spPr>
        <p:txBody>
          <a:bodyPr wrap="square" lIns="0" tIns="0" rIns="0" bIns="0" rtlCol="0" anchor="t"/>
          <a:lstStyle/>
          <a:p>
            <a:pPr indent="0" marL="0">
              <a:buNone/>
            </a:pPr>
            <a:r>
              <a:rPr lang="en-US" sz="1100" b="1" spc="100" kern="0" dirty="0">
                <a:solidFill>
                  <a:schemeClr val="tx1"/>
                </a:solidFill>
              </a:rPr>
              <a:t>CORE NEEDS</a:t>
            </a:r>
            <a:endParaRPr lang="en-US" sz="1100" dirty="0"/>
          </a:p>
        </p:txBody>
      </p:sp>
      <p:sp>
        <p:nvSpPr>
          <p:cNvPr id="21" name="Stakeholder needs 2"/>
          <p:cNvSpPr txBox="1"/>
          <p:nvPr/>
        </p:nvSpPr>
        <p:spPr>
          <a:xfrm>
            <a:off x="3607308" y="3977640"/>
            <a:ext cx="2194560" cy="2103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Real-time dashboard: arrests, fines, alerts</a:t>
            </a:r>
            <a:endParaRPr lang="en-US" sz="1400" dirty="0"/>
          </a:p>
          <a:p>
            <a:pPr marL="177800" indent="-177800">
              <a:spcAft>
                <a:spcPts val="500"/>
              </a:spcAft>
              <a:buSzPct val="100000"/>
              <a:buChar char="•"/>
            </a:pPr>
            <a:r>
              <a:rPr lang="en-US" sz="1300" dirty="0">
                <a:solidFill>
                  <a:schemeClr val="tx1"/>
                </a:solidFill>
              </a:rPr>
              <a:t>Shift and post density analysis</a:t>
            </a:r>
            <a:endParaRPr lang="en-US" sz="1400" dirty="0"/>
          </a:p>
          <a:p>
            <a:pPr marL="177800" indent="-177800">
              <a:spcAft>
                <a:spcPts val="500"/>
              </a:spcAft>
              <a:buSzPct val="100000"/>
              <a:buChar char="•"/>
            </a:pPr>
            <a:r>
              <a:rPr lang="en-US" sz="1300" dirty="0">
                <a:solidFill>
                  <a:schemeClr val="tx1"/>
                </a:solidFill>
              </a:rPr>
              <a:t>Tamper-proof append-only audit trail</a:t>
            </a:r>
            <a:endParaRPr lang="en-US" sz="1400" dirty="0"/>
          </a:p>
          <a:p>
            <a:pPr marL="177800" indent="-177800">
              <a:spcAft>
                <a:spcPts val="500"/>
              </a:spcAft>
              <a:buSzPct val="100000"/>
              <a:buChar char="•"/>
            </a:pPr>
            <a:r>
              <a:rPr lang="en-US" sz="1300" dirty="0">
                <a:solidFill>
                  <a:schemeClr val="tx1"/>
                </a:solidFill>
              </a:rPr>
              <a:t>Filterable violation registry</a:t>
            </a:r>
            <a:endParaRPr lang="en-US" sz="1400" dirty="0"/>
          </a:p>
        </p:txBody>
      </p:sp>
      <p:sp>
        <p:nvSpPr>
          <p:cNvPr id="22" name="Stakeholder card 3"/>
          <p:cNvSpPr/>
          <p:nvPr/>
        </p:nvSpPr>
        <p:spPr>
          <a:xfrm>
            <a:off x="6208776" y="1417320"/>
            <a:ext cx="2601468" cy="4754880"/>
          </a:xfrm>
          <a:prstGeom prst="roundRect">
            <a:avLst>
              <a:gd name="adj" fmla="val 3515"/>
            </a:avLst>
          </a:prstGeom>
          <a:solidFill>
            <a:schemeClr val="bg2"/>
          </a:solidFill>
          <a:ln/>
        </p:spPr>
      </p:sp>
      <p:sp>
        <p:nvSpPr>
          <p:cNvPr id="23" name="Municipal Treasury icon background"/>
          <p:cNvSpPr/>
          <p:nvPr/>
        </p:nvSpPr>
        <p:spPr>
          <a:xfrm>
            <a:off x="6437376" y="1645920"/>
            <a:ext cx="640080" cy="640080"/>
          </a:xfrm>
          <a:prstGeom prst="ellipse">
            <a:avLst/>
          </a:prstGeom>
          <a:solidFill>
            <a:schemeClr val="tx2"/>
          </a:solidFill>
          <a:ln/>
        </p:spPr>
      </p:sp>
      <p:pic>
        <p:nvPicPr>
          <p:cNvPr id="24" name="Image 2" descr="Municipal Treasury icon">    </p:cNvPr>
          <p:cNvPicPr>
            <a:picLocks noChangeAspect="1"/>
          </p:cNvPicPr>
          <p:nvPr/>
        </p:nvPicPr>
        <p:blipFill>
          <a:blip r:embed="rId3"/>
          <a:stretch>
            <a:fillRect/>
          </a:stretch>
        </p:blipFill>
        <p:spPr>
          <a:xfrm>
            <a:off x="6603797" y="1812341"/>
            <a:ext cx="307238" cy="307238"/>
          </a:xfrm>
          <a:prstGeom prst="rect">
            <a:avLst/>
          </a:prstGeom>
        </p:spPr>
      </p:pic>
      <p:sp>
        <p:nvSpPr>
          <p:cNvPr id="25" name="Stakeholder class 3"/>
          <p:cNvSpPr txBox="1"/>
          <p:nvPr/>
        </p:nvSpPr>
        <p:spPr>
          <a:xfrm>
            <a:off x="6437376" y="2395728"/>
            <a:ext cx="21945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REVENUE USERS</a:t>
            </a:r>
            <a:endParaRPr lang="en-US" sz="1100" dirty="0"/>
          </a:p>
        </p:txBody>
      </p:sp>
      <p:sp>
        <p:nvSpPr>
          <p:cNvPr id="26" name="Stakeholder name 3"/>
          <p:cNvSpPr txBox="1"/>
          <p:nvPr/>
        </p:nvSpPr>
        <p:spPr>
          <a:xfrm>
            <a:off x="6437376" y="2633472"/>
            <a:ext cx="219456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Municipal Treasury</a:t>
            </a:r>
            <a:endParaRPr lang="en-US" sz="1900" dirty="0"/>
          </a:p>
        </p:txBody>
      </p:sp>
      <p:sp>
        <p:nvSpPr>
          <p:cNvPr id="27" name="Stakeholder description 3"/>
          <p:cNvSpPr txBox="1"/>
          <p:nvPr/>
        </p:nvSpPr>
        <p:spPr>
          <a:xfrm>
            <a:off x="6437376" y="3017520"/>
            <a:ext cx="2194560" cy="640080"/>
          </a:xfrm>
          <a:prstGeom prst="rect">
            <a:avLst/>
          </a:prstGeom>
          <a:noFill/>
          <a:ln/>
        </p:spPr>
        <p:txBody>
          <a:bodyPr wrap="square" lIns="0" tIns="0" rIns="0" bIns="0" rtlCol="0" anchor="t"/>
          <a:lstStyle/>
          <a:p>
            <a:pPr indent="0" marL="0">
              <a:buNone/>
            </a:pPr>
            <a:r>
              <a:rPr lang="en-US" sz="1200" i="1" dirty="0">
                <a:solidFill>
                  <a:schemeClr val="accent6"/>
                </a:solidFill>
              </a:rPr>
              <a:t>Cashiers &amp; revenue assessment officers</a:t>
            </a:r>
            <a:endParaRPr lang="en-US" sz="1200" dirty="0"/>
          </a:p>
        </p:txBody>
      </p:sp>
      <p:sp>
        <p:nvSpPr>
          <p:cNvPr id="28" name="Needs label 3"/>
          <p:cNvSpPr txBox="1"/>
          <p:nvPr/>
        </p:nvSpPr>
        <p:spPr>
          <a:xfrm>
            <a:off x="6437376" y="3703320"/>
            <a:ext cx="2194560" cy="201168"/>
          </a:xfrm>
          <a:prstGeom prst="rect">
            <a:avLst/>
          </a:prstGeom>
          <a:noFill/>
          <a:ln/>
        </p:spPr>
        <p:txBody>
          <a:bodyPr wrap="square" lIns="0" tIns="0" rIns="0" bIns="0" rtlCol="0" anchor="t"/>
          <a:lstStyle/>
          <a:p>
            <a:pPr indent="0" marL="0">
              <a:buNone/>
            </a:pPr>
            <a:r>
              <a:rPr lang="en-US" sz="1100" b="1" spc="100" kern="0" dirty="0">
                <a:solidFill>
                  <a:schemeClr val="tx1"/>
                </a:solidFill>
              </a:rPr>
              <a:t>CORE NEEDS</a:t>
            </a:r>
            <a:endParaRPr lang="en-US" sz="1100" dirty="0"/>
          </a:p>
        </p:txBody>
      </p:sp>
      <p:sp>
        <p:nvSpPr>
          <p:cNvPr id="29" name="Stakeholder needs 3"/>
          <p:cNvSpPr txBox="1"/>
          <p:nvPr/>
        </p:nvSpPr>
        <p:spPr>
          <a:xfrm>
            <a:off x="6437376" y="3977640"/>
            <a:ext cx="2194560" cy="2103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Instant balance check by ticket or plate</a:t>
            </a:r>
            <a:endParaRPr lang="en-US" sz="1400" dirty="0"/>
          </a:p>
          <a:p>
            <a:pPr marL="177800" indent="-177800">
              <a:spcAft>
                <a:spcPts val="500"/>
              </a:spcAft>
              <a:buSzPct val="100000"/>
              <a:buChar char="•"/>
            </a:pPr>
            <a:r>
              <a:rPr lang="en-US" sz="1300" dirty="0">
                <a:solidFill>
                  <a:schemeClr val="tx1"/>
                </a:solidFill>
              </a:rPr>
              <a:t>Unsettled to Paid status updates</a:t>
            </a:r>
            <a:endParaRPr lang="en-US" sz="1400" dirty="0"/>
          </a:p>
          <a:p>
            <a:pPr marL="177800" indent="-177800">
              <a:spcAft>
                <a:spcPts val="500"/>
              </a:spcAft>
              <a:buSzPct val="100000"/>
              <a:buChar char="•"/>
            </a:pPr>
            <a:r>
              <a:rPr lang="en-US" sz="1300" dirty="0">
                <a:solidFill>
                  <a:schemeClr val="tx1"/>
                </a:solidFill>
              </a:rPr>
              <a:t>Official Receipt (OR) recording</a:t>
            </a:r>
            <a:endParaRPr lang="en-US" sz="1400" dirty="0"/>
          </a:p>
          <a:p>
            <a:pPr marL="177800" indent="-177800">
              <a:spcAft>
                <a:spcPts val="500"/>
              </a:spcAft>
              <a:buSzPct val="100000"/>
              <a:buChar char="•"/>
            </a:pPr>
            <a:r>
              <a:rPr lang="en-US" sz="1300" dirty="0">
                <a:solidFill>
                  <a:schemeClr val="tx1"/>
                </a:solidFill>
              </a:rPr>
              <a:t>Excel-ready UTF-8 BOM CSV export</a:t>
            </a:r>
            <a:endParaRPr lang="en-US" sz="1400" dirty="0"/>
          </a:p>
        </p:txBody>
      </p:sp>
      <p:sp>
        <p:nvSpPr>
          <p:cNvPr id="30" name="Stakeholder card 4"/>
          <p:cNvSpPr/>
          <p:nvPr/>
        </p:nvSpPr>
        <p:spPr>
          <a:xfrm>
            <a:off x="9038844" y="1417320"/>
            <a:ext cx="2601468" cy="4754880"/>
          </a:xfrm>
          <a:prstGeom prst="roundRect">
            <a:avLst>
              <a:gd name="adj" fmla="val 3515"/>
            </a:avLst>
          </a:prstGeom>
          <a:solidFill>
            <a:schemeClr val="bg2"/>
          </a:solidFill>
          <a:ln/>
        </p:spPr>
      </p:sp>
      <p:sp>
        <p:nvSpPr>
          <p:cNvPr id="31" name="Motorists icon background"/>
          <p:cNvSpPr/>
          <p:nvPr/>
        </p:nvSpPr>
        <p:spPr>
          <a:xfrm>
            <a:off x="9267444" y="1645920"/>
            <a:ext cx="640080" cy="640080"/>
          </a:xfrm>
          <a:prstGeom prst="ellipse">
            <a:avLst/>
          </a:prstGeom>
          <a:solidFill>
            <a:schemeClr val="tx2"/>
          </a:solidFill>
          <a:ln/>
        </p:spPr>
      </p:sp>
      <p:pic>
        <p:nvPicPr>
          <p:cNvPr id="32" name="Image 3" descr="Motorists icon">    </p:cNvPr>
          <p:cNvPicPr>
            <a:picLocks noChangeAspect="1"/>
          </p:cNvPicPr>
          <p:nvPr/>
        </p:nvPicPr>
        <p:blipFill>
          <a:blip r:embed="rId4"/>
          <a:stretch>
            <a:fillRect/>
          </a:stretch>
        </p:blipFill>
        <p:spPr>
          <a:xfrm>
            <a:off x="9433865" y="1812341"/>
            <a:ext cx="307238" cy="307238"/>
          </a:xfrm>
          <a:prstGeom prst="rect">
            <a:avLst/>
          </a:prstGeom>
        </p:spPr>
      </p:pic>
      <p:sp>
        <p:nvSpPr>
          <p:cNvPr id="33" name="Stakeholder class 4"/>
          <p:cNvSpPr txBox="1"/>
          <p:nvPr/>
        </p:nvSpPr>
        <p:spPr>
          <a:xfrm>
            <a:off x="9267444" y="2395728"/>
            <a:ext cx="21945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PUBLIC STAKEHOLDERS</a:t>
            </a:r>
            <a:endParaRPr lang="en-US" sz="1100" dirty="0"/>
          </a:p>
        </p:txBody>
      </p:sp>
      <p:sp>
        <p:nvSpPr>
          <p:cNvPr id="34" name="Stakeholder name 4"/>
          <p:cNvSpPr txBox="1"/>
          <p:nvPr/>
        </p:nvSpPr>
        <p:spPr>
          <a:xfrm>
            <a:off x="9267444" y="2633472"/>
            <a:ext cx="219456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Motorists</a:t>
            </a:r>
            <a:endParaRPr lang="en-US" sz="1900" dirty="0"/>
          </a:p>
        </p:txBody>
      </p:sp>
      <p:sp>
        <p:nvSpPr>
          <p:cNvPr id="35" name="Stakeholder description 4"/>
          <p:cNvSpPr txBox="1"/>
          <p:nvPr/>
        </p:nvSpPr>
        <p:spPr>
          <a:xfrm>
            <a:off x="9267444" y="3017520"/>
            <a:ext cx="2194560" cy="640080"/>
          </a:xfrm>
          <a:prstGeom prst="rect">
            <a:avLst/>
          </a:prstGeom>
          <a:noFill/>
          <a:ln/>
        </p:spPr>
        <p:txBody>
          <a:bodyPr wrap="square" lIns="0" tIns="0" rIns="0" bIns="0" rtlCol="0" anchor="t"/>
          <a:lstStyle/>
          <a:p>
            <a:pPr indent="0" marL="0">
              <a:buNone/>
            </a:pPr>
            <a:r>
              <a:rPr lang="en-US" sz="1200" i="1" dirty="0">
                <a:solidFill>
                  <a:schemeClr val="accent6"/>
                </a:solidFill>
              </a:rPr>
              <a:t>Apprehended drivers, public utility drivers &amp; commercial operators</a:t>
            </a:r>
            <a:endParaRPr lang="en-US" sz="1200" dirty="0"/>
          </a:p>
        </p:txBody>
      </p:sp>
      <p:sp>
        <p:nvSpPr>
          <p:cNvPr id="36" name="Needs label 4"/>
          <p:cNvSpPr txBox="1"/>
          <p:nvPr/>
        </p:nvSpPr>
        <p:spPr>
          <a:xfrm>
            <a:off x="9267444" y="3703320"/>
            <a:ext cx="2194560" cy="201168"/>
          </a:xfrm>
          <a:prstGeom prst="rect">
            <a:avLst/>
          </a:prstGeom>
          <a:noFill/>
          <a:ln/>
        </p:spPr>
        <p:txBody>
          <a:bodyPr wrap="square" lIns="0" tIns="0" rIns="0" bIns="0" rtlCol="0" anchor="t"/>
          <a:lstStyle/>
          <a:p>
            <a:pPr indent="0" marL="0">
              <a:buNone/>
            </a:pPr>
            <a:r>
              <a:rPr lang="en-US" sz="1100" b="1" spc="100" kern="0" dirty="0">
                <a:solidFill>
                  <a:schemeClr val="tx1"/>
                </a:solidFill>
              </a:rPr>
              <a:t>CORE NEEDS</a:t>
            </a:r>
            <a:endParaRPr lang="en-US" sz="1100" dirty="0"/>
          </a:p>
        </p:txBody>
      </p:sp>
      <p:sp>
        <p:nvSpPr>
          <p:cNvPr id="37" name="Stakeholder needs 4"/>
          <p:cNvSpPr txBox="1"/>
          <p:nvPr/>
        </p:nvSpPr>
        <p:spPr>
          <a:xfrm>
            <a:off x="9267444" y="3977640"/>
            <a:ext cx="2194560" cy="2103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Stop delay under 1 minute (vs. ~10)</a:t>
            </a:r>
            <a:endParaRPr lang="en-US" sz="1400" dirty="0"/>
          </a:p>
          <a:p>
            <a:pPr marL="177800" indent="-177800">
              <a:spcAft>
                <a:spcPts val="500"/>
              </a:spcAft>
              <a:buSzPct val="100000"/>
              <a:buChar char="•"/>
            </a:pPr>
            <a:r>
              <a:rPr lang="en-US" sz="1300" dirty="0">
                <a:solidFill>
                  <a:schemeClr val="tx1"/>
                </a:solidFill>
              </a:rPr>
              <a:t>Legible, itemized thermal printout</a:t>
            </a:r>
            <a:endParaRPr lang="en-US" sz="1400" dirty="0"/>
          </a:p>
          <a:p>
            <a:pPr marL="177800" indent="-177800">
              <a:spcAft>
                <a:spcPts val="500"/>
              </a:spcAft>
              <a:buSzPct val="100000"/>
              <a:buChar char="•"/>
            </a:pPr>
            <a:r>
              <a:rPr lang="en-US" sz="1300" dirty="0">
                <a:solidFill>
                  <a:schemeClr val="tx1"/>
                </a:solidFill>
              </a:rPr>
              <a:t>Transparent fines (LTO JAO 2014-01)</a:t>
            </a:r>
            <a:endParaRPr lang="en-US" sz="1400" dirty="0"/>
          </a:p>
          <a:p>
            <a:pPr marL="177800" indent="-177800">
              <a:spcAft>
                <a:spcPts val="500"/>
              </a:spcAft>
              <a:buSzPct val="100000"/>
              <a:buChar char="•"/>
            </a:pPr>
            <a:r>
              <a:rPr lang="en-US" sz="1300" dirty="0">
                <a:solidFill>
                  <a:schemeClr val="tx1"/>
                </a:solidFill>
              </a:rPr>
              <a:t>Clear pay-or-contest instructions</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Objectives &amp; Measurable Success Metrics</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1: PROBLEM &amp; OBJECTIVES (10 PTS)</a:t>
            </a:r>
            <a:endParaRPr lang="en-US" sz="1100" dirty="0"/>
          </a:p>
        </p:txBody>
      </p:sp>
      <p:sp>
        <p:nvSpPr>
          <p:cNvPr id="4" name="Speaker chip"/>
          <p:cNvSpPr/>
          <p:nvPr/>
        </p:nvSpPr>
        <p:spPr>
          <a:xfrm>
            <a:off x="9537192" y="384048"/>
            <a:ext cx="2103120" cy="365760"/>
          </a:xfrm>
          <a:prstGeom prst="roundRect">
            <a:avLst>
              <a:gd name="adj" fmla="val 50000"/>
            </a:avLst>
          </a:prstGeom>
          <a:solidFill>
            <a:schemeClr val="tx2"/>
          </a:solidFill>
          <a:ln/>
        </p:spPr>
      </p:sp>
      <p:sp>
        <p:nvSpPr>
          <p:cNvPr id="5" name="Speaker label"/>
          <p:cNvSpPr txBox="1"/>
          <p:nvPr/>
        </p:nvSpPr>
        <p:spPr>
          <a:xfrm>
            <a:off x="9537192" y="384048"/>
            <a:ext cx="2103120" cy="365760"/>
          </a:xfrm>
          <a:prstGeom prst="rect">
            <a:avLst/>
          </a:prstGeom>
          <a:noFill/>
          <a:ln/>
        </p:spPr>
        <p:txBody>
          <a:bodyPr wrap="square" lIns="0" tIns="0" rIns="0" bIns="0" rtlCol="0" anchor="ctr"/>
          <a:lstStyle/>
          <a:p>
            <a:pPr algn="ctr" indent="0" marL="0">
              <a:buNone/>
            </a:pPr>
            <a:r>
              <a:rPr lang="en-US" sz="1200" b="1" dirty="0">
                <a:solidFill>
                  <a:schemeClr val="bg1"/>
                </a:solidFill>
              </a:rPr>
              <a:t>Angelo  |  1.5 min</a:t>
            </a:r>
            <a:endParaRPr lang="en-US" sz="1200" dirty="0"/>
          </a:p>
        </p:txBody>
      </p:sp>
      <p:sp>
        <p:nvSpPr>
          <p:cNvPr id="6" name="Target column label"/>
          <p:cNvSpPr txBox="1"/>
          <p:nvPr/>
        </p:nvSpPr>
        <p:spPr>
          <a:xfrm>
            <a:off x="4251960" y="1371600"/>
            <a:ext cx="27432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TARGET</a:t>
            </a:r>
            <a:endParaRPr lang="en-US" sz="1100" dirty="0"/>
          </a:p>
        </p:txBody>
      </p:sp>
      <p:sp>
        <p:nvSpPr>
          <p:cNvPr id="7" name="Result column label"/>
          <p:cNvSpPr txBox="1"/>
          <p:nvPr/>
        </p:nvSpPr>
        <p:spPr>
          <a:xfrm>
            <a:off x="7589520" y="1371600"/>
            <a:ext cx="27432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RESULT</a:t>
            </a:r>
            <a:endParaRPr lang="en-US" sz="1100" dirty="0"/>
          </a:p>
        </p:txBody>
      </p:sp>
      <p:sp>
        <p:nvSpPr>
          <p:cNvPr id="8" name="KPI row 1"/>
          <p:cNvSpPr/>
          <p:nvPr/>
        </p:nvSpPr>
        <p:spPr>
          <a:xfrm>
            <a:off x="548640" y="1664208"/>
            <a:ext cx="11091672" cy="822960"/>
          </a:xfrm>
          <a:prstGeom prst="roundRect">
            <a:avLst>
              <a:gd name="adj" fmla="val 11111"/>
            </a:avLst>
          </a:prstGeom>
          <a:solidFill>
            <a:schemeClr val="bg2"/>
          </a:solidFill>
          <a:ln/>
        </p:spPr>
      </p:sp>
      <p:sp>
        <p:nvSpPr>
          <p:cNvPr id="9" name="KPI value 1"/>
          <p:cNvSpPr txBox="1"/>
          <p:nvPr/>
        </p:nvSpPr>
        <p:spPr>
          <a:xfrm>
            <a:off x="777240" y="1664208"/>
            <a:ext cx="1645920" cy="82296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90%</a:t>
            </a:r>
            <a:endParaRPr lang="en-US" sz="2800" dirty="0"/>
          </a:p>
        </p:txBody>
      </p:sp>
      <p:sp>
        <p:nvSpPr>
          <p:cNvPr id="10" name="KPI name 1"/>
          <p:cNvSpPr txBox="1"/>
          <p:nvPr/>
        </p:nvSpPr>
        <p:spPr>
          <a:xfrm>
            <a:off x="2514600" y="1664208"/>
            <a:ext cx="1645920" cy="822960"/>
          </a:xfrm>
          <a:prstGeom prst="rect">
            <a:avLst/>
          </a:prstGeom>
          <a:noFill/>
          <a:ln/>
        </p:spPr>
        <p:txBody>
          <a:bodyPr wrap="square" lIns="0" tIns="0" rIns="0" bIns="0" rtlCol="0" anchor="ctr"/>
          <a:lstStyle/>
          <a:p>
            <a:pPr indent="0" marL="0">
              <a:buNone/>
            </a:pPr>
            <a:r>
              <a:rPr lang="en-US" sz="1300" b="1" dirty="0">
                <a:solidFill>
                  <a:schemeClr val="tx1"/>
                </a:solidFill>
              </a:rPr>
              <a:t>Faster issuance</a:t>
            </a:r>
            <a:endParaRPr lang="en-US" sz="1300" dirty="0"/>
          </a:p>
        </p:txBody>
      </p:sp>
      <p:sp>
        <p:nvSpPr>
          <p:cNvPr id="11" name="KPI target 1"/>
          <p:cNvSpPr txBox="1"/>
          <p:nvPr/>
        </p:nvSpPr>
        <p:spPr>
          <a:xfrm>
            <a:off x="4251960" y="1664208"/>
            <a:ext cx="3154680" cy="822960"/>
          </a:xfrm>
          <a:prstGeom prst="rect">
            <a:avLst/>
          </a:prstGeom>
          <a:noFill/>
          <a:ln/>
        </p:spPr>
        <p:txBody>
          <a:bodyPr wrap="square" lIns="0" tIns="0" rIns="0" bIns="0" rtlCol="0" anchor="ctr"/>
          <a:lstStyle/>
          <a:p>
            <a:pPr indent="0" marL="0">
              <a:buNone/>
            </a:pPr>
            <a:r>
              <a:rPr lang="en-US" sz="1300" dirty="0">
                <a:solidFill>
                  <a:schemeClr val="tx1"/>
                </a:solidFill>
              </a:rPr>
              <a:t>Cut roadside processing from 8-12 minutes to under 60 seconds</a:t>
            </a:r>
            <a:endParaRPr lang="en-US" sz="1300" dirty="0"/>
          </a:p>
        </p:txBody>
      </p:sp>
      <p:sp>
        <p:nvSpPr>
          <p:cNvPr id="12" name="KPI result 1"/>
          <p:cNvSpPr txBox="1"/>
          <p:nvPr/>
        </p:nvSpPr>
        <p:spPr>
          <a:xfrm>
            <a:off x="7589520" y="1664208"/>
            <a:ext cx="3886200" cy="822960"/>
          </a:xfrm>
          <a:prstGeom prst="rect">
            <a:avLst/>
          </a:prstGeom>
          <a:noFill/>
          <a:ln/>
        </p:spPr>
        <p:txBody>
          <a:bodyPr wrap="square" lIns="0" tIns="0" rIns="0" bIns="0" rtlCol="0" anchor="ctr"/>
          <a:lstStyle/>
          <a:p>
            <a:pPr indent="0" marL="0">
              <a:buNone/>
            </a:pPr>
            <a:r>
              <a:rPr lang="en-US" sz="1300" dirty="0">
                <a:solidFill>
                  <a:schemeClr val="tx1"/>
                </a:solidFill>
              </a:rPr>
              <a:t>Single-screen auto-fill and instant totaling: issuance plus thermal receipt in under 45 seconds</a:t>
            </a:r>
            <a:endParaRPr lang="en-US" sz="1300" dirty="0"/>
          </a:p>
        </p:txBody>
      </p:sp>
      <p:sp>
        <p:nvSpPr>
          <p:cNvPr id="13" name="KPI row 2"/>
          <p:cNvSpPr/>
          <p:nvPr/>
        </p:nvSpPr>
        <p:spPr>
          <a:xfrm>
            <a:off x="548640" y="2569464"/>
            <a:ext cx="11091672" cy="822960"/>
          </a:xfrm>
          <a:prstGeom prst="roundRect">
            <a:avLst>
              <a:gd name="adj" fmla="val 11111"/>
            </a:avLst>
          </a:prstGeom>
          <a:solidFill>
            <a:schemeClr val="bg2"/>
          </a:solidFill>
          <a:ln/>
        </p:spPr>
      </p:sp>
      <p:sp>
        <p:nvSpPr>
          <p:cNvPr id="14" name="KPI value 2"/>
          <p:cNvSpPr txBox="1"/>
          <p:nvPr/>
        </p:nvSpPr>
        <p:spPr>
          <a:xfrm>
            <a:off x="777240" y="2569464"/>
            <a:ext cx="1645920" cy="82296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&lt;500 ms</a:t>
            </a:r>
            <a:endParaRPr lang="en-US" sz="2800" dirty="0"/>
          </a:p>
        </p:txBody>
      </p:sp>
      <p:sp>
        <p:nvSpPr>
          <p:cNvPr id="15" name="KPI name 2"/>
          <p:cNvSpPr txBox="1"/>
          <p:nvPr/>
        </p:nvSpPr>
        <p:spPr>
          <a:xfrm>
            <a:off x="2514600" y="2569464"/>
            <a:ext cx="1645920" cy="822960"/>
          </a:xfrm>
          <a:prstGeom prst="rect">
            <a:avLst/>
          </a:prstGeom>
          <a:noFill/>
          <a:ln/>
        </p:spPr>
        <p:txBody>
          <a:bodyPr wrap="square" lIns="0" tIns="0" rIns="0" bIns="0" rtlCol="0" anchor="ctr"/>
          <a:lstStyle/>
          <a:p>
            <a:pPr indent="0" marL="0">
              <a:buNone/>
            </a:pPr>
            <a:r>
              <a:rPr lang="en-US" sz="1300" b="1" dirty="0">
                <a:solidFill>
                  <a:schemeClr val="tx1"/>
                </a:solidFill>
              </a:rPr>
              <a:t>Sub-second screening</a:t>
            </a:r>
            <a:endParaRPr lang="en-US" sz="1300" dirty="0"/>
          </a:p>
        </p:txBody>
      </p:sp>
      <p:sp>
        <p:nvSpPr>
          <p:cNvPr id="16" name="KPI target 2"/>
          <p:cNvSpPr txBox="1"/>
          <p:nvPr/>
        </p:nvSpPr>
        <p:spPr>
          <a:xfrm>
            <a:off x="4251960" y="2569464"/>
            <a:ext cx="3154680" cy="822960"/>
          </a:xfrm>
          <a:prstGeom prst="rect">
            <a:avLst/>
          </a:prstGeom>
          <a:noFill/>
          <a:ln/>
        </p:spPr>
        <p:txBody>
          <a:bodyPr wrap="square" lIns="0" tIns="0" rIns="0" bIns="0" rtlCol="0" anchor="ctr"/>
          <a:lstStyle/>
          <a:p>
            <a:pPr indent="0" marL="0">
              <a:buNone/>
            </a:pPr>
            <a:r>
              <a:rPr lang="en-US" sz="1300" dirty="0">
                <a:solidFill>
                  <a:schemeClr val="tx1"/>
                </a:solidFill>
              </a:rPr>
              <a:t>Real-time cross-check against watchlists in under 500 ms</a:t>
            </a:r>
            <a:endParaRPr lang="en-US" sz="1300" dirty="0"/>
          </a:p>
        </p:txBody>
      </p:sp>
      <p:sp>
        <p:nvSpPr>
          <p:cNvPr id="17" name="KPI result 2"/>
          <p:cNvSpPr txBox="1"/>
          <p:nvPr/>
        </p:nvSpPr>
        <p:spPr>
          <a:xfrm>
            <a:off x="7589520" y="2569464"/>
            <a:ext cx="3886200" cy="822960"/>
          </a:xfrm>
          <a:prstGeom prst="rect">
            <a:avLst/>
          </a:prstGeom>
          <a:noFill/>
          <a:ln/>
        </p:spPr>
        <p:txBody>
          <a:bodyPr wrap="square" lIns="0" tIns="0" rIns="0" bIns="0" rtlCol="0" anchor="ctr"/>
          <a:lstStyle/>
          <a:p>
            <a:pPr indent="0" marL="0">
              <a:buNone/>
            </a:pPr>
            <a:r>
              <a:rPr lang="en-US" sz="1300" dirty="0">
                <a:solidFill>
                  <a:schemeClr val="tx1"/>
                </a:solidFill>
              </a:rPr>
              <a:t>Sub-millisecond checks of plates, licenses and warrants with Clear / Warning / Alarm badges</a:t>
            </a:r>
            <a:endParaRPr lang="en-US" sz="1300" dirty="0"/>
          </a:p>
        </p:txBody>
      </p:sp>
      <p:sp>
        <p:nvSpPr>
          <p:cNvPr id="18" name="KPI row 3"/>
          <p:cNvSpPr/>
          <p:nvPr/>
        </p:nvSpPr>
        <p:spPr>
          <a:xfrm>
            <a:off x="548640" y="3474720"/>
            <a:ext cx="11091672" cy="822960"/>
          </a:xfrm>
          <a:prstGeom prst="roundRect">
            <a:avLst>
              <a:gd name="adj" fmla="val 11111"/>
            </a:avLst>
          </a:prstGeom>
          <a:solidFill>
            <a:schemeClr val="bg2"/>
          </a:solidFill>
          <a:ln/>
        </p:spPr>
      </p:sp>
      <p:sp>
        <p:nvSpPr>
          <p:cNvPr id="19" name="KPI value 3"/>
          <p:cNvSpPr txBox="1"/>
          <p:nvPr/>
        </p:nvSpPr>
        <p:spPr>
          <a:xfrm>
            <a:off x="777240" y="3474720"/>
            <a:ext cx="1645920" cy="82296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0</a:t>
            </a:r>
            <a:endParaRPr lang="en-US" sz="2800" dirty="0"/>
          </a:p>
        </p:txBody>
      </p:sp>
      <p:sp>
        <p:nvSpPr>
          <p:cNvPr id="20" name="KPI name 3"/>
          <p:cNvSpPr txBox="1"/>
          <p:nvPr/>
        </p:nvSpPr>
        <p:spPr>
          <a:xfrm>
            <a:off x="2514600" y="3474720"/>
            <a:ext cx="1645920" cy="822960"/>
          </a:xfrm>
          <a:prstGeom prst="rect">
            <a:avLst/>
          </a:prstGeom>
          <a:noFill/>
          <a:ln/>
        </p:spPr>
        <p:txBody>
          <a:bodyPr wrap="square" lIns="0" tIns="0" rIns="0" bIns="0" rtlCol="0" anchor="ctr"/>
          <a:lstStyle/>
          <a:p>
            <a:pPr indent="0" marL="0">
              <a:buNone/>
            </a:pPr>
            <a:r>
              <a:rPr lang="en-US" sz="1300" b="1" dirty="0">
                <a:solidFill>
                  <a:schemeClr val="tx1"/>
                </a:solidFill>
              </a:rPr>
              <a:t>Fine discrepancies</a:t>
            </a:r>
            <a:endParaRPr lang="en-US" sz="1300" dirty="0"/>
          </a:p>
        </p:txBody>
      </p:sp>
      <p:sp>
        <p:nvSpPr>
          <p:cNvPr id="21" name="KPI target 3"/>
          <p:cNvSpPr txBox="1"/>
          <p:nvPr/>
        </p:nvSpPr>
        <p:spPr>
          <a:xfrm>
            <a:off x="4251960" y="3474720"/>
            <a:ext cx="3154680" cy="822960"/>
          </a:xfrm>
          <a:prstGeom prst="rect">
            <a:avLst/>
          </a:prstGeom>
          <a:noFill/>
          <a:ln/>
        </p:spPr>
        <p:txBody>
          <a:bodyPr wrap="square" lIns="0" tIns="0" rIns="0" bIns="0" rtlCol="0" anchor="ctr"/>
          <a:lstStyle/>
          <a:p>
            <a:pPr indent="0" marL="0">
              <a:buNone/>
            </a:pPr>
            <a:r>
              <a:rPr lang="en-US" sz="1300" dirty="0">
                <a:solidFill>
                  <a:schemeClr val="tx1"/>
                </a:solidFill>
              </a:rPr>
              <a:t>100% adherence to LTO JAO 2014-01 penalty schedules</a:t>
            </a:r>
            <a:endParaRPr lang="en-US" sz="1300" dirty="0"/>
          </a:p>
        </p:txBody>
      </p:sp>
      <p:sp>
        <p:nvSpPr>
          <p:cNvPr id="22" name="KPI result 3"/>
          <p:cNvSpPr txBox="1"/>
          <p:nvPr/>
        </p:nvSpPr>
        <p:spPr>
          <a:xfrm>
            <a:off x="7589520" y="3474720"/>
            <a:ext cx="3886200" cy="822960"/>
          </a:xfrm>
          <a:prstGeom prst="rect">
            <a:avLst/>
          </a:prstGeom>
          <a:noFill/>
          <a:ln/>
        </p:spPr>
        <p:txBody>
          <a:bodyPr wrap="square" lIns="0" tIns="0" rIns="0" bIns="0" rtlCol="0" anchor="ctr"/>
          <a:lstStyle/>
          <a:p>
            <a:pPr indent="0" marL="0">
              <a:buNone/>
            </a:pPr>
            <a:r>
              <a:rPr lang="en-US" sz="1300" dirty="0">
                <a:solidFill>
                  <a:schemeClr val="tx1"/>
                </a:solidFill>
              </a:rPr>
              <a:t>Central offense schedule totals multiple violations; manual overrides are logged</a:t>
            </a:r>
            <a:endParaRPr lang="en-US" sz="1300" dirty="0"/>
          </a:p>
        </p:txBody>
      </p:sp>
      <p:sp>
        <p:nvSpPr>
          <p:cNvPr id="23" name="KPI row 4"/>
          <p:cNvSpPr/>
          <p:nvPr/>
        </p:nvSpPr>
        <p:spPr>
          <a:xfrm>
            <a:off x="548640" y="4379976"/>
            <a:ext cx="11091672" cy="822960"/>
          </a:xfrm>
          <a:prstGeom prst="roundRect">
            <a:avLst>
              <a:gd name="adj" fmla="val 11111"/>
            </a:avLst>
          </a:prstGeom>
          <a:solidFill>
            <a:schemeClr val="bg2"/>
          </a:solidFill>
          <a:ln/>
        </p:spPr>
      </p:sp>
      <p:sp>
        <p:nvSpPr>
          <p:cNvPr id="24" name="KPI value 4"/>
          <p:cNvSpPr txBox="1"/>
          <p:nvPr/>
        </p:nvSpPr>
        <p:spPr>
          <a:xfrm>
            <a:off x="777240" y="4379976"/>
            <a:ext cx="1645920" cy="82296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100%</a:t>
            </a:r>
            <a:endParaRPr lang="en-US" sz="2800" dirty="0"/>
          </a:p>
        </p:txBody>
      </p:sp>
      <p:sp>
        <p:nvSpPr>
          <p:cNvPr id="25" name="KPI name 4"/>
          <p:cNvSpPr txBox="1"/>
          <p:nvPr/>
        </p:nvSpPr>
        <p:spPr>
          <a:xfrm>
            <a:off x="2514600" y="4379976"/>
            <a:ext cx="1645920" cy="822960"/>
          </a:xfrm>
          <a:prstGeom prst="rect">
            <a:avLst/>
          </a:prstGeom>
          <a:noFill/>
          <a:ln/>
        </p:spPr>
        <p:txBody>
          <a:bodyPr wrap="square" lIns="0" tIns="0" rIns="0" bIns="0" rtlCol="0" anchor="ctr"/>
          <a:lstStyle/>
          <a:p>
            <a:pPr indent="0" marL="0">
              <a:buNone/>
            </a:pPr>
            <a:r>
              <a:rPr lang="en-US" sz="1300" b="1" dirty="0">
                <a:solidFill>
                  <a:schemeClr val="tx1"/>
                </a:solidFill>
              </a:rPr>
              <a:t>Offline-resilient</a:t>
            </a:r>
            <a:endParaRPr lang="en-US" sz="1300" dirty="0"/>
          </a:p>
        </p:txBody>
      </p:sp>
      <p:sp>
        <p:nvSpPr>
          <p:cNvPr id="26" name="KPI target 4"/>
          <p:cNvSpPr txBox="1"/>
          <p:nvPr/>
        </p:nvSpPr>
        <p:spPr>
          <a:xfrm>
            <a:off x="4251960" y="4379976"/>
            <a:ext cx="3154680" cy="822960"/>
          </a:xfrm>
          <a:prstGeom prst="rect">
            <a:avLst/>
          </a:prstGeom>
          <a:noFill/>
          <a:ln/>
        </p:spPr>
        <p:txBody>
          <a:bodyPr wrap="square" lIns="0" tIns="0" rIns="0" bIns="0" rtlCol="0" anchor="ctr"/>
          <a:lstStyle/>
          <a:p>
            <a:pPr indent="0" marL="0">
              <a:buNone/>
            </a:pPr>
            <a:r>
              <a:rPr lang="en-US" sz="1300" dirty="0">
                <a:solidFill>
                  <a:schemeClr val="tx1"/>
                </a:solidFill>
              </a:rPr>
              <a:t>Full uptime at checkpoints with intermittent cellular coverage</a:t>
            </a:r>
            <a:endParaRPr lang="en-US" sz="1300" dirty="0"/>
          </a:p>
        </p:txBody>
      </p:sp>
      <p:sp>
        <p:nvSpPr>
          <p:cNvPr id="27" name="KPI result 4"/>
          <p:cNvSpPr txBox="1"/>
          <p:nvPr/>
        </p:nvSpPr>
        <p:spPr>
          <a:xfrm>
            <a:off x="7589520" y="4379976"/>
            <a:ext cx="3886200" cy="822960"/>
          </a:xfrm>
          <a:prstGeom prst="rect">
            <a:avLst/>
          </a:prstGeom>
          <a:noFill/>
          <a:ln/>
        </p:spPr>
        <p:txBody>
          <a:bodyPr wrap="square" lIns="0" tIns="0" rIns="0" bIns="0" rtlCol="0" anchor="ctr"/>
          <a:lstStyle/>
          <a:p>
            <a:pPr indent="0" marL="0">
              <a:buNone/>
            </a:pPr>
            <a:r>
              <a:rPr lang="en-US" sz="1300" dirty="0">
                <a:solidFill>
                  <a:schemeClr val="tx1"/>
                </a:solidFill>
              </a:rPr>
              <a:t>Embedded SQLite edge design: zero data loss and local reads/writes during blackouts</a:t>
            </a:r>
            <a:endParaRPr lang="en-US" sz="1300" dirty="0"/>
          </a:p>
        </p:txBody>
      </p:sp>
      <p:sp>
        <p:nvSpPr>
          <p:cNvPr id="28" name="KPI row 5"/>
          <p:cNvSpPr/>
          <p:nvPr/>
        </p:nvSpPr>
        <p:spPr>
          <a:xfrm>
            <a:off x="548640" y="5285232"/>
            <a:ext cx="11091672" cy="822960"/>
          </a:xfrm>
          <a:prstGeom prst="roundRect">
            <a:avLst>
              <a:gd name="adj" fmla="val 11111"/>
            </a:avLst>
          </a:prstGeom>
          <a:solidFill>
            <a:schemeClr val="bg2"/>
          </a:solidFill>
          <a:ln/>
        </p:spPr>
      </p:sp>
      <p:sp>
        <p:nvSpPr>
          <p:cNvPr id="29" name="KPI value 5"/>
          <p:cNvSpPr txBox="1"/>
          <p:nvPr/>
        </p:nvSpPr>
        <p:spPr>
          <a:xfrm>
            <a:off x="777240" y="5285232"/>
            <a:ext cx="1645920" cy="82296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100%</a:t>
            </a:r>
            <a:endParaRPr lang="en-US" sz="2800" dirty="0"/>
          </a:p>
        </p:txBody>
      </p:sp>
      <p:sp>
        <p:nvSpPr>
          <p:cNvPr id="30" name="KPI name 5"/>
          <p:cNvSpPr txBox="1"/>
          <p:nvPr/>
        </p:nvSpPr>
        <p:spPr>
          <a:xfrm>
            <a:off x="2514600" y="5285232"/>
            <a:ext cx="1645920" cy="822960"/>
          </a:xfrm>
          <a:prstGeom prst="rect">
            <a:avLst/>
          </a:prstGeom>
          <a:noFill/>
          <a:ln/>
        </p:spPr>
        <p:txBody>
          <a:bodyPr wrap="square" lIns="0" tIns="0" rIns="0" bIns="0" rtlCol="0" anchor="ctr"/>
          <a:lstStyle/>
          <a:p>
            <a:pPr indent="0" marL="0">
              <a:buNone/>
            </a:pPr>
            <a:r>
              <a:rPr lang="en-US" sz="1300" b="1" dirty="0">
                <a:solidFill>
                  <a:schemeClr val="tx1"/>
                </a:solidFill>
              </a:rPr>
              <a:t>Audit &amp; reconciliation</a:t>
            </a:r>
            <a:endParaRPr lang="en-US" sz="1300" dirty="0"/>
          </a:p>
        </p:txBody>
      </p:sp>
      <p:sp>
        <p:nvSpPr>
          <p:cNvPr id="31" name="KPI target 5"/>
          <p:cNvSpPr txBox="1"/>
          <p:nvPr/>
        </p:nvSpPr>
        <p:spPr>
          <a:xfrm>
            <a:off x="4251960" y="5285232"/>
            <a:ext cx="3154680" cy="822960"/>
          </a:xfrm>
          <a:prstGeom prst="rect">
            <a:avLst/>
          </a:prstGeom>
          <a:noFill/>
          <a:ln/>
        </p:spPr>
        <p:txBody>
          <a:bodyPr wrap="square" lIns="0" tIns="0" rIns="0" bIns="0" rtlCol="0" anchor="ctr"/>
          <a:lstStyle/>
          <a:p>
            <a:pPr indent="0" marL="0">
              <a:buNone/>
            </a:pPr>
            <a:r>
              <a:rPr lang="en-US" sz="1300" dirty="0">
                <a:solidFill>
                  <a:schemeClr val="tx1"/>
                </a:solidFill>
              </a:rPr>
              <a:t>Zero-gap traceability between citations and treasury receipts</a:t>
            </a:r>
            <a:endParaRPr lang="en-US" sz="1300" dirty="0"/>
          </a:p>
        </p:txBody>
      </p:sp>
      <p:sp>
        <p:nvSpPr>
          <p:cNvPr id="32" name="KPI result 5"/>
          <p:cNvSpPr txBox="1"/>
          <p:nvPr/>
        </p:nvSpPr>
        <p:spPr>
          <a:xfrm>
            <a:off x="7589520" y="5285232"/>
            <a:ext cx="3886200" cy="822960"/>
          </a:xfrm>
          <a:prstGeom prst="rect">
            <a:avLst/>
          </a:prstGeom>
          <a:noFill/>
          <a:ln/>
        </p:spPr>
        <p:txBody>
          <a:bodyPr wrap="square" lIns="0" tIns="0" rIns="0" bIns="0" rtlCol="0" anchor="ctr"/>
          <a:lstStyle/>
          <a:p>
            <a:pPr indent="0" marL="0">
              <a:buNone/>
            </a:pPr>
            <a:r>
              <a:rPr lang="en-US" sz="1300" dirty="0">
                <a:solidFill>
                  <a:schemeClr val="tx1"/>
                </a:solidFill>
              </a:rPr>
              <a:t>Live PATCH /api/violations/:id/status, 1-click UTF-8 BOM CSV, 14-test suite (all passing)</a:t>
            </a:r>
            <a:endParaRPr lang="en-US" sz="13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System Scope: Vision vs. Prototype</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2: REQUIREMENTS &amp; SCOPE (10 PTS)</a:t>
            </a:r>
            <a:endParaRPr lang="en-US" sz="1100" dirty="0"/>
          </a:p>
        </p:txBody>
      </p:sp>
      <p:sp>
        <p:nvSpPr>
          <p:cNvPr id="4" name="Speaker chip"/>
          <p:cNvSpPr/>
          <p:nvPr/>
        </p:nvSpPr>
        <p:spPr>
          <a:xfrm>
            <a:off x="9537192" y="384048"/>
            <a:ext cx="2103120" cy="365760"/>
          </a:xfrm>
          <a:prstGeom prst="roundRect">
            <a:avLst>
              <a:gd name="adj" fmla="val 50000"/>
            </a:avLst>
          </a:prstGeom>
          <a:solidFill>
            <a:schemeClr val="tx2"/>
          </a:solidFill>
          <a:ln/>
        </p:spPr>
      </p:sp>
      <p:sp>
        <p:nvSpPr>
          <p:cNvPr id="5" name="Speaker label"/>
          <p:cNvSpPr txBox="1"/>
          <p:nvPr/>
        </p:nvSpPr>
        <p:spPr>
          <a:xfrm>
            <a:off x="9537192" y="384048"/>
            <a:ext cx="2103120" cy="365760"/>
          </a:xfrm>
          <a:prstGeom prst="rect">
            <a:avLst/>
          </a:prstGeom>
          <a:noFill/>
          <a:ln/>
        </p:spPr>
        <p:txBody>
          <a:bodyPr wrap="square" lIns="0" tIns="0" rIns="0" bIns="0" rtlCol="0" anchor="ctr"/>
          <a:lstStyle/>
          <a:p>
            <a:pPr algn="ctr" indent="0" marL="0">
              <a:buNone/>
            </a:pPr>
            <a:r>
              <a:rPr lang="en-US" sz="1200" b="1" dirty="0">
                <a:solidFill>
                  <a:schemeClr val="bg1"/>
                </a:solidFill>
              </a:rPr>
              <a:t>Angelo  |  1.5 min</a:t>
            </a:r>
            <a:endParaRPr lang="en-US" sz="1200" dirty="0"/>
          </a:p>
        </p:txBody>
      </p:sp>
      <p:sp>
        <p:nvSpPr>
          <p:cNvPr id="6" name="Vision card"/>
          <p:cNvSpPr/>
          <p:nvPr/>
        </p:nvSpPr>
        <p:spPr>
          <a:xfrm>
            <a:off x="548640" y="1417320"/>
            <a:ext cx="5440680" cy="3931920"/>
          </a:xfrm>
          <a:prstGeom prst="roundRect">
            <a:avLst>
              <a:gd name="adj" fmla="val 2326"/>
            </a:avLst>
          </a:prstGeom>
          <a:solidFill>
            <a:schemeClr val="bg2"/>
          </a:solidFill>
          <a:ln/>
        </p:spPr>
      </p:sp>
      <p:sp>
        <p:nvSpPr>
          <p:cNvPr id="7" name="Vision label"/>
          <p:cNvSpPr txBox="1"/>
          <p:nvPr/>
        </p:nvSpPr>
        <p:spPr>
          <a:xfrm>
            <a:off x="822960" y="1627632"/>
            <a:ext cx="493776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TARGET PRODUCTION ARCHITECTURE</a:t>
            </a:r>
            <a:endParaRPr lang="en-US" sz="1200" dirty="0"/>
          </a:p>
        </p:txBody>
      </p:sp>
      <p:sp>
        <p:nvSpPr>
          <p:cNvPr id="8" name="Vision title"/>
          <p:cNvSpPr txBox="1"/>
          <p:nvPr/>
        </p:nvSpPr>
        <p:spPr>
          <a:xfrm>
            <a:off x="822960" y="1901952"/>
            <a:ext cx="4937760" cy="41148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The vision: multi-station cloud</a:t>
            </a:r>
            <a:endParaRPr lang="en-US" sz="2100" dirty="0"/>
          </a:p>
        </p:txBody>
      </p:sp>
      <p:sp>
        <p:nvSpPr>
          <p:cNvPr id="9" name="Vision details"/>
          <p:cNvSpPr txBox="1"/>
          <p:nvPr/>
        </p:nvSpPr>
        <p:spPr>
          <a:xfrm>
            <a:off x="822960" y="2423160"/>
            <a:ext cx="4937760" cy="2834640"/>
          </a:xfrm>
          <a:prstGeom prst="rect">
            <a:avLst/>
          </a:prstGeom>
          <a:noFill/>
          <a:ln/>
        </p:spPr>
        <p:txBody>
          <a:bodyPr wrap="square" lIns="0" tIns="0" rIns="0" bIns="0" rtlCol="0" anchor="t"/>
          <a:lstStyle/>
          <a:p>
            <a:pPr marL="177800" indent="-177800">
              <a:spcAft>
                <a:spcPts val="900"/>
              </a:spcAft>
              <a:buSzPct val="100000"/>
              <a:buChar char="•"/>
            </a:pPr>
            <a:r>
              <a:rPr lang="en-US" sz="1500" b="1" dirty="0">
                <a:solidFill>
                  <a:schemeClr val="tx1"/>
                </a:solidFill>
              </a:rPr>
              <a:t>Cloud network: </a:t>
            </a:r>
            <a:pPr indent="0" marL="0">
              <a:buNone/>
            </a:pPr>
            <a:r>
              <a:rPr lang="en-US" sz="1500" dirty="0">
                <a:solidFill>
                  <a:schemeClr val="tx1"/>
                </a:solidFill>
              </a:rPr>
              <a:t>one API linking stations, regional HQs and mobile patrols</a:t>
            </a:r>
            <a:endParaRPr lang="en-US" sz="1400" dirty="0"/>
          </a:p>
          <a:p>
            <a:pPr marL="177800" indent="-177800">
              <a:spcAft>
                <a:spcPts val="900"/>
              </a:spcAft>
              <a:buSzPct val="100000"/>
              <a:buChar char="•"/>
            </a:pPr>
            <a:r>
              <a:rPr lang="en-US" sz="1500" b="1" dirty="0">
                <a:solidFill>
                  <a:schemeClr val="tx1"/>
                </a:solidFill>
              </a:rPr>
              <a:t>PostgreSQL cluster: </a:t>
            </a:r>
            <a:pPr indent="0" marL="0">
              <a:buNone/>
            </a:pPr>
            <a:r>
              <a:rPr lang="en-US" sz="1500" dirty="0">
                <a:solidFill>
                  <a:schemeClr val="tx1"/>
                </a:solidFill>
              </a:rPr>
              <a:t>high availability, pooling, read replicas, SSL replication</a:t>
            </a:r>
            <a:endParaRPr lang="en-US" sz="1400" dirty="0"/>
          </a:p>
          <a:p>
            <a:pPr marL="177800" indent="-177800">
              <a:spcAft>
                <a:spcPts val="900"/>
              </a:spcAft>
              <a:buSzPct val="100000"/>
              <a:buChar char="•"/>
            </a:pPr>
            <a:r>
              <a:rPr lang="en-US" sz="1500" b="1" dirty="0">
                <a:solidFill>
                  <a:schemeClr val="tx1"/>
                </a:solidFill>
              </a:rPr>
              <a:t>WebSockets / SSE: </a:t>
            </a:r>
            <a:pPr indent="0" marL="0">
              <a:buNone/>
            </a:pPr>
            <a:r>
              <a:rPr lang="en-US" sz="1500" dirty="0">
                <a:solidFill>
                  <a:schemeClr val="tx1"/>
                </a:solidFill>
              </a:rPr>
              <a:t>live push of new stolen-vehicle and warrant flags</a:t>
            </a:r>
            <a:endParaRPr lang="en-US" sz="1400" dirty="0"/>
          </a:p>
          <a:p>
            <a:pPr marL="177800" indent="-177800">
              <a:spcAft>
                <a:spcPts val="900"/>
              </a:spcAft>
              <a:buSzPct val="100000"/>
              <a:buChar char="•"/>
            </a:pPr>
            <a:r>
              <a:rPr lang="en-US" sz="1500" b="1" dirty="0">
                <a:solidFill>
                  <a:schemeClr val="tx1"/>
                </a:solidFill>
              </a:rPr>
              <a:t>Government gateways: </a:t>
            </a:r>
            <a:pPr indent="0" marL="0">
              <a:buNone/>
            </a:pPr>
            <a:r>
              <a:rPr lang="en-US" sz="1500" dirty="0">
                <a:solidFill>
                  <a:schemeClr val="tx1"/>
                </a:solidFill>
              </a:rPr>
              <a:t>LTO LTMS, HPG Command, Landbank Link.BizPortal / GCash</a:t>
            </a:r>
            <a:endParaRPr lang="en-US" sz="1400" dirty="0"/>
          </a:p>
          <a:p>
            <a:pPr marL="177800" indent="-177800">
              <a:spcAft>
                <a:spcPts val="900"/>
              </a:spcAft>
              <a:buSzPct val="100000"/>
              <a:buChar char="•"/>
            </a:pPr>
            <a:r>
              <a:rPr lang="en-US" sz="1500" b="1" dirty="0">
                <a:solidFill>
                  <a:schemeClr val="tx1"/>
                </a:solidFill>
              </a:rPr>
              <a:t>Mobile patrol PWA: </a:t>
            </a:r>
            <a:pPr indent="0" marL="0">
              <a:buNone/>
            </a:pPr>
            <a:r>
              <a:rPr lang="en-US" sz="1500" dirty="0">
                <a:solidFill>
                  <a:schemeClr val="tx1"/>
                </a:solidFill>
              </a:rPr>
              <a:t>offline-first on rugged Android tablets</a:t>
            </a:r>
            <a:endParaRPr lang="en-US" sz="1400" dirty="0"/>
          </a:p>
        </p:txBody>
      </p:sp>
      <p:sp>
        <p:nvSpPr>
          <p:cNvPr id="10" name="Prototype card"/>
          <p:cNvSpPr/>
          <p:nvPr/>
        </p:nvSpPr>
        <p:spPr>
          <a:xfrm>
            <a:off x="6199632" y="1417320"/>
            <a:ext cx="5440680" cy="3931920"/>
          </a:xfrm>
          <a:prstGeom prst="roundRect">
            <a:avLst>
              <a:gd name="adj" fmla="val 2326"/>
            </a:avLst>
          </a:prstGeom>
          <a:solidFill>
            <a:schemeClr val="tx2"/>
          </a:solidFill>
          <a:ln/>
        </p:spPr>
      </p:sp>
      <p:sp>
        <p:nvSpPr>
          <p:cNvPr id="11" name="Prototype label"/>
          <p:cNvSpPr txBox="1"/>
          <p:nvPr/>
        </p:nvSpPr>
        <p:spPr>
          <a:xfrm>
            <a:off x="6473952" y="1627632"/>
            <a:ext cx="49377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DEMONSTRATION PROTOTYPE v2.0-PRO (CURRENT)</a:t>
            </a:r>
            <a:endParaRPr lang="en-US" sz="1200" dirty="0"/>
          </a:p>
        </p:txBody>
      </p:sp>
      <p:sp>
        <p:nvSpPr>
          <p:cNvPr id="12" name="Prototype title"/>
          <p:cNvSpPr txBox="1"/>
          <p:nvPr/>
        </p:nvSpPr>
        <p:spPr>
          <a:xfrm>
            <a:off x="6473952" y="1901952"/>
            <a:ext cx="4937760" cy="411480"/>
          </a:xfrm>
          <a:prstGeom prst="rect">
            <a:avLst/>
          </a:prstGeom>
          <a:noFill/>
          <a:ln/>
        </p:spPr>
        <p:txBody>
          <a:bodyPr wrap="square" lIns="0" tIns="0" rIns="0" bIns="0" rtlCol="0" anchor="t"/>
          <a:lstStyle/>
          <a:p>
            <a:pPr indent="0" marL="0">
              <a:buNone/>
            </a:pPr>
            <a:r>
              <a:rPr lang="en-US" sz="2100" b="1" dirty="0">
                <a:solidFill>
                  <a:schemeClr val="bg1"/>
                </a:solidFill>
                <a:latin typeface="+mj-lt" pitchFamily="34" charset="0"/>
                <a:ea typeface="+mj-lt" pitchFamily="34" charset="-122"/>
                <a:cs typeface="+mj-lt" pitchFamily="34" charset="-120"/>
              </a:rPr>
              <a:t>What we built: a self-contained edge app</a:t>
            </a:r>
            <a:endParaRPr lang="en-US" sz="2100" dirty="0"/>
          </a:p>
        </p:txBody>
      </p:sp>
      <p:sp>
        <p:nvSpPr>
          <p:cNvPr id="13" name="Prototype details"/>
          <p:cNvSpPr txBox="1"/>
          <p:nvPr/>
        </p:nvSpPr>
        <p:spPr>
          <a:xfrm>
            <a:off x="6473952" y="2423160"/>
            <a:ext cx="4937760" cy="2834640"/>
          </a:xfrm>
          <a:prstGeom prst="rect">
            <a:avLst/>
          </a:prstGeom>
          <a:noFill/>
          <a:ln/>
        </p:spPr>
        <p:txBody>
          <a:bodyPr wrap="square" lIns="0" tIns="0" rIns="0" bIns="0" rtlCol="0" anchor="t"/>
          <a:lstStyle/>
          <a:p>
            <a:pPr marL="177800" indent="-177800">
              <a:spcAft>
                <a:spcPts val="900"/>
              </a:spcAft>
              <a:buSzPct val="100000"/>
              <a:buChar char="•"/>
            </a:pPr>
            <a:r>
              <a:rPr lang="en-US" sz="1500" b="1" dirty="0">
                <a:solidFill>
                  <a:schemeClr val="bg1"/>
                </a:solidFill>
              </a:rPr>
              <a:t>Edge web server: </a:t>
            </a:r>
            <a:pPr indent="0" marL="0">
              <a:buNone/>
            </a:pPr>
            <a:r>
              <a:rPr lang="en-US" sz="1500" dirty="0">
                <a:solidFill>
                  <a:schemeClr val="bg1"/>
                </a:solidFill>
              </a:rPr>
              <a:t>Node.js + Express REST API at the checkpoint station</a:t>
            </a:r>
            <a:endParaRPr lang="en-US" sz="1400" dirty="0"/>
          </a:p>
          <a:p>
            <a:pPr marL="177800" indent="-177800">
              <a:spcAft>
                <a:spcPts val="900"/>
              </a:spcAft>
              <a:buSzPct val="100000"/>
              <a:buChar char="•"/>
            </a:pPr>
            <a:r>
              <a:rPr lang="en-US" sz="1500" b="1" dirty="0">
                <a:solidFill>
                  <a:schemeClr val="bg1"/>
                </a:solidFill>
              </a:rPr>
              <a:t>Embedded SQLite3: </a:t>
            </a:r>
            <a:pPr indent="0" marL="0">
              <a:buNone/>
            </a:pPr>
            <a:r>
              <a:rPr lang="en-US" sz="1500" dirty="0">
                <a:solidFill>
                  <a:schemeClr val="bg1"/>
                </a:solidFill>
              </a:rPr>
              <a:t>zero-config, portable pnp_checkpoint.db</a:t>
            </a:r>
            <a:endParaRPr lang="en-US" sz="1400" dirty="0"/>
          </a:p>
          <a:p>
            <a:pPr marL="177800" indent="-177800">
              <a:spcAft>
                <a:spcPts val="900"/>
              </a:spcAft>
              <a:buSzPct val="100000"/>
              <a:buChar char="•"/>
            </a:pPr>
            <a:r>
              <a:rPr lang="en-US" sz="1500" b="1" dirty="0">
                <a:solidFill>
                  <a:schemeClr val="bg1"/>
                </a:solidFill>
              </a:rPr>
              <a:t>Simulated screening: </a:t>
            </a:r>
            <a:pPr indent="0" marL="0">
              <a:buNone/>
            </a:pPr>
            <a:r>
              <a:rPr lang="en-US" sz="1500" dirty="0">
                <a:solidFill>
                  <a:schemeClr val="bg1"/>
                </a:solidFill>
              </a:rPr>
              <a:t>deterministic blacklist rules for plates, licenses, names</a:t>
            </a:r>
            <a:endParaRPr lang="en-US" sz="1400" dirty="0"/>
          </a:p>
          <a:p>
            <a:pPr marL="177800" indent="-177800">
              <a:spcAft>
                <a:spcPts val="900"/>
              </a:spcAft>
              <a:buSzPct val="100000"/>
              <a:buChar char="•"/>
            </a:pPr>
            <a:r>
              <a:rPr lang="en-US" sz="1500" b="1" dirty="0">
                <a:solidFill>
                  <a:schemeClr val="bg1"/>
                </a:solidFill>
              </a:rPr>
              <a:t>Thermal POS printing: </a:t>
            </a:r>
            <a:pPr indent="0" marL="0">
              <a:buNone/>
            </a:pPr>
            <a:r>
              <a:rPr lang="en-US" sz="1500" dirty="0">
                <a:solidFill>
                  <a:schemeClr val="bg1"/>
                </a:solidFill>
              </a:rPr>
              <a:t>58 mm &amp; 80 mm slips with A4 centering</a:t>
            </a:r>
            <a:endParaRPr lang="en-US" sz="1400" dirty="0"/>
          </a:p>
          <a:p>
            <a:pPr marL="177800" indent="-177800">
              <a:spcAft>
                <a:spcPts val="900"/>
              </a:spcAft>
              <a:buSzPct val="100000"/>
              <a:buChar char="•"/>
            </a:pPr>
            <a:r>
              <a:rPr lang="en-US" sz="1500" b="1" dirty="0">
                <a:solidFill>
                  <a:schemeClr val="bg1"/>
                </a:solidFill>
              </a:rPr>
              <a:t>One-command launch: </a:t>
            </a:r>
            <a:pPr indent="0" marL="0">
              <a:buNone/>
            </a:pPr>
            <a:r>
              <a:rPr lang="en-US" sz="1500" dirty="0">
                <a:solidFill>
                  <a:schemeClr val="bg1"/>
                </a:solidFill>
              </a:rPr>
              <a:t>Start-CVPRMS.bat with preflight check and shortcut installer</a:t>
            </a:r>
            <a:endParaRPr lang="en-US" sz="1400" dirty="0"/>
          </a:p>
        </p:txBody>
      </p:sp>
      <p:sp>
        <p:nvSpPr>
          <p:cNvPr id="14" name="Defense justification"/>
          <p:cNvSpPr/>
          <p:nvPr/>
        </p:nvSpPr>
        <p:spPr>
          <a:xfrm>
            <a:off x="548640" y="5532120"/>
            <a:ext cx="11091672" cy="658368"/>
          </a:xfrm>
          <a:prstGeom prst="roundRect">
            <a:avLst>
              <a:gd name="adj" fmla="val 13889"/>
            </a:avLst>
          </a:prstGeom>
          <a:solidFill>
            <a:schemeClr val="accent1"/>
          </a:solidFill>
          <a:ln/>
        </p:spPr>
      </p:sp>
      <p:sp>
        <p:nvSpPr>
          <p:cNvPr id="15" name="Defense justification text"/>
          <p:cNvSpPr txBox="1"/>
          <p:nvPr/>
        </p:nvSpPr>
        <p:spPr>
          <a:xfrm>
            <a:off x="822960" y="5532120"/>
            <a:ext cx="10607040" cy="658368"/>
          </a:xfrm>
          <a:prstGeom prst="rect">
            <a:avLst/>
          </a:prstGeom>
          <a:noFill/>
          <a:ln/>
        </p:spPr>
        <p:txBody>
          <a:bodyPr wrap="square" lIns="0" tIns="0" rIns="0" bIns="0" rtlCol="0" anchor="ctr"/>
          <a:lstStyle/>
          <a:p>
            <a:pPr indent="0" marL="0">
              <a:buNone/>
            </a:pPr>
            <a:r>
              <a:rPr lang="en-US" sz="1500" b="1" dirty="0">
                <a:solidFill>
                  <a:schemeClr val="tx1"/>
                </a:solidFill>
              </a:rPr>
              <a:t>Defense justification:  </a:t>
            </a:r>
            <a:pPr indent="0" marL="0">
              <a:buNone/>
            </a:pPr>
            <a:r>
              <a:rPr lang="en-US" sz="1500" dirty="0">
                <a:solidFill>
                  <a:schemeClr val="tx1"/>
                </a:solidFill>
              </a:rPr>
              <a:t>zero downtime, zero network dependency, and 100% deterministic test execution for panel evaluation.</a:t>
            </a:r>
            <a:endParaRPr lang="en-US" sz="15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Requirements Traceability Matrix</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2: REQUIREMENTS &amp; SCOPE (10 PTS)</a:t>
            </a:r>
            <a:endParaRPr lang="en-US" sz="1100" dirty="0"/>
          </a:p>
        </p:txBody>
      </p:sp>
      <p:sp>
        <p:nvSpPr>
          <p:cNvPr id="4" name="Speaker chip"/>
          <p:cNvSpPr/>
          <p:nvPr/>
        </p:nvSpPr>
        <p:spPr>
          <a:xfrm>
            <a:off x="8924544" y="384048"/>
            <a:ext cx="2715768" cy="365760"/>
          </a:xfrm>
          <a:prstGeom prst="roundRect">
            <a:avLst>
              <a:gd name="adj" fmla="val 50000"/>
            </a:avLst>
          </a:prstGeom>
          <a:solidFill>
            <a:schemeClr val="tx2"/>
          </a:solidFill>
          <a:ln/>
        </p:spPr>
      </p:sp>
      <p:sp>
        <p:nvSpPr>
          <p:cNvPr id="5" name="Speaker label"/>
          <p:cNvSpPr txBox="1"/>
          <p:nvPr/>
        </p:nvSpPr>
        <p:spPr>
          <a:xfrm>
            <a:off x="8924544" y="384048"/>
            <a:ext cx="2715768" cy="365760"/>
          </a:xfrm>
          <a:prstGeom prst="rect">
            <a:avLst/>
          </a:prstGeom>
          <a:noFill/>
          <a:ln/>
        </p:spPr>
        <p:txBody>
          <a:bodyPr wrap="square" lIns="0" tIns="0" rIns="0" bIns="0" rtlCol="0" anchor="ctr"/>
          <a:lstStyle/>
          <a:p>
            <a:pPr algn="ctr" indent="0" marL="0">
              <a:buNone/>
            </a:pPr>
            <a:r>
              <a:rPr lang="en-US" sz="1200" b="1" dirty="0">
                <a:solidFill>
                  <a:schemeClr val="bg1"/>
                </a:solidFill>
              </a:rPr>
              <a:t>Augusto Manuel  |  1.5 min</a:t>
            </a:r>
            <a:endParaRPr lang="en-US" sz="1200" dirty="0"/>
          </a:p>
        </p:txBody>
      </p:sp>
      <p:graphicFrame>
        <p:nvGraphicFramePr>
          <p:cNvPr id="8" name="Traceability matrix"/>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868680"/>
                <a:gridCol w="3749040"/>
                <a:gridCol w="1097280"/>
                <a:gridCol w="2834640"/>
                <a:gridCol w="2542032"/>
              </a:tblGrid>
              <a:tr h="411480">
                <a:tc>
                  <a:txBody>
                    <a:bodyPr/>
                    <a:lstStyle/>
                    <a:p>
                      <a:pPr indent="0" marL="0">
                        <a:buNone/>
                      </a:pPr>
                      <a:r>
                        <a:rPr lang="en-US" sz="1200" b="1" dirty="0">
                          <a:solidFill>
                            <a:schemeClr val="bg1"/>
                          </a:solidFill>
                        </a:rPr>
                        <a:t>REQ ID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REQUIREMENT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PRIORITY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IMPLEMENTED MODULE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QA TEST VERIFICATION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749808">
                <a:tc>
                  <a:txBody>
                    <a:bodyPr/>
                    <a:lstStyle/>
                    <a:p>
                      <a:pPr indent="0" marL="0">
                        <a:buNone/>
                      </a:pPr>
                      <a:r>
                        <a:rPr lang="en-US" sz="1400" b="1" dirty="0">
                          <a:solidFill>
                            <a:schemeClr val="accent2"/>
                          </a:solidFill>
                        </a:rPr>
                        <a:t>FR-01</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Real-time multi-tier screening (plate / driver / license vs. HPG alarms)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3"/>
                          </a:solidFill>
                        </a:rPr>
                        <a:t>CRITICAL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assessScreening() in server.js + client engine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assessScreening flags ALARM &amp; WARNING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749808">
                <a:tc>
                  <a:txBody>
                    <a:bodyPr/>
                    <a:lstStyle/>
                    <a:p>
                      <a:pPr indent="0" marL="0">
                        <a:buNone/>
                      </a:pPr>
                      <a:r>
                        <a:rPr lang="en-US" sz="1400" b="1" dirty="0">
                          <a:solidFill>
                            <a:schemeClr val="accent2"/>
                          </a:solidFill>
                        </a:rPr>
                        <a:t>FR-02</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Unlicensed driver Alt-ID workflow (PhilID / SSS / Passport mandatory)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2"/>
                          </a:solidFill>
                        </a:rPr>
                        <a:t>HIGH</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validateViolationPayload() + form morphing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validateViolationPayload requires Alt-ID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49808">
                <a:tc>
                  <a:txBody>
                    <a:bodyPr/>
                    <a:lstStyle/>
                    <a:p>
                      <a:pPr indent="0" marL="0">
                        <a:buNone/>
                      </a:pPr>
                      <a:r>
                        <a:rPr lang="en-US" sz="1400" b="1" dirty="0">
                          <a:solidFill>
                            <a:schemeClr val="accent2"/>
                          </a:solidFill>
                        </a:rPr>
                        <a:t>FR-03</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Statutory fine totaling with discretionary override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3"/>
                          </a:solidFill>
                        </a:rPr>
                        <a:t>CRITICAL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calculateViolationTotal() + OFFENSE_SCHEDULE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calculateViolationTotal adds multiple fees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749808">
                <a:tc>
                  <a:txBody>
                    <a:bodyPr/>
                    <a:lstStyle/>
                    <a:p>
                      <a:pPr indent="0" marL="0">
                        <a:buNone/>
                      </a:pPr>
                      <a:r>
                        <a:rPr lang="en-US" sz="1400" b="1" dirty="0">
                          <a:solidFill>
                            <a:schemeClr val="accent2"/>
                          </a:solidFill>
                        </a:rPr>
                        <a:t>FR-04</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Mandatory impound receipt slip for impounded vehicles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2"/>
                          </a:solidFill>
                        </a:rPr>
                        <a:t>HIGH</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validateViolationPayload() + disposition rules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Requires impound receipt when Impounded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49808">
                <a:tc>
                  <a:txBody>
                    <a:bodyPr/>
                    <a:lstStyle/>
                    <a:p>
                      <a:pPr indent="0" marL="0">
                        <a:buNone/>
                      </a:pPr>
                      <a:r>
                        <a:rPr lang="en-US" sz="1400" b="1" dirty="0">
                          <a:solidFill>
                            <a:schemeClr val="accent2"/>
                          </a:solidFill>
                        </a:rPr>
                        <a:t>FR-05</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Settlement status management &amp; Excel CSV export (UTF-8)</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2"/>
                          </a:solidFill>
                        </a:rPr>
                        <a:t>HIGH</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PATCH /api/violations/:id/status + CSV generator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PATCH updates settlement &amp; rejects invalid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7" name="Traceability note"/>
          <p:cNvSpPr/>
          <p:nvPr/>
        </p:nvSpPr>
        <p:spPr>
          <a:xfrm>
            <a:off x="548640" y="5715000"/>
            <a:ext cx="11091672" cy="502920"/>
          </a:xfrm>
          <a:prstGeom prst="roundRect">
            <a:avLst>
              <a:gd name="adj" fmla="val 18182"/>
            </a:avLst>
          </a:prstGeom>
          <a:solidFill>
            <a:schemeClr val="bg2"/>
          </a:solidFill>
          <a:ln/>
        </p:spPr>
      </p:sp>
      <p:sp>
        <p:nvSpPr>
          <p:cNvPr id="8" name="Traceability note text"/>
          <p:cNvSpPr txBox="1"/>
          <p:nvPr/>
        </p:nvSpPr>
        <p:spPr>
          <a:xfrm>
            <a:off x="822960" y="5715000"/>
            <a:ext cx="10607040" cy="502920"/>
          </a:xfrm>
          <a:prstGeom prst="rect">
            <a:avLst/>
          </a:prstGeom>
          <a:noFill/>
          <a:ln/>
        </p:spPr>
        <p:txBody>
          <a:bodyPr wrap="square" lIns="0" tIns="0" rIns="0" bIns="0" rtlCol="0" anchor="ctr"/>
          <a:lstStyle/>
          <a:p>
            <a:pPr indent="0" marL="0">
              <a:buNone/>
            </a:pPr>
            <a:r>
              <a:rPr lang="en-US" sz="1400" i="1" dirty="0">
                <a:solidFill>
                  <a:schemeClr val="accent6"/>
                </a:solidFill>
              </a:rPr>
              <a:t>Every critical requirement maps to a backend function, a UI element, and a dedicated automated regression test.</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bg1"/>
                </a:solidFill>
              </a:rPr>
              <a:t>Context Diagram (Stage 0 DFD)</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CATEGORY A  |  CRITERION 3: SYSTEM DESIGN &amp; ARCHITECTURE (15 PTS)</a:t>
            </a:r>
            <a:endParaRPr lang="en-US" sz="1100" dirty="0"/>
          </a:p>
        </p:txBody>
      </p:sp>
      <p:sp>
        <p:nvSpPr>
          <p:cNvPr id="4" name="Speaker chip"/>
          <p:cNvSpPr/>
          <p:nvPr/>
        </p:nvSpPr>
        <p:spPr>
          <a:xfrm>
            <a:off x="8924544" y="384048"/>
            <a:ext cx="2715768" cy="365760"/>
          </a:xfrm>
          <a:prstGeom prst="roundRect">
            <a:avLst>
              <a:gd name="adj" fmla="val 50000"/>
            </a:avLst>
          </a:prstGeom>
          <a:solidFill>
            <a:schemeClr val="accent1"/>
          </a:solidFill>
          <a:ln/>
        </p:spPr>
      </p:sp>
      <p:sp>
        <p:nvSpPr>
          <p:cNvPr id="5" name="Speaker label"/>
          <p:cNvSpPr txBox="1"/>
          <p:nvPr/>
        </p:nvSpPr>
        <p:spPr>
          <a:xfrm>
            <a:off x="8924544" y="384048"/>
            <a:ext cx="2715768" cy="365760"/>
          </a:xfrm>
          <a:prstGeom prst="rect">
            <a:avLst/>
          </a:prstGeom>
          <a:noFill/>
          <a:ln/>
        </p:spPr>
        <p:txBody>
          <a:bodyPr wrap="square" lIns="0" tIns="0" rIns="0" bIns="0" rtlCol="0" anchor="ctr"/>
          <a:lstStyle/>
          <a:p>
            <a:pPr algn="ctr" indent="0" marL="0">
              <a:buNone/>
            </a:pPr>
            <a:r>
              <a:rPr lang="en-US" sz="1200" b="1" dirty="0">
                <a:solidFill>
                  <a:schemeClr val="tx1"/>
                </a:solidFill>
              </a:rPr>
              <a:t>Augusto Manuel  |  1.5 min</a:t>
            </a:r>
            <a:endParaRPr lang="en-US" sz="1200" dirty="0"/>
          </a:p>
        </p:txBody>
      </p:sp>
      <p:pic>
        <p:nvPicPr>
          <p:cNvPr id="6" name="Image 0" descr="Stage 0 context data flow diagram of PNP-CVPRMS with five external entities">    </p:cNvPr>
          <p:cNvPicPr>
            <a:picLocks noChangeAspect="1"/>
          </p:cNvPicPr>
          <p:nvPr/>
        </p:nvPicPr>
        <p:blipFill>
          <a:blip r:embed="rId1"/>
          <a:stretch>
            <a:fillRect/>
          </a:stretch>
        </p:blipFill>
        <p:spPr>
          <a:xfrm>
            <a:off x="548640" y="1371600"/>
            <a:ext cx="6949440" cy="4709448"/>
          </a:xfrm>
          <a:prstGeom prst="rect">
            <a:avLst/>
          </a:prstGeom>
        </p:spPr>
      </p:pic>
      <p:sp>
        <p:nvSpPr>
          <p:cNvPr id="7" name="Central process"/>
          <p:cNvSpPr/>
          <p:nvPr/>
        </p:nvSpPr>
        <p:spPr>
          <a:xfrm>
            <a:off x="548640" y="5669280"/>
            <a:ext cx="6949440" cy="548640"/>
          </a:xfrm>
          <a:prstGeom prst="roundRect">
            <a:avLst>
              <a:gd name="adj" fmla="val 16667"/>
            </a:avLst>
          </a:prstGeom>
          <a:solidFill>
            <a:schemeClr val="tx2"/>
          </a:solidFill>
          <a:ln/>
        </p:spPr>
      </p:sp>
      <p:sp>
        <p:nvSpPr>
          <p:cNvPr id="8" name="Central process text"/>
          <p:cNvSpPr txBox="1"/>
          <p:nvPr/>
        </p:nvSpPr>
        <p:spPr>
          <a:xfrm>
            <a:off x="777240" y="5669280"/>
            <a:ext cx="6492240" cy="548640"/>
          </a:xfrm>
          <a:prstGeom prst="rect">
            <a:avLst/>
          </a:prstGeom>
          <a:noFill/>
          <a:ln/>
        </p:spPr>
        <p:txBody>
          <a:bodyPr wrap="square" lIns="0" tIns="0" rIns="0" bIns="0" rtlCol="0" anchor="ctr"/>
          <a:lstStyle/>
          <a:p>
            <a:pPr indent="0" marL="0">
              <a:buNone/>
            </a:pPr>
            <a:r>
              <a:rPr lang="en-US" sz="1100" b="1" spc="100" kern="0" dirty="0">
                <a:solidFill>
                  <a:schemeClr val="accent1"/>
                </a:solidFill>
              </a:rPr>
              <a:t>CENTRAL PROCESS 0.0</a:t>
            </a:r>
            <a:endParaRPr lang="en-US" sz="1400" dirty="0"/>
          </a:p>
          <a:p>
            <a:pPr indent="0" marL="0">
              <a:buNone/>
            </a:pPr>
            <a:r>
              <a:rPr lang="en-US" sz="1300" dirty="0">
                <a:solidFill>
                  <a:schemeClr val="bg1"/>
                </a:solidFill>
              </a:rPr>
              <a:t>PNP Checkpoint Violation Processing &amp; Records Management System</a:t>
            </a:r>
            <a:endParaRPr lang="en-US" sz="1400" dirty="0"/>
          </a:p>
        </p:txBody>
      </p:sp>
      <p:sp>
        <p:nvSpPr>
          <p:cNvPr id="9" name="Entities label"/>
          <p:cNvSpPr txBox="1"/>
          <p:nvPr/>
        </p:nvSpPr>
        <p:spPr>
          <a:xfrm>
            <a:off x="7772400" y="1371600"/>
            <a:ext cx="384048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5 EXTERNAL ENTITIES</a:t>
            </a:r>
            <a:endParaRPr lang="en-US" sz="1100" dirty="0"/>
          </a:p>
        </p:txBody>
      </p:sp>
      <p:sp>
        <p:nvSpPr>
          <p:cNvPr id="10" name="Entity card 1"/>
          <p:cNvSpPr/>
          <p:nvPr/>
        </p:nvSpPr>
        <p:spPr>
          <a:xfrm>
            <a:off x="7772400" y="1691640"/>
            <a:ext cx="3867912" cy="804672"/>
          </a:xfrm>
          <a:prstGeom prst="roundRect">
            <a:avLst>
              <a:gd name="adj" fmla="val 11364"/>
            </a:avLst>
          </a:prstGeom>
          <a:solidFill>
            <a:schemeClr val="tx2"/>
          </a:solidFill>
          <a:ln/>
        </p:spPr>
      </p:sp>
      <p:sp>
        <p:nvSpPr>
          <p:cNvPr id="11" name="Entity text 1"/>
          <p:cNvSpPr txBox="1"/>
          <p:nvPr/>
        </p:nvSpPr>
        <p:spPr>
          <a:xfrm>
            <a:off x="7955280" y="1691640"/>
            <a:ext cx="3566160" cy="804672"/>
          </a:xfrm>
          <a:prstGeom prst="rect">
            <a:avLst/>
          </a:prstGeom>
          <a:noFill/>
          <a:ln/>
        </p:spPr>
        <p:txBody>
          <a:bodyPr wrap="square" lIns="0" tIns="0" rIns="0" bIns="0" rtlCol="0" anchor="ctr"/>
          <a:lstStyle/>
          <a:p>
            <a:pPr indent="0" marL="0">
              <a:buNone/>
            </a:pPr>
            <a:r>
              <a:rPr lang="en-US" sz="1300" b="1" dirty="0">
                <a:solidFill>
                  <a:schemeClr val="accent1"/>
                </a:solidFill>
              </a:rPr>
              <a:t>Apprehending Police Officer</a:t>
            </a:r>
            <a:endParaRPr lang="en-US" sz="1400" dirty="0"/>
          </a:p>
          <a:p>
            <a:pPr indent="0" marL="0">
              <a:buNone/>
            </a:pPr>
            <a:r>
              <a:rPr lang="en-US" sz="1200" dirty="0">
                <a:solidFill>
                  <a:schemeClr val="bg1"/>
                </a:solidFill>
              </a:rPr>
              <a:t>In: session, violator data, evidence photos</a:t>
            </a:r>
            <a:endParaRPr lang="en-US" sz="1400" dirty="0"/>
          </a:p>
          <a:p>
            <a:pPr indent="0" marL="0">
              <a:buNone/>
            </a:pPr>
            <a:r>
              <a:rPr lang="en-US" sz="1200" dirty="0">
                <a:solidFill>
                  <a:schemeClr val="bg1"/>
                </a:solidFill>
              </a:rPr>
              <a:t>Out: screening badge, fines, ticket ID</a:t>
            </a:r>
            <a:endParaRPr lang="en-US" sz="1400" dirty="0"/>
          </a:p>
        </p:txBody>
      </p:sp>
      <p:sp>
        <p:nvSpPr>
          <p:cNvPr id="12" name="Entity card 2"/>
          <p:cNvSpPr/>
          <p:nvPr/>
        </p:nvSpPr>
        <p:spPr>
          <a:xfrm>
            <a:off x="7772400" y="2587752"/>
            <a:ext cx="3867912" cy="804672"/>
          </a:xfrm>
          <a:prstGeom prst="roundRect">
            <a:avLst>
              <a:gd name="adj" fmla="val 11364"/>
            </a:avLst>
          </a:prstGeom>
          <a:solidFill>
            <a:schemeClr val="tx2"/>
          </a:solidFill>
          <a:ln/>
        </p:spPr>
      </p:sp>
      <p:sp>
        <p:nvSpPr>
          <p:cNvPr id="13" name="Entity text 2"/>
          <p:cNvSpPr txBox="1"/>
          <p:nvPr/>
        </p:nvSpPr>
        <p:spPr>
          <a:xfrm>
            <a:off x="7955280" y="2587752"/>
            <a:ext cx="3566160" cy="804672"/>
          </a:xfrm>
          <a:prstGeom prst="rect">
            <a:avLst/>
          </a:prstGeom>
          <a:noFill/>
          <a:ln/>
        </p:spPr>
        <p:txBody>
          <a:bodyPr wrap="square" lIns="0" tIns="0" rIns="0" bIns="0" rtlCol="0" anchor="ctr"/>
          <a:lstStyle/>
          <a:p>
            <a:pPr indent="0" marL="0">
              <a:buNone/>
            </a:pPr>
            <a:r>
              <a:rPr lang="en-US" sz="1300" b="1" dirty="0">
                <a:solidFill>
                  <a:schemeClr val="accent1"/>
                </a:solidFill>
              </a:rPr>
              <a:t>Apprehended Motorist</a:t>
            </a:r>
            <a:endParaRPr lang="en-US" sz="1400" dirty="0"/>
          </a:p>
          <a:p>
            <a:pPr indent="0" marL="0">
              <a:buNone/>
            </a:pPr>
            <a:r>
              <a:rPr lang="en-US" sz="1200" dirty="0">
                <a:solidFill>
                  <a:schemeClr val="bg1"/>
                </a:solidFill>
              </a:rPr>
              <a:t>In: license / Alt-ID, OR-CR documents</a:t>
            </a:r>
            <a:endParaRPr lang="en-US" sz="1400" dirty="0"/>
          </a:p>
          <a:p>
            <a:pPr indent="0" marL="0">
              <a:buNone/>
            </a:pPr>
            <a:r>
              <a:rPr lang="en-US" sz="1200" dirty="0">
                <a:solidFill>
                  <a:schemeClr val="bg1"/>
                </a:solidFill>
              </a:rPr>
              <a:t>Out: printed thermal citation receipt</a:t>
            </a:r>
            <a:endParaRPr lang="en-US" sz="1400" dirty="0"/>
          </a:p>
        </p:txBody>
      </p:sp>
      <p:sp>
        <p:nvSpPr>
          <p:cNvPr id="14" name="Entity card 3"/>
          <p:cNvSpPr/>
          <p:nvPr/>
        </p:nvSpPr>
        <p:spPr>
          <a:xfrm>
            <a:off x="7772400" y="3483864"/>
            <a:ext cx="3867912" cy="804672"/>
          </a:xfrm>
          <a:prstGeom prst="roundRect">
            <a:avLst>
              <a:gd name="adj" fmla="val 11364"/>
            </a:avLst>
          </a:prstGeom>
          <a:solidFill>
            <a:schemeClr val="tx2"/>
          </a:solidFill>
          <a:ln/>
        </p:spPr>
      </p:sp>
      <p:sp>
        <p:nvSpPr>
          <p:cNvPr id="15" name="Entity text 3"/>
          <p:cNvSpPr txBox="1"/>
          <p:nvPr/>
        </p:nvSpPr>
        <p:spPr>
          <a:xfrm>
            <a:off x="7955280" y="3483864"/>
            <a:ext cx="3566160" cy="804672"/>
          </a:xfrm>
          <a:prstGeom prst="rect">
            <a:avLst/>
          </a:prstGeom>
          <a:noFill/>
          <a:ln/>
        </p:spPr>
        <p:txBody>
          <a:bodyPr wrap="square" lIns="0" tIns="0" rIns="0" bIns="0" rtlCol="0" anchor="ctr"/>
          <a:lstStyle/>
          <a:p>
            <a:pPr indent="0" marL="0">
              <a:buNone/>
            </a:pPr>
            <a:r>
              <a:rPr lang="en-US" sz="1300" b="1" dirty="0">
                <a:solidFill>
                  <a:schemeClr val="accent1"/>
                </a:solidFill>
              </a:rPr>
              <a:t>Municipal Treasury</a:t>
            </a:r>
            <a:endParaRPr lang="en-US" sz="1400" dirty="0"/>
          </a:p>
          <a:p>
            <a:pPr indent="0" marL="0">
              <a:buNone/>
            </a:pPr>
            <a:r>
              <a:rPr lang="en-US" sz="1200" dirty="0">
                <a:solidFill>
                  <a:schemeClr val="bg1"/>
                </a:solidFill>
              </a:rPr>
              <a:t>In: Official Receipt (OR) confirmation</a:t>
            </a:r>
            <a:endParaRPr lang="en-US" sz="1400" dirty="0"/>
          </a:p>
          <a:p>
            <a:pPr indent="0" marL="0">
              <a:buNone/>
            </a:pPr>
            <a:r>
              <a:rPr lang="en-US" sz="1200" dirty="0">
                <a:solidFill>
                  <a:schemeClr val="bg1"/>
                </a:solidFill>
              </a:rPr>
              <a:t>Out: outstanding balances &amp; unsettled files</a:t>
            </a:r>
            <a:endParaRPr lang="en-US" sz="1400" dirty="0"/>
          </a:p>
        </p:txBody>
      </p:sp>
      <p:sp>
        <p:nvSpPr>
          <p:cNvPr id="16" name="Entity card 4"/>
          <p:cNvSpPr/>
          <p:nvPr/>
        </p:nvSpPr>
        <p:spPr>
          <a:xfrm>
            <a:off x="7772400" y="4379976"/>
            <a:ext cx="3867912" cy="804672"/>
          </a:xfrm>
          <a:prstGeom prst="roundRect">
            <a:avLst>
              <a:gd name="adj" fmla="val 11364"/>
            </a:avLst>
          </a:prstGeom>
          <a:solidFill>
            <a:schemeClr val="tx2"/>
          </a:solidFill>
          <a:ln/>
        </p:spPr>
      </p:sp>
      <p:sp>
        <p:nvSpPr>
          <p:cNvPr id="17" name="Entity text 4"/>
          <p:cNvSpPr txBox="1"/>
          <p:nvPr/>
        </p:nvSpPr>
        <p:spPr>
          <a:xfrm>
            <a:off x="7955280" y="4379976"/>
            <a:ext cx="3566160" cy="804672"/>
          </a:xfrm>
          <a:prstGeom prst="rect">
            <a:avLst/>
          </a:prstGeom>
          <a:noFill/>
          <a:ln/>
        </p:spPr>
        <p:txBody>
          <a:bodyPr wrap="square" lIns="0" tIns="0" rIns="0" bIns="0" rtlCol="0" anchor="ctr"/>
          <a:lstStyle/>
          <a:p>
            <a:pPr indent="0" marL="0">
              <a:buNone/>
            </a:pPr>
            <a:r>
              <a:rPr lang="en-US" sz="1300" b="1" dirty="0">
                <a:solidFill>
                  <a:schemeClr val="accent1"/>
                </a:solidFill>
              </a:rPr>
              <a:t>Law Enforcement Registries</a:t>
            </a:r>
            <a:endParaRPr lang="en-US" sz="1400" dirty="0"/>
          </a:p>
          <a:p>
            <a:pPr indent="0" marL="0">
              <a:buNone/>
            </a:pPr>
            <a:r>
              <a:rPr lang="en-US" sz="1200" dirty="0">
                <a:solidFill>
                  <a:schemeClr val="bg1"/>
                </a:solidFill>
              </a:rPr>
              <a:t>In: plate / license / driver queries</a:t>
            </a:r>
            <a:endParaRPr lang="en-US" sz="1400" dirty="0"/>
          </a:p>
          <a:p>
            <a:pPr indent="0" marL="0">
              <a:buNone/>
            </a:pPr>
            <a:r>
              <a:rPr lang="en-US" sz="1200" dirty="0">
                <a:solidFill>
                  <a:schemeClr val="bg1"/>
                </a:solidFill>
              </a:rPr>
              <a:t>Out: HPG stolen-vehicle alarms, court warrants</a:t>
            </a:r>
            <a:endParaRPr lang="en-US" sz="1400" dirty="0"/>
          </a:p>
        </p:txBody>
      </p:sp>
      <p:sp>
        <p:nvSpPr>
          <p:cNvPr id="18" name="Entity card 5"/>
          <p:cNvSpPr/>
          <p:nvPr/>
        </p:nvSpPr>
        <p:spPr>
          <a:xfrm>
            <a:off x="7772400" y="5276088"/>
            <a:ext cx="3867912" cy="804672"/>
          </a:xfrm>
          <a:prstGeom prst="roundRect">
            <a:avLst>
              <a:gd name="adj" fmla="val 11364"/>
            </a:avLst>
          </a:prstGeom>
          <a:solidFill>
            <a:schemeClr val="tx2"/>
          </a:solidFill>
          <a:ln/>
        </p:spPr>
      </p:sp>
      <p:sp>
        <p:nvSpPr>
          <p:cNvPr id="19" name="Entity text 5"/>
          <p:cNvSpPr txBox="1"/>
          <p:nvPr/>
        </p:nvSpPr>
        <p:spPr>
          <a:xfrm>
            <a:off x="7955280" y="5276088"/>
            <a:ext cx="3566160" cy="804672"/>
          </a:xfrm>
          <a:prstGeom prst="rect">
            <a:avLst/>
          </a:prstGeom>
          <a:noFill/>
          <a:ln/>
        </p:spPr>
        <p:txBody>
          <a:bodyPr wrap="square" lIns="0" tIns="0" rIns="0" bIns="0" rtlCol="0" anchor="ctr"/>
          <a:lstStyle/>
          <a:p>
            <a:pPr indent="0" marL="0">
              <a:buNone/>
            </a:pPr>
            <a:r>
              <a:rPr lang="en-US" sz="1300" b="1" dirty="0">
                <a:solidFill>
                  <a:schemeClr val="accent1"/>
                </a:solidFill>
              </a:rPr>
              <a:t>Station Commander</a:t>
            </a:r>
            <a:endParaRPr lang="en-US" sz="1400" dirty="0"/>
          </a:p>
          <a:p>
            <a:pPr indent="0" marL="0">
              <a:buNone/>
            </a:pPr>
            <a:r>
              <a:rPr lang="en-US" sz="1200" dirty="0">
                <a:solidFill>
                  <a:schemeClr val="bg1"/>
                </a:solidFill>
              </a:rPr>
              <a:t>Out: KPI summaries, audit trails, CSV exports</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bg1"/>
                </a:solidFill>
              </a:rPr>
              <a:t>Process Decomposition: Level 1 DFD</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CATEGORY A  |  CRITERION 3: SYSTEM DESIGN &amp; ARCHITECTURE (15 PTS)</a:t>
            </a:r>
            <a:endParaRPr lang="en-US" sz="1100" dirty="0"/>
          </a:p>
        </p:txBody>
      </p:sp>
      <p:sp>
        <p:nvSpPr>
          <p:cNvPr id="4" name="Speaker chip"/>
          <p:cNvSpPr/>
          <p:nvPr/>
        </p:nvSpPr>
        <p:spPr>
          <a:xfrm>
            <a:off x="9011412" y="384048"/>
            <a:ext cx="2628900" cy="365760"/>
          </a:xfrm>
          <a:prstGeom prst="roundRect">
            <a:avLst>
              <a:gd name="adj" fmla="val 50000"/>
            </a:avLst>
          </a:prstGeom>
          <a:solidFill>
            <a:schemeClr val="accent1"/>
          </a:solidFill>
          <a:ln/>
        </p:spPr>
      </p:sp>
      <p:sp>
        <p:nvSpPr>
          <p:cNvPr id="5" name="Speaker label"/>
          <p:cNvSpPr txBox="1"/>
          <p:nvPr/>
        </p:nvSpPr>
        <p:spPr>
          <a:xfrm>
            <a:off x="9011412" y="384048"/>
            <a:ext cx="2628900" cy="365760"/>
          </a:xfrm>
          <a:prstGeom prst="rect">
            <a:avLst/>
          </a:prstGeom>
          <a:noFill/>
          <a:ln/>
        </p:spPr>
        <p:txBody>
          <a:bodyPr wrap="square" lIns="0" tIns="0" rIns="0" bIns="0" rtlCol="0" anchor="ctr"/>
          <a:lstStyle/>
          <a:p>
            <a:pPr algn="ctr" indent="0" marL="0">
              <a:buNone/>
            </a:pPr>
            <a:r>
              <a:rPr lang="en-US" sz="1200" b="1" dirty="0">
                <a:solidFill>
                  <a:schemeClr val="tx1"/>
                </a:solidFill>
              </a:rPr>
              <a:t>Emmanuel John  |  1.5 min</a:t>
            </a:r>
            <a:endParaRPr lang="en-US" sz="1200" dirty="0"/>
          </a:p>
        </p:txBody>
      </p:sp>
      <p:pic>
        <p:nvPicPr>
          <p:cNvPr id="6" name="Image 0" descr="Stage 1 Level 1 data flow diagram showing eight subsystems in four zones">    </p:cNvPr>
          <p:cNvPicPr>
            <a:picLocks noChangeAspect="1"/>
          </p:cNvPicPr>
          <p:nvPr/>
        </p:nvPicPr>
        <p:blipFill>
          <a:blip r:embed="rId1"/>
          <a:stretch>
            <a:fillRect/>
          </a:stretch>
        </p:blipFill>
        <p:spPr>
          <a:xfrm>
            <a:off x="548640" y="1417320"/>
            <a:ext cx="7040880" cy="4541189"/>
          </a:xfrm>
          <a:prstGeom prst="rect">
            <a:avLst/>
          </a:prstGeom>
        </p:spPr>
      </p:pic>
      <p:sp>
        <p:nvSpPr>
          <p:cNvPr id="7" name="Subsystems label"/>
          <p:cNvSpPr txBox="1"/>
          <p:nvPr/>
        </p:nvSpPr>
        <p:spPr>
          <a:xfrm>
            <a:off x="7863840" y="1371600"/>
            <a:ext cx="374904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8 FUNCTIONAL SUBSYSTEMS</a:t>
            </a:r>
            <a:endParaRPr lang="en-US" sz="1100" dirty="0"/>
          </a:p>
        </p:txBody>
      </p:sp>
      <p:sp>
        <p:nvSpPr>
          <p:cNvPr id="8" name="Subsystem list"/>
          <p:cNvSpPr txBox="1"/>
          <p:nvPr/>
        </p:nvSpPr>
        <p:spPr>
          <a:xfrm>
            <a:off x="7863840" y="1691640"/>
            <a:ext cx="3749040" cy="3611880"/>
          </a:xfrm>
          <a:prstGeom prst="rect">
            <a:avLst/>
          </a:prstGeom>
          <a:noFill/>
          <a:ln/>
        </p:spPr>
        <p:txBody>
          <a:bodyPr wrap="square" lIns="0" tIns="0" rIns="0" bIns="0" rtlCol="0" anchor="t"/>
          <a:lstStyle/>
          <a:p>
            <a:pPr indent="0" marL="0">
              <a:buNone/>
            </a:pPr>
            <a:r>
              <a:rPr lang="en-US" sz="1300" b="1" dirty="0">
                <a:solidFill>
                  <a:schemeClr val="bg1"/>
                </a:solidFill>
              </a:rPr>
              <a:t>1.0 Session Setup</a:t>
            </a:r>
            <a:endParaRPr lang="en-US" sz="1400" dirty="0"/>
          </a:p>
          <a:p>
            <a:pPr indent="0" marL="0">
              <a:spcAft>
                <a:spcPts val="500"/>
              </a:spcAft>
              <a:buNone/>
            </a:pPr>
            <a:r>
              <a:rPr lang="en-US" sz="1200" dirty="0">
                <a:solidFill>
                  <a:schemeClr val="bg2"/>
                </a:solidFill>
              </a:rPr>
              <a:t>station, post, shift, badge binding</a:t>
            </a:r>
            <a:endParaRPr lang="en-US" sz="1400" dirty="0"/>
          </a:p>
          <a:p>
            <a:pPr indent="0" marL="0">
              <a:buNone/>
            </a:pPr>
            <a:r>
              <a:rPr lang="en-US" sz="1300" b="1" dirty="0">
                <a:solidFill>
                  <a:schemeClr val="bg1"/>
                </a:solidFill>
              </a:rPr>
              <a:t>2.0 Screening Engine</a:t>
            </a:r>
            <a:endParaRPr lang="en-US" sz="1400" dirty="0"/>
          </a:p>
          <a:p>
            <a:pPr indent="0" marL="0">
              <a:spcAft>
                <a:spcPts val="500"/>
              </a:spcAft>
              <a:buNone/>
            </a:pPr>
            <a:r>
              <a:rPr lang="en-US" sz="1200" dirty="0">
                <a:solidFill>
                  <a:schemeClr val="bg2"/>
                </a:solidFill>
              </a:rPr>
              <a:t>HPG alarm &amp; warrant cross-match</a:t>
            </a:r>
            <a:endParaRPr lang="en-US" sz="1400" dirty="0"/>
          </a:p>
          <a:p>
            <a:pPr indent="0" marL="0">
              <a:buNone/>
            </a:pPr>
            <a:r>
              <a:rPr lang="en-US" sz="1300" b="1" dirty="0">
                <a:solidFill>
                  <a:schemeClr val="bg1"/>
                </a:solidFill>
              </a:rPr>
              <a:t>3.0 Apprehension &amp; Fine</a:t>
            </a:r>
            <a:endParaRPr lang="en-US" sz="1400" dirty="0"/>
          </a:p>
          <a:p>
            <a:pPr indent="0" marL="0">
              <a:spcAft>
                <a:spcPts val="500"/>
              </a:spcAft>
              <a:buNone/>
            </a:pPr>
            <a:r>
              <a:rPr lang="en-US" sz="1200" dirty="0">
                <a:solidFill>
                  <a:schemeClr val="bg2"/>
                </a:solidFill>
              </a:rPr>
              <a:t>validation, totaling, photo compression</a:t>
            </a:r>
            <a:endParaRPr lang="en-US" sz="1400" dirty="0"/>
          </a:p>
          <a:p>
            <a:pPr indent="0" marL="0">
              <a:buNone/>
            </a:pPr>
            <a:r>
              <a:rPr lang="en-US" sz="1300" b="1" dirty="0">
                <a:solidFill>
                  <a:schemeClr val="bg1"/>
                </a:solidFill>
              </a:rPr>
              <a:t>4.0 Thermal POS Print</a:t>
            </a:r>
            <a:endParaRPr lang="en-US" sz="1400" dirty="0"/>
          </a:p>
          <a:p>
            <a:pPr indent="0" marL="0">
              <a:spcAft>
                <a:spcPts val="500"/>
              </a:spcAft>
              <a:buNone/>
            </a:pPr>
            <a:r>
              <a:rPr lang="en-US" sz="1200" dirty="0">
                <a:solidFill>
                  <a:schemeClr val="bg2"/>
                </a:solidFill>
              </a:rPr>
              <a:t>58/80 mm slips with settlement notes</a:t>
            </a:r>
            <a:endParaRPr lang="en-US" sz="1400" dirty="0"/>
          </a:p>
          <a:p>
            <a:pPr indent="0" marL="0">
              <a:buNone/>
            </a:pPr>
            <a:r>
              <a:rPr lang="en-US" sz="1300" b="1" dirty="0">
                <a:solidFill>
                  <a:schemeClr val="bg1"/>
                </a:solidFill>
              </a:rPr>
              <a:t>5.0 Registry &amp; Search</a:t>
            </a:r>
            <a:endParaRPr lang="en-US" sz="1400" dirty="0"/>
          </a:p>
          <a:p>
            <a:pPr indent="0" marL="0">
              <a:spcAft>
                <a:spcPts val="500"/>
              </a:spcAft>
              <a:buNone/>
            </a:pPr>
            <a:r>
              <a:rPr lang="en-US" sz="1200" dirty="0">
                <a:solidFill>
                  <a:schemeClr val="bg2"/>
                </a:solidFill>
              </a:rPr>
              <a:t>plate, ticket, driver, shift, date</a:t>
            </a:r>
            <a:endParaRPr lang="en-US" sz="1400" dirty="0"/>
          </a:p>
          <a:p>
            <a:pPr indent="0" marL="0">
              <a:buNone/>
            </a:pPr>
            <a:r>
              <a:rPr lang="en-US" sz="1300" b="1" dirty="0">
                <a:solidFill>
                  <a:schemeClr val="bg1"/>
                </a:solidFill>
              </a:rPr>
              <a:t>6.0 Dossier &amp; Settlement</a:t>
            </a:r>
            <a:endParaRPr lang="en-US" sz="1400" dirty="0"/>
          </a:p>
          <a:p>
            <a:pPr indent="0" marL="0">
              <a:spcAft>
                <a:spcPts val="500"/>
              </a:spcAft>
              <a:buNone/>
            </a:pPr>
            <a:r>
              <a:rPr lang="en-US" sz="1200" dirty="0">
                <a:solidFill>
                  <a:schemeClr val="bg2"/>
                </a:solidFill>
              </a:rPr>
              <a:t>Unsettled to Paid / Voided</a:t>
            </a:r>
            <a:endParaRPr lang="en-US" sz="1400" dirty="0"/>
          </a:p>
          <a:p>
            <a:pPr indent="0" marL="0">
              <a:buNone/>
            </a:pPr>
            <a:r>
              <a:rPr lang="en-US" sz="1300" b="1" dirty="0">
                <a:solidFill>
                  <a:schemeClr val="bg1"/>
                </a:solidFill>
              </a:rPr>
              <a:t>7.0 KPI &amp; CSV Export</a:t>
            </a:r>
            <a:endParaRPr lang="en-US" sz="1400" dirty="0"/>
          </a:p>
          <a:p>
            <a:pPr indent="0" marL="0">
              <a:spcAft>
                <a:spcPts val="500"/>
              </a:spcAft>
              <a:buNone/>
            </a:pPr>
            <a:r>
              <a:rPr lang="en-US" sz="1200" dirty="0">
                <a:solidFill>
                  <a:schemeClr val="bg2"/>
                </a:solidFill>
              </a:rPr>
              <a:t>live metrics, UTF-8 BOM CSV</a:t>
            </a:r>
            <a:endParaRPr lang="en-US" sz="1400" dirty="0"/>
          </a:p>
          <a:p>
            <a:pPr indent="0" marL="0">
              <a:buNone/>
            </a:pPr>
            <a:r>
              <a:rPr lang="en-US" sz="1300" b="1" dirty="0">
                <a:solidFill>
                  <a:schemeClr val="bg1"/>
                </a:solidFill>
              </a:rPr>
              <a:t>8.0 Secure Audit Logger</a:t>
            </a:r>
            <a:endParaRPr lang="en-US" sz="1400" dirty="0"/>
          </a:p>
          <a:p>
            <a:pPr indent="0" marL="0">
              <a:spcAft>
                <a:spcPts val="500"/>
              </a:spcAft>
              <a:buNone/>
            </a:pPr>
            <a:r>
              <a:rPr lang="en-US" sz="1200" dirty="0">
                <a:solidFill>
                  <a:schemeClr val="bg2"/>
                </a:solidFill>
              </a:rPr>
              <a:t>append-only legal accountability log</a:t>
            </a:r>
            <a:endParaRPr lang="en-US" sz="1400" dirty="0"/>
          </a:p>
        </p:txBody>
      </p:sp>
      <p:sp>
        <p:nvSpPr>
          <p:cNvPr id="9" name="Data stores"/>
          <p:cNvSpPr/>
          <p:nvPr/>
        </p:nvSpPr>
        <p:spPr>
          <a:xfrm>
            <a:off x="7863840" y="5349240"/>
            <a:ext cx="3776472" cy="822960"/>
          </a:xfrm>
          <a:prstGeom prst="roundRect">
            <a:avLst>
              <a:gd name="adj" fmla="val 11111"/>
            </a:avLst>
          </a:prstGeom>
          <a:solidFill>
            <a:schemeClr val="tx2"/>
          </a:solidFill>
          <a:ln/>
        </p:spPr>
      </p:sp>
      <p:sp>
        <p:nvSpPr>
          <p:cNvPr id="10" name="Data stores text"/>
          <p:cNvSpPr txBox="1"/>
          <p:nvPr/>
        </p:nvSpPr>
        <p:spPr>
          <a:xfrm>
            <a:off x="8046720" y="5349240"/>
            <a:ext cx="3474720" cy="822960"/>
          </a:xfrm>
          <a:prstGeom prst="rect">
            <a:avLst/>
          </a:prstGeom>
          <a:noFill/>
          <a:ln/>
        </p:spPr>
        <p:txBody>
          <a:bodyPr wrap="square" lIns="0" tIns="0" rIns="0" bIns="0" rtlCol="0" anchor="ctr"/>
          <a:lstStyle/>
          <a:p>
            <a:pPr indent="0" marL="0">
              <a:buNone/>
            </a:pPr>
            <a:r>
              <a:rPr lang="en-US" sz="1100" b="1" spc="100" kern="0" dirty="0">
                <a:solidFill>
                  <a:schemeClr val="accent1"/>
                </a:solidFill>
              </a:rPr>
              <a:t>DATA STORES</a:t>
            </a:r>
            <a:endParaRPr lang="en-US" sz="1400" dirty="0"/>
          </a:p>
          <a:p>
            <a:pPr indent="0" marL="0">
              <a:buNone/>
            </a:pPr>
            <a:r>
              <a:rPr lang="en-US" sz="1200" dirty="0">
                <a:solidFill>
                  <a:schemeClr val="bg1"/>
                </a:solidFill>
              </a:rPr>
              <a:t>D1 Violations DB  |  D2 Offense Schedule  |  D3 Blacklists  |  D4 Audit Log</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Data Architecture &amp; ERD</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3: SYSTEM DESIGN &amp; ARCHITECTURE (15 PTS)</a:t>
            </a:r>
            <a:endParaRPr lang="en-US" sz="1100" dirty="0"/>
          </a:p>
        </p:txBody>
      </p:sp>
      <p:sp>
        <p:nvSpPr>
          <p:cNvPr id="4" name="Speaker chip"/>
          <p:cNvSpPr/>
          <p:nvPr/>
        </p:nvSpPr>
        <p:spPr>
          <a:xfrm>
            <a:off x="9532620" y="384048"/>
            <a:ext cx="2107692" cy="365760"/>
          </a:xfrm>
          <a:prstGeom prst="roundRect">
            <a:avLst>
              <a:gd name="adj" fmla="val 50000"/>
            </a:avLst>
          </a:prstGeom>
          <a:solidFill>
            <a:schemeClr val="tx2"/>
          </a:solidFill>
          <a:ln/>
        </p:spPr>
      </p:sp>
      <p:sp>
        <p:nvSpPr>
          <p:cNvPr id="5" name="Speaker label"/>
          <p:cNvSpPr txBox="1"/>
          <p:nvPr/>
        </p:nvSpPr>
        <p:spPr>
          <a:xfrm>
            <a:off x="9532620" y="384048"/>
            <a:ext cx="2107692" cy="365760"/>
          </a:xfrm>
          <a:prstGeom prst="rect">
            <a:avLst/>
          </a:prstGeom>
          <a:noFill/>
          <a:ln/>
        </p:spPr>
        <p:txBody>
          <a:bodyPr wrap="square" lIns="0" tIns="0" rIns="0" bIns="0" rtlCol="0" anchor="ctr"/>
          <a:lstStyle/>
          <a:p>
            <a:pPr algn="ctr" indent="0" marL="0">
              <a:buNone/>
            </a:pPr>
            <a:r>
              <a:rPr lang="en-US" sz="1200" b="1" dirty="0">
                <a:solidFill>
                  <a:schemeClr val="bg1"/>
                </a:solidFill>
              </a:rPr>
              <a:t>Antonio  |  1.5 min</a:t>
            </a:r>
            <a:endParaRPr lang="en-US" sz="1200" dirty="0"/>
          </a:p>
        </p:txBody>
      </p:sp>
      <p:sp>
        <p:nvSpPr>
          <p:cNvPr id="6" name="ERD panel"/>
          <p:cNvSpPr/>
          <p:nvPr/>
        </p:nvSpPr>
        <p:spPr>
          <a:xfrm>
            <a:off x="548640" y="1417320"/>
            <a:ext cx="6035040" cy="3611880"/>
          </a:xfrm>
          <a:prstGeom prst="roundRect">
            <a:avLst>
              <a:gd name="adj" fmla="val 2532"/>
            </a:avLst>
          </a:prstGeom>
          <a:solidFill>
            <a:schemeClr val="bg2"/>
          </a:solidFill>
          <a:ln/>
        </p:spPr>
      </p:sp>
      <p:pic>
        <p:nvPicPr>
          <p:cNvPr id="7" name="Image 0" descr="Entity relationship diagram: violators, vehicles and tickets">    </p:cNvPr>
          <p:cNvPicPr>
            <a:picLocks noChangeAspect="1"/>
          </p:cNvPicPr>
          <p:nvPr/>
        </p:nvPicPr>
        <p:blipFill>
          <a:blip r:embed="rId1"/>
          <a:stretch>
            <a:fillRect/>
          </a:stretch>
        </p:blipFill>
        <p:spPr>
          <a:xfrm>
            <a:off x="548640" y="1463040"/>
            <a:ext cx="6035040" cy="3536156"/>
          </a:xfrm>
          <a:prstGeom prst="rect">
            <a:avLst/>
          </a:prstGeom>
        </p:spPr>
      </p:pic>
      <p:sp>
        <p:nvSpPr>
          <p:cNvPr id="8" name="ERD caption"/>
          <p:cNvSpPr txBox="1"/>
          <p:nvPr/>
        </p:nvSpPr>
        <p:spPr>
          <a:xfrm>
            <a:off x="548640" y="5074920"/>
            <a:ext cx="6035040" cy="274320"/>
          </a:xfrm>
          <a:prstGeom prst="rect">
            <a:avLst/>
          </a:prstGeom>
          <a:noFill/>
          <a:ln/>
        </p:spPr>
        <p:txBody>
          <a:bodyPr wrap="square" lIns="0" tIns="0" rIns="0" bIns="0" rtlCol="0" anchor="t"/>
          <a:lstStyle/>
          <a:p>
            <a:pPr algn="ctr" indent="0" marL="0">
              <a:buNone/>
            </a:pPr>
            <a:r>
              <a:rPr lang="en-US" sz="1200" i="1" dirty="0">
                <a:solidFill>
                  <a:schemeClr val="accent6"/>
                </a:solidFill>
              </a:rPr>
              <a:t>Core entities of the normalized 3NF model: violators, vehicles, tickets</a:t>
            </a:r>
            <a:endParaRPr lang="en-US" sz="1200" dirty="0"/>
          </a:p>
        </p:txBody>
      </p:sp>
      <p:sp>
        <p:nvSpPr>
          <p:cNvPr id="9" name="Scaling statement"/>
          <p:cNvSpPr/>
          <p:nvPr/>
        </p:nvSpPr>
        <p:spPr>
          <a:xfrm>
            <a:off x="548640" y="5486400"/>
            <a:ext cx="6035040" cy="685800"/>
          </a:xfrm>
          <a:prstGeom prst="roundRect">
            <a:avLst>
              <a:gd name="adj" fmla="val 13333"/>
            </a:avLst>
          </a:prstGeom>
          <a:solidFill>
            <a:schemeClr val="tx2"/>
          </a:solidFill>
          <a:ln/>
        </p:spPr>
      </p:sp>
      <p:sp>
        <p:nvSpPr>
          <p:cNvPr id="10" name="Scaling statement text"/>
          <p:cNvSpPr txBox="1"/>
          <p:nvPr/>
        </p:nvSpPr>
        <p:spPr>
          <a:xfrm>
            <a:off x="777240" y="5486400"/>
            <a:ext cx="5577840" cy="685800"/>
          </a:xfrm>
          <a:prstGeom prst="rect">
            <a:avLst/>
          </a:prstGeom>
          <a:noFill/>
          <a:ln/>
        </p:spPr>
        <p:txBody>
          <a:bodyPr wrap="square" lIns="0" tIns="0" rIns="0" bIns="0" rtlCol="0" anchor="ctr"/>
          <a:lstStyle/>
          <a:p>
            <a:pPr indent="0" marL="0">
              <a:buNone/>
            </a:pPr>
            <a:r>
              <a:rPr lang="en-US" sz="1400" b="1" dirty="0">
                <a:solidFill>
                  <a:schemeClr val="bg1"/>
                </a:solidFill>
              </a:rPr>
              <a:t>Scales gracefully from a single checkpoint terminal to a nationwide police cloud.</a:t>
            </a:r>
            <a:endParaRPr lang="en-US" sz="1400" dirty="0"/>
          </a:p>
        </p:txBody>
      </p:sp>
      <p:sp>
        <p:nvSpPr>
          <p:cNvPr id="11" name="Tier 1 card"/>
          <p:cNvSpPr/>
          <p:nvPr/>
        </p:nvSpPr>
        <p:spPr>
          <a:xfrm>
            <a:off x="6858000" y="1417320"/>
            <a:ext cx="4782312" cy="2011680"/>
          </a:xfrm>
          <a:prstGeom prst="roundRect">
            <a:avLst>
              <a:gd name="adj" fmla="val 4545"/>
            </a:avLst>
          </a:prstGeom>
          <a:solidFill>
            <a:schemeClr val="bg2"/>
          </a:solidFill>
          <a:ln/>
        </p:spPr>
      </p:sp>
      <p:sp>
        <p:nvSpPr>
          <p:cNvPr id="12" name="Tier 1 label"/>
          <p:cNvSpPr txBox="1"/>
          <p:nvPr/>
        </p:nvSpPr>
        <p:spPr>
          <a:xfrm>
            <a:off x="7086600" y="1572768"/>
            <a:ext cx="4389120" cy="256032"/>
          </a:xfrm>
          <a:prstGeom prst="rect">
            <a:avLst/>
          </a:prstGeom>
          <a:noFill/>
          <a:ln/>
        </p:spPr>
        <p:txBody>
          <a:bodyPr wrap="square" lIns="0" tIns="0" rIns="0" bIns="0" rtlCol="0" anchor="t"/>
          <a:lstStyle/>
          <a:p>
            <a:pPr indent="0" marL="0">
              <a:buNone/>
            </a:pPr>
            <a:r>
              <a:rPr lang="en-US" sz="1200" b="1" spc="100" kern="0" dirty="0">
                <a:solidFill>
                  <a:schemeClr val="accent2"/>
                </a:solidFill>
              </a:rPr>
              <a:t>TIER 1  |  PROTOTYPE: EMBEDDED SQLITE</a:t>
            </a:r>
            <a:endParaRPr lang="en-US" sz="1200" dirty="0"/>
          </a:p>
        </p:txBody>
      </p:sp>
      <p:sp>
        <p:nvSpPr>
          <p:cNvPr id="13" name="Tier 1 details"/>
          <p:cNvSpPr txBox="1"/>
          <p:nvPr/>
        </p:nvSpPr>
        <p:spPr>
          <a:xfrm>
            <a:off x="7086600" y="1874520"/>
            <a:ext cx="4343400" cy="150876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1"/>
                </a:solidFill>
              </a:rPr>
              <a:t>Single-table design: </a:t>
            </a:r>
            <a:pPr indent="0" marL="0">
              <a:buNone/>
            </a:pPr>
            <a:r>
              <a:rPr lang="en-US" sz="1400" dirty="0">
                <a:solidFill>
                  <a:schemeClr val="tx1"/>
                </a:solidFill>
              </a:rPr>
              <a:t>edge-optimized violations entity</a:t>
            </a:r>
            <a:endParaRPr lang="en-US" sz="1400" dirty="0"/>
          </a:p>
          <a:p>
            <a:pPr marL="177800" indent="-177800">
              <a:spcAft>
                <a:spcPts val="600"/>
              </a:spcAft>
              <a:buSzPct val="100000"/>
              <a:buChar char="•"/>
            </a:pPr>
            <a:r>
              <a:rPr lang="en-US" sz="1400" b="1" dirty="0">
                <a:solidFill>
                  <a:schemeClr val="tx1"/>
                </a:solidFill>
              </a:rPr>
              <a:t>20 synchronized columns: </a:t>
            </a:r>
            <a:pPr indent="0" marL="0">
              <a:buNone/>
            </a:pPr>
            <a:r>
              <a:rPr lang="en-US" sz="1400" dirty="0">
                <a:solidFill>
                  <a:schemeClr val="tx1"/>
                </a:solidFill>
              </a:rPr>
              <a:t>ticket, driver, vehicle, itemized violations, overrides, evidence</a:t>
            </a:r>
            <a:endParaRPr lang="en-US" sz="1400" dirty="0"/>
          </a:p>
          <a:p>
            <a:pPr marL="177800" indent="-177800">
              <a:spcAft>
                <a:spcPts val="600"/>
              </a:spcAft>
              <a:buSzPct val="100000"/>
              <a:buChar char="•"/>
            </a:pPr>
            <a:r>
              <a:rPr lang="en-US" sz="1400" b="1" dirty="0">
                <a:solidFill>
                  <a:schemeClr val="tx1"/>
                </a:solidFill>
              </a:rPr>
              <a:t>Sub-millisecond local reads/writes, </a:t>
            </a:r>
            <a:pPr indent="0" marL="0">
              <a:buNone/>
            </a:pPr>
            <a:r>
              <a:rPr lang="en-US" sz="1400" dirty="0">
                <a:solidFill>
                  <a:schemeClr val="tx1"/>
                </a:solidFill>
              </a:rPr>
              <a:t>zero socket overhead</a:t>
            </a:r>
            <a:endParaRPr lang="en-US" sz="1400" dirty="0"/>
          </a:p>
        </p:txBody>
      </p:sp>
      <p:sp>
        <p:nvSpPr>
          <p:cNvPr id="14" name="Tier 2 card"/>
          <p:cNvSpPr/>
          <p:nvPr/>
        </p:nvSpPr>
        <p:spPr>
          <a:xfrm>
            <a:off x="6858000" y="3611880"/>
            <a:ext cx="4782312" cy="2560320"/>
          </a:xfrm>
          <a:prstGeom prst="roundRect">
            <a:avLst>
              <a:gd name="adj" fmla="val 3571"/>
            </a:avLst>
          </a:prstGeom>
          <a:solidFill>
            <a:schemeClr val="tx2"/>
          </a:solidFill>
          <a:ln/>
        </p:spPr>
      </p:sp>
      <p:sp>
        <p:nvSpPr>
          <p:cNvPr id="15" name="Tier 2 label"/>
          <p:cNvSpPr txBox="1"/>
          <p:nvPr/>
        </p:nvSpPr>
        <p:spPr>
          <a:xfrm>
            <a:off x="7086600" y="3767328"/>
            <a:ext cx="4389120" cy="256032"/>
          </a:xfrm>
          <a:prstGeom prst="rect">
            <a:avLst/>
          </a:prstGeom>
          <a:noFill/>
          <a:ln/>
        </p:spPr>
        <p:txBody>
          <a:bodyPr wrap="square" lIns="0" tIns="0" rIns="0" bIns="0" rtlCol="0" anchor="t"/>
          <a:lstStyle/>
          <a:p>
            <a:pPr indent="0" marL="0">
              <a:buNone/>
            </a:pPr>
            <a:r>
              <a:rPr lang="en-US" sz="1200" b="1" spc="100" kern="0" dirty="0">
                <a:solidFill>
                  <a:schemeClr val="accent1"/>
                </a:solidFill>
              </a:rPr>
              <a:t>TIER 2  |  TARGET CLOUD: NORMALIZED 3NF</a:t>
            </a:r>
            <a:endParaRPr lang="en-US" sz="1200" dirty="0"/>
          </a:p>
        </p:txBody>
      </p:sp>
      <p:sp>
        <p:nvSpPr>
          <p:cNvPr id="16" name="Entity chip OFFICERS"/>
          <p:cNvSpPr/>
          <p:nvPr/>
        </p:nvSpPr>
        <p:spPr>
          <a:xfrm>
            <a:off x="7086600" y="4114800"/>
            <a:ext cx="2103120" cy="283464"/>
          </a:xfrm>
          <a:prstGeom prst="roundRect">
            <a:avLst>
              <a:gd name="adj" fmla="val 19355"/>
            </a:avLst>
          </a:prstGeom>
          <a:solidFill>
            <a:schemeClr val="tx1"/>
          </a:solidFill>
          <a:ln/>
        </p:spPr>
      </p:sp>
      <p:sp>
        <p:nvSpPr>
          <p:cNvPr id="17" name="Entity label OFFICERS"/>
          <p:cNvSpPr txBox="1"/>
          <p:nvPr/>
        </p:nvSpPr>
        <p:spPr>
          <a:xfrm>
            <a:off x="7086600" y="4114800"/>
            <a:ext cx="2103120" cy="283464"/>
          </a:xfrm>
          <a:prstGeom prst="rect">
            <a:avLst/>
          </a:prstGeom>
          <a:noFill/>
          <a:ln/>
        </p:spPr>
        <p:txBody>
          <a:bodyPr wrap="square" lIns="0" tIns="0" rIns="0" bIns="0" rtlCol="0" anchor="ctr"/>
          <a:lstStyle/>
          <a:p>
            <a:pPr algn="ctr" indent="0" marL="0">
              <a:buNone/>
            </a:pPr>
            <a:r>
              <a:rPr lang="en-US" sz="1100" b="1" dirty="0">
                <a:solidFill>
                  <a:schemeClr val="bg1"/>
                </a:solidFill>
              </a:rPr>
              <a:t>OFFICERS</a:t>
            </a:r>
            <a:endParaRPr lang="en-US" sz="1100" dirty="0"/>
          </a:p>
        </p:txBody>
      </p:sp>
      <p:sp>
        <p:nvSpPr>
          <p:cNvPr id="18" name="Entity chip CHECKPOINTS"/>
          <p:cNvSpPr/>
          <p:nvPr/>
        </p:nvSpPr>
        <p:spPr>
          <a:xfrm>
            <a:off x="9281160" y="4114800"/>
            <a:ext cx="2103120" cy="283464"/>
          </a:xfrm>
          <a:prstGeom prst="roundRect">
            <a:avLst>
              <a:gd name="adj" fmla="val 19355"/>
            </a:avLst>
          </a:prstGeom>
          <a:solidFill>
            <a:schemeClr val="tx1"/>
          </a:solidFill>
          <a:ln/>
        </p:spPr>
      </p:sp>
      <p:sp>
        <p:nvSpPr>
          <p:cNvPr id="19" name="Entity label CHECKPOINTS"/>
          <p:cNvSpPr txBox="1"/>
          <p:nvPr/>
        </p:nvSpPr>
        <p:spPr>
          <a:xfrm>
            <a:off x="9281160" y="4114800"/>
            <a:ext cx="2103120" cy="283464"/>
          </a:xfrm>
          <a:prstGeom prst="rect">
            <a:avLst/>
          </a:prstGeom>
          <a:noFill/>
          <a:ln/>
        </p:spPr>
        <p:txBody>
          <a:bodyPr wrap="square" lIns="0" tIns="0" rIns="0" bIns="0" rtlCol="0" anchor="ctr"/>
          <a:lstStyle/>
          <a:p>
            <a:pPr algn="ctr" indent="0" marL="0">
              <a:buNone/>
            </a:pPr>
            <a:r>
              <a:rPr lang="en-US" sz="1100" b="1" dirty="0">
                <a:solidFill>
                  <a:schemeClr val="bg1"/>
                </a:solidFill>
              </a:rPr>
              <a:t>CHECKPOINTS</a:t>
            </a:r>
            <a:endParaRPr lang="en-US" sz="1100" dirty="0"/>
          </a:p>
        </p:txBody>
      </p:sp>
      <p:sp>
        <p:nvSpPr>
          <p:cNvPr id="20" name="Entity chip VIOLATORS"/>
          <p:cNvSpPr/>
          <p:nvPr/>
        </p:nvSpPr>
        <p:spPr>
          <a:xfrm>
            <a:off x="7086600" y="4462272"/>
            <a:ext cx="2103120" cy="283464"/>
          </a:xfrm>
          <a:prstGeom prst="roundRect">
            <a:avLst>
              <a:gd name="adj" fmla="val 19355"/>
            </a:avLst>
          </a:prstGeom>
          <a:solidFill>
            <a:schemeClr val="tx1"/>
          </a:solidFill>
          <a:ln/>
        </p:spPr>
      </p:sp>
      <p:sp>
        <p:nvSpPr>
          <p:cNvPr id="21" name="Entity label VIOLATORS"/>
          <p:cNvSpPr txBox="1"/>
          <p:nvPr/>
        </p:nvSpPr>
        <p:spPr>
          <a:xfrm>
            <a:off x="7086600" y="4462272"/>
            <a:ext cx="2103120" cy="283464"/>
          </a:xfrm>
          <a:prstGeom prst="rect">
            <a:avLst/>
          </a:prstGeom>
          <a:noFill/>
          <a:ln/>
        </p:spPr>
        <p:txBody>
          <a:bodyPr wrap="square" lIns="0" tIns="0" rIns="0" bIns="0" rtlCol="0" anchor="ctr"/>
          <a:lstStyle/>
          <a:p>
            <a:pPr algn="ctr" indent="0" marL="0">
              <a:buNone/>
            </a:pPr>
            <a:r>
              <a:rPr lang="en-US" sz="1100" b="1" dirty="0">
                <a:solidFill>
                  <a:schemeClr val="bg1"/>
                </a:solidFill>
              </a:rPr>
              <a:t>VIOLATORS</a:t>
            </a:r>
            <a:endParaRPr lang="en-US" sz="1100" dirty="0"/>
          </a:p>
        </p:txBody>
      </p:sp>
      <p:sp>
        <p:nvSpPr>
          <p:cNvPr id="22" name="Entity chip VEHICLES"/>
          <p:cNvSpPr/>
          <p:nvPr/>
        </p:nvSpPr>
        <p:spPr>
          <a:xfrm>
            <a:off x="9281160" y="4462272"/>
            <a:ext cx="2103120" cy="283464"/>
          </a:xfrm>
          <a:prstGeom prst="roundRect">
            <a:avLst>
              <a:gd name="adj" fmla="val 19355"/>
            </a:avLst>
          </a:prstGeom>
          <a:solidFill>
            <a:schemeClr val="tx1"/>
          </a:solidFill>
          <a:ln/>
        </p:spPr>
      </p:sp>
      <p:sp>
        <p:nvSpPr>
          <p:cNvPr id="23" name="Entity label VEHICLES"/>
          <p:cNvSpPr txBox="1"/>
          <p:nvPr/>
        </p:nvSpPr>
        <p:spPr>
          <a:xfrm>
            <a:off x="9281160" y="4462272"/>
            <a:ext cx="2103120" cy="283464"/>
          </a:xfrm>
          <a:prstGeom prst="rect">
            <a:avLst/>
          </a:prstGeom>
          <a:noFill/>
          <a:ln/>
        </p:spPr>
        <p:txBody>
          <a:bodyPr wrap="square" lIns="0" tIns="0" rIns="0" bIns="0" rtlCol="0" anchor="ctr"/>
          <a:lstStyle/>
          <a:p>
            <a:pPr algn="ctr" indent="0" marL="0">
              <a:buNone/>
            </a:pPr>
            <a:r>
              <a:rPr lang="en-US" sz="1100" b="1" dirty="0">
                <a:solidFill>
                  <a:schemeClr val="bg1"/>
                </a:solidFill>
              </a:rPr>
              <a:t>VEHICLES</a:t>
            </a:r>
            <a:endParaRPr lang="en-US" sz="1100" dirty="0"/>
          </a:p>
        </p:txBody>
      </p:sp>
      <p:sp>
        <p:nvSpPr>
          <p:cNvPr id="24" name="Entity chip OFFENSES"/>
          <p:cNvSpPr/>
          <p:nvPr/>
        </p:nvSpPr>
        <p:spPr>
          <a:xfrm>
            <a:off x="7086600" y="4809744"/>
            <a:ext cx="2103120" cy="283464"/>
          </a:xfrm>
          <a:prstGeom prst="roundRect">
            <a:avLst>
              <a:gd name="adj" fmla="val 19355"/>
            </a:avLst>
          </a:prstGeom>
          <a:solidFill>
            <a:schemeClr val="tx1"/>
          </a:solidFill>
          <a:ln/>
        </p:spPr>
      </p:sp>
      <p:sp>
        <p:nvSpPr>
          <p:cNvPr id="25" name="Entity label OFFENSES"/>
          <p:cNvSpPr txBox="1"/>
          <p:nvPr/>
        </p:nvSpPr>
        <p:spPr>
          <a:xfrm>
            <a:off x="7086600" y="4809744"/>
            <a:ext cx="2103120" cy="283464"/>
          </a:xfrm>
          <a:prstGeom prst="rect">
            <a:avLst/>
          </a:prstGeom>
          <a:noFill/>
          <a:ln/>
        </p:spPr>
        <p:txBody>
          <a:bodyPr wrap="square" lIns="0" tIns="0" rIns="0" bIns="0" rtlCol="0" anchor="ctr"/>
          <a:lstStyle/>
          <a:p>
            <a:pPr algn="ctr" indent="0" marL="0">
              <a:buNone/>
            </a:pPr>
            <a:r>
              <a:rPr lang="en-US" sz="1100" b="1" dirty="0">
                <a:solidFill>
                  <a:schemeClr val="bg1"/>
                </a:solidFill>
              </a:rPr>
              <a:t>OFFENSES</a:t>
            </a:r>
            <a:endParaRPr lang="en-US" sz="1100" dirty="0"/>
          </a:p>
        </p:txBody>
      </p:sp>
      <p:sp>
        <p:nvSpPr>
          <p:cNvPr id="26" name="Entity chip TICKETS"/>
          <p:cNvSpPr/>
          <p:nvPr/>
        </p:nvSpPr>
        <p:spPr>
          <a:xfrm>
            <a:off x="9281160" y="4809744"/>
            <a:ext cx="2103120" cy="283464"/>
          </a:xfrm>
          <a:prstGeom prst="roundRect">
            <a:avLst>
              <a:gd name="adj" fmla="val 19355"/>
            </a:avLst>
          </a:prstGeom>
          <a:solidFill>
            <a:schemeClr val="tx1"/>
          </a:solidFill>
          <a:ln/>
        </p:spPr>
      </p:sp>
      <p:sp>
        <p:nvSpPr>
          <p:cNvPr id="27" name="Entity label TICKETS"/>
          <p:cNvSpPr txBox="1"/>
          <p:nvPr/>
        </p:nvSpPr>
        <p:spPr>
          <a:xfrm>
            <a:off x="9281160" y="4809744"/>
            <a:ext cx="2103120" cy="283464"/>
          </a:xfrm>
          <a:prstGeom prst="rect">
            <a:avLst/>
          </a:prstGeom>
          <a:noFill/>
          <a:ln/>
        </p:spPr>
        <p:txBody>
          <a:bodyPr wrap="square" lIns="0" tIns="0" rIns="0" bIns="0" rtlCol="0" anchor="ctr"/>
          <a:lstStyle/>
          <a:p>
            <a:pPr algn="ctr" indent="0" marL="0">
              <a:buNone/>
            </a:pPr>
            <a:r>
              <a:rPr lang="en-US" sz="1100" b="1" dirty="0">
                <a:solidFill>
                  <a:schemeClr val="bg1"/>
                </a:solidFill>
              </a:rPr>
              <a:t>TICKETS</a:t>
            </a:r>
            <a:endParaRPr lang="en-US" sz="1100" dirty="0"/>
          </a:p>
        </p:txBody>
      </p:sp>
      <p:sp>
        <p:nvSpPr>
          <p:cNvPr id="28" name="Entity chip TICKET_OFFENSES"/>
          <p:cNvSpPr/>
          <p:nvPr/>
        </p:nvSpPr>
        <p:spPr>
          <a:xfrm>
            <a:off x="7086600" y="5157216"/>
            <a:ext cx="2103120" cy="283464"/>
          </a:xfrm>
          <a:prstGeom prst="roundRect">
            <a:avLst>
              <a:gd name="adj" fmla="val 19355"/>
            </a:avLst>
          </a:prstGeom>
          <a:solidFill>
            <a:schemeClr val="tx1"/>
          </a:solidFill>
          <a:ln/>
        </p:spPr>
      </p:sp>
      <p:sp>
        <p:nvSpPr>
          <p:cNvPr id="29" name="Entity label TICKET_OFFENSES"/>
          <p:cNvSpPr txBox="1"/>
          <p:nvPr/>
        </p:nvSpPr>
        <p:spPr>
          <a:xfrm>
            <a:off x="7086600" y="5157216"/>
            <a:ext cx="2103120" cy="283464"/>
          </a:xfrm>
          <a:prstGeom prst="rect">
            <a:avLst/>
          </a:prstGeom>
          <a:noFill/>
          <a:ln/>
        </p:spPr>
        <p:txBody>
          <a:bodyPr wrap="square" lIns="0" tIns="0" rIns="0" bIns="0" rtlCol="0" anchor="ctr"/>
          <a:lstStyle/>
          <a:p>
            <a:pPr algn="ctr" indent="0" marL="0">
              <a:buNone/>
            </a:pPr>
            <a:r>
              <a:rPr lang="en-US" sz="1100" b="1" dirty="0">
                <a:solidFill>
                  <a:schemeClr val="bg1"/>
                </a:solidFill>
              </a:rPr>
              <a:t>TICKET_OFFENSES</a:t>
            </a:r>
            <a:endParaRPr lang="en-US" sz="1100" dirty="0"/>
          </a:p>
        </p:txBody>
      </p:sp>
      <p:sp>
        <p:nvSpPr>
          <p:cNvPr id="30" name="Entity chip PAYMENTS"/>
          <p:cNvSpPr/>
          <p:nvPr/>
        </p:nvSpPr>
        <p:spPr>
          <a:xfrm>
            <a:off x="9281160" y="5157216"/>
            <a:ext cx="2103120" cy="283464"/>
          </a:xfrm>
          <a:prstGeom prst="roundRect">
            <a:avLst>
              <a:gd name="adj" fmla="val 19355"/>
            </a:avLst>
          </a:prstGeom>
          <a:solidFill>
            <a:schemeClr val="tx1"/>
          </a:solidFill>
          <a:ln/>
        </p:spPr>
      </p:sp>
      <p:sp>
        <p:nvSpPr>
          <p:cNvPr id="31" name="Entity label PAYMENTS"/>
          <p:cNvSpPr txBox="1"/>
          <p:nvPr/>
        </p:nvSpPr>
        <p:spPr>
          <a:xfrm>
            <a:off x="9281160" y="5157216"/>
            <a:ext cx="2103120" cy="283464"/>
          </a:xfrm>
          <a:prstGeom prst="rect">
            <a:avLst/>
          </a:prstGeom>
          <a:noFill/>
          <a:ln/>
        </p:spPr>
        <p:txBody>
          <a:bodyPr wrap="square" lIns="0" tIns="0" rIns="0" bIns="0" rtlCol="0" anchor="ctr"/>
          <a:lstStyle/>
          <a:p>
            <a:pPr algn="ctr" indent="0" marL="0">
              <a:buNone/>
            </a:pPr>
            <a:r>
              <a:rPr lang="en-US" sz="1100" b="1" dirty="0">
                <a:solidFill>
                  <a:schemeClr val="bg1"/>
                </a:solidFill>
              </a:rPr>
              <a:t>PAYMENTS</a:t>
            </a:r>
            <a:endParaRPr lang="en-US" sz="1100" dirty="0"/>
          </a:p>
        </p:txBody>
      </p:sp>
      <p:sp>
        <p:nvSpPr>
          <p:cNvPr id="32" name="Entity chip AUDIT_LOGS"/>
          <p:cNvSpPr/>
          <p:nvPr/>
        </p:nvSpPr>
        <p:spPr>
          <a:xfrm>
            <a:off x="7086600" y="5504688"/>
            <a:ext cx="2103120" cy="283464"/>
          </a:xfrm>
          <a:prstGeom prst="roundRect">
            <a:avLst>
              <a:gd name="adj" fmla="val 19355"/>
            </a:avLst>
          </a:prstGeom>
          <a:solidFill>
            <a:schemeClr val="tx1"/>
          </a:solidFill>
          <a:ln/>
        </p:spPr>
      </p:sp>
      <p:sp>
        <p:nvSpPr>
          <p:cNvPr id="33" name="Entity label AUDIT_LOGS"/>
          <p:cNvSpPr txBox="1"/>
          <p:nvPr/>
        </p:nvSpPr>
        <p:spPr>
          <a:xfrm>
            <a:off x="7086600" y="5504688"/>
            <a:ext cx="2103120" cy="283464"/>
          </a:xfrm>
          <a:prstGeom prst="rect">
            <a:avLst/>
          </a:prstGeom>
          <a:noFill/>
          <a:ln/>
        </p:spPr>
        <p:txBody>
          <a:bodyPr wrap="square" lIns="0" tIns="0" rIns="0" bIns="0" rtlCol="0" anchor="ctr"/>
          <a:lstStyle/>
          <a:p>
            <a:pPr algn="ctr" indent="0" marL="0">
              <a:buNone/>
            </a:pPr>
            <a:r>
              <a:rPr lang="en-US" sz="1100" b="1" dirty="0">
                <a:solidFill>
                  <a:schemeClr val="bg1"/>
                </a:solidFill>
              </a:rPr>
              <a:t>AUDIT_LOGS</a:t>
            </a:r>
            <a:endParaRPr lang="en-US" sz="1100" dirty="0"/>
          </a:p>
        </p:txBody>
      </p:sp>
      <p:sp>
        <p:nvSpPr>
          <p:cNvPr id="34" name="Tier 2 note"/>
          <p:cNvSpPr txBox="1"/>
          <p:nvPr/>
        </p:nvSpPr>
        <p:spPr>
          <a:xfrm>
            <a:off x="9281160" y="5486400"/>
            <a:ext cx="2240280" cy="640080"/>
          </a:xfrm>
          <a:prstGeom prst="rect">
            <a:avLst/>
          </a:prstGeom>
          <a:noFill/>
          <a:ln/>
        </p:spPr>
        <p:txBody>
          <a:bodyPr wrap="square" lIns="0" tIns="0" rIns="0" bIns="0" rtlCol="0" anchor="t"/>
          <a:lstStyle/>
          <a:p>
            <a:pPr indent="0" marL="0">
              <a:buNone/>
            </a:pPr>
            <a:r>
              <a:rPr lang="en-US" sz="1000" i="1" dirty="0">
                <a:solidFill>
                  <a:schemeClr val="bg2"/>
                </a:solidFill>
              </a:rPr>
              <a:t>Offenses = JAO 2014-01 schedule; Payments = Treasury OR; audit logs immutable.</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Modular Decomposition: Structure Chart</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3: SYSTEM DESIGN &amp; ARCHITECTURE (15 PTS)</a:t>
            </a:r>
            <a:endParaRPr lang="en-US" sz="1100" dirty="0"/>
          </a:p>
        </p:txBody>
      </p:sp>
      <p:sp>
        <p:nvSpPr>
          <p:cNvPr id="4" name="Speaker chip"/>
          <p:cNvSpPr/>
          <p:nvPr/>
        </p:nvSpPr>
        <p:spPr>
          <a:xfrm>
            <a:off x="9537192" y="384048"/>
            <a:ext cx="2103120" cy="365760"/>
          </a:xfrm>
          <a:prstGeom prst="roundRect">
            <a:avLst>
              <a:gd name="adj" fmla="val 50000"/>
            </a:avLst>
          </a:prstGeom>
          <a:solidFill>
            <a:schemeClr val="tx2"/>
          </a:solidFill>
          <a:ln/>
        </p:spPr>
      </p:sp>
      <p:sp>
        <p:nvSpPr>
          <p:cNvPr id="5" name="Speaker label"/>
          <p:cNvSpPr txBox="1"/>
          <p:nvPr/>
        </p:nvSpPr>
        <p:spPr>
          <a:xfrm>
            <a:off x="9537192" y="384048"/>
            <a:ext cx="2103120" cy="365760"/>
          </a:xfrm>
          <a:prstGeom prst="rect">
            <a:avLst/>
          </a:prstGeom>
          <a:noFill/>
          <a:ln/>
        </p:spPr>
        <p:txBody>
          <a:bodyPr wrap="square" lIns="0" tIns="0" rIns="0" bIns="0" rtlCol="0" anchor="ctr"/>
          <a:lstStyle/>
          <a:p>
            <a:pPr algn="ctr" indent="0" marL="0">
              <a:buNone/>
            </a:pPr>
            <a:r>
              <a:rPr lang="en-US" sz="1200" b="1" dirty="0">
                <a:solidFill>
                  <a:schemeClr val="bg1"/>
                </a:solidFill>
              </a:rPr>
              <a:t>Ranier  |  1.5 min</a:t>
            </a:r>
            <a:endParaRPr lang="en-US" sz="1200" dirty="0"/>
          </a:p>
        </p:txBody>
      </p:sp>
      <p:sp>
        <p:nvSpPr>
          <p:cNvPr id="6" name="Structure chart panel"/>
          <p:cNvSpPr/>
          <p:nvPr/>
        </p:nvSpPr>
        <p:spPr>
          <a:xfrm>
            <a:off x="548640" y="1371600"/>
            <a:ext cx="4215287" cy="4846320"/>
          </a:xfrm>
          <a:prstGeom prst="roundRect">
            <a:avLst>
              <a:gd name="adj" fmla="val 2169"/>
            </a:avLst>
          </a:prstGeom>
          <a:solidFill>
            <a:schemeClr val="bg2"/>
          </a:solidFill>
          <a:ln/>
        </p:spPr>
      </p:sp>
      <p:pic>
        <p:nvPicPr>
          <p:cNvPr id="7" name="Image 0" descr="HIPO structure chart for process_system with validate, capture, report, archive and logout branches">    </p:cNvPr>
          <p:cNvPicPr>
            <a:picLocks noChangeAspect="1"/>
          </p:cNvPicPr>
          <p:nvPr/>
        </p:nvPicPr>
        <p:blipFill>
          <a:blip r:embed="rId1"/>
          <a:stretch>
            <a:fillRect/>
          </a:stretch>
        </p:blipFill>
        <p:spPr>
          <a:xfrm>
            <a:off x="640080" y="1417320"/>
            <a:ext cx="4032407" cy="4754880"/>
          </a:xfrm>
          <a:prstGeom prst="rect">
            <a:avLst/>
          </a:prstGeom>
        </p:spPr>
      </p:pic>
      <p:sp>
        <p:nvSpPr>
          <p:cNvPr id="8" name="Client tier card"/>
          <p:cNvSpPr/>
          <p:nvPr/>
        </p:nvSpPr>
        <p:spPr>
          <a:xfrm>
            <a:off x="5038247" y="1371600"/>
            <a:ext cx="3186732" cy="3429000"/>
          </a:xfrm>
          <a:prstGeom prst="roundRect">
            <a:avLst>
              <a:gd name="adj" fmla="val 2869"/>
            </a:avLst>
          </a:prstGeom>
          <a:solidFill>
            <a:schemeClr val="bg2"/>
          </a:solidFill>
          <a:ln/>
        </p:spPr>
      </p:sp>
      <p:sp>
        <p:nvSpPr>
          <p:cNvPr id="9" name="Client tier label"/>
          <p:cNvSpPr txBox="1"/>
          <p:nvPr/>
        </p:nvSpPr>
        <p:spPr>
          <a:xfrm>
            <a:off x="5221127" y="1508760"/>
            <a:ext cx="2820972"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TIER 1  |  CLIENT CONTROLLERS</a:t>
            </a:r>
            <a:endParaRPr lang="en-US" sz="1100" dirty="0"/>
          </a:p>
        </p:txBody>
      </p:sp>
      <p:sp>
        <p:nvSpPr>
          <p:cNvPr id="10" name="Client tier title"/>
          <p:cNvSpPr txBox="1"/>
          <p:nvPr/>
        </p:nvSpPr>
        <p:spPr>
          <a:xfrm>
            <a:off x="5221127" y="1737360"/>
            <a:ext cx="2820972"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index.html</a:t>
            </a:r>
            <a:endParaRPr lang="en-US" sz="1500" dirty="0"/>
          </a:p>
        </p:txBody>
      </p:sp>
      <p:sp>
        <p:nvSpPr>
          <p:cNvPr id="11" name="Client tier items"/>
          <p:cNvSpPr txBox="1"/>
          <p:nvPr/>
        </p:nvSpPr>
        <p:spPr>
          <a:xfrm>
            <a:off x="5221127" y="2103120"/>
            <a:ext cx="2820972" cy="2651760"/>
          </a:xfrm>
          <a:prstGeom prst="rect">
            <a:avLst/>
          </a:prstGeom>
          <a:noFill/>
          <a:ln/>
        </p:spPr>
        <p:txBody>
          <a:bodyPr wrap="square" lIns="0" tIns="0" rIns="0" bIns="0" rtlCol="0" anchor="t"/>
          <a:lstStyle/>
          <a:p>
            <a:pPr indent="0" marL="0">
              <a:buNone/>
            </a:pPr>
            <a:r>
              <a:rPr lang="en-US" sz="1300" b="1" dirty="0">
                <a:solidFill>
                  <a:schemeClr val="tx1"/>
                </a:solidFill>
              </a:rPr>
              <a:t>1.0 Session Controller</a:t>
            </a:r>
            <a:endParaRPr lang="en-US" sz="1400" dirty="0"/>
          </a:p>
          <a:p>
            <a:pPr indent="0" marL="0">
              <a:spcAft>
                <a:spcPts val="600"/>
              </a:spcAft>
              <a:buNone/>
            </a:pPr>
            <a:r>
              <a:rPr lang="en-US" sz="1100" dirty="0">
                <a:solidFill>
                  <a:schemeClr val="accent6"/>
                </a:solidFill>
              </a:rPr>
              <a:t>syncOfficerSession</a:t>
            </a:r>
            <a:endParaRPr lang="en-US" sz="1400" dirty="0"/>
          </a:p>
          <a:p>
            <a:pPr indent="0" marL="0">
              <a:buNone/>
            </a:pPr>
            <a:r>
              <a:rPr lang="en-US" sz="1300" b="1" dirty="0">
                <a:solidFill>
                  <a:schemeClr val="tx1"/>
                </a:solidFill>
              </a:rPr>
              <a:t>2.0 Screening Controller</a:t>
            </a:r>
            <a:endParaRPr lang="en-US" sz="1400" dirty="0"/>
          </a:p>
          <a:p>
            <a:pPr indent="0" marL="0">
              <a:spcAft>
                <a:spcPts val="600"/>
              </a:spcAft>
              <a:buNone/>
            </a:pPr>
            <a:r>
              <a:rPr lang="en-US" sz="1100" dirty="0">
                <a:solidFill>
                  <a:schemeClr val="accent6"/>
                </a:solidFill>
              </a:rPr>
              <a:t>evaluateLocalScreening</a:t>
            </a:r>
            <a:endParaRPr lang="en-US" sz="1400" dirty="0"/>
          </a:p>
          <a:p>
            <a:pPr indent="0" marL="0">
              <a:buNone/>
            </a:pPr>
            <a:r>
              <a:rPr lang="en-US" sz="1300" b="1" dirty="0">
                <a:solidFill>
                  <a:schemeClr val="tx1"/>
                </a:solidFill>
              </a:rPr>
              <a:t>3.0 Apprehension Form</a:t>
            </a:r>
            <a:endParaRPr lang="en-US" sz="1400" dirty="0"/>
          </a:p>
          <a:p>
            <a:pPr indent="0" marL="0">
              <a:spcAft>
                <a:spcPts val="600"/>
              </a:spcAft>
              <a:buNone/>
            </a:pPr>
            <a:r>
              <a:rPr lang="en-US" sz="1100" dirty="0">
                <a:solidFill>
                  <a:schemeClr val="accent6"/>
                </a:solidFill>
              </a:rPr>
              <a:t>violationForm SUBMIT</a:t>
            </a:r>
            <a:endParaRPr lang="en-US" sz="1400" dirty="0"/>
          </a:p>
          <a:p>
            <a:pPr indent="0" marL="0">
              <a:buNone/>
            </a:pPr>
            <a:r>
              <a:rPr lang="en-US" sz="1300" b="1" dirty="0">
                <a:solidFill>
                  <a:schemeClr val="tx1"/>
                </a:solidFill>
              </a:rPr>
              <a:t>4.0 Registry Search</a:t>
            </a:r>
            <a:endParaRPr lang="en-US" sz="1400" dirty="0"/>
          </a:p>
          <a:p>
            <a:pPr indent="0" marL="0">
              <a:spcAft>
                <a:spcPts val="600"/>
              </a:spcAft>
              <a:buNone/>
            </a:pPr>
            <a:r>
              <a:rPr lang="en-US" sz="1100" dirty="0">
                <a:solidFill>
                  <a:schemeClr val="accent6"/>
                </a:solidFill>
              </a:rPr>
              <a:t>executeSearch, filterChips</a:t>
            </a:r>
            <a:endParaRPr lang="en-US" sz="1400" dirty="0"/>
          </a:p>
          <a:p>
            <a:pPr indent="0" marL="0">
              <a:buNone/>
            </a:pPr>
            <a:r>
              <a:rPr lang="en-US" sz="1300" b="1" dirty="0">
                <a:solidFill>
                  <a:schemeClr val="tx1"/>
                </a:solidFill>
              </a:rPr>
              <a:t>5.0 Payment Adjudication</a:t>
            </a:r>
            <a:endParaRPr lang="en-US" sz="1400" dirty="0"/>
          </a:p>
          <a:p>
            <a:pPr indent="0" marL="0">
              <a:spcAft>
                <a:spcPts val="600"/>
              </a:spcAft>
              <a:buNone/>
            </a:pPr>
            <a:r>
              <a:rPr lang="en-US" sz="1100" dirty="0">
                <a:solidFill>
                  <a:schemeClr val="accent6"/>
                </a:solidFill>
              </a:rPr>
              <a:t>openRecordModal, saveStatus</a:t>
            </a:r>
            <a:endParaRPr lang="en-US" sz="1400" dirty="0"/>
          </a:p>
          <a:p>
            <a:pPr indent="0" marL="0">
              <a:buNone/>
            </a:pPr>
            <a:r>
              <a:rPr lang="en-US" sz="1300" b="1" dirty="0">
                <a:solidFill>
                  <a:schemeClr val="tx1"/>
                </a:solidFill>
              </a:rPr>
              <a:t>6.0 Thermal Print</a:t>
            </a:r>
            <a:endParaRPr lang="en-US" sz="1400" dirty="0"/>
          </a:p>
          <a:p>
            <a:pPr indent="0" marL="0">
              <a:spcAft>
                <a:spcPts val="600"/>
              </a:spcAft>
              <a:buNone/>
            </a:pPr>
            <a:r>
              <a:rPr lang="en-US" sz="1100" dirty="0">
                <a:solidFill>
                  <a:schemeClr val="accent6"/>
                </a:solidFill>
              </a:rPr>
              <a:t>populateThermalReceipt</a:t>
            </a:r>
            <a:endParaRPr lang="en-US" sz="1400" dirty="0"/>
          </a:p>
        </p:txBody>
      </p:sp>
      <p:sp>
        <p:nvSpPr>
          <p:cNvPr id="12" name="Backend tier card"/>
          <p:cNvSpPr/>
          <p:nvPr/>
        </p:nvSpPr>
        <p:spPr>
          <a:xfrm>
            <a:off x="8453580" y="1371600"/>
            <a:ext cx="3186732" cy="3429000"/>
          </a:xfrm>
          <a:prstGeom prst="roundRect">
            <a:avLst>
              <a:gd name="adj" fmla="val 2869"/>
            </a:avLst>
          </a:prstGeom>
          <a:solidFill>
            <a:schemeClr val="tx2"/>
          </a:solidFill>
          <a:ln/>
        </p:spPr>
      </p:sp>
      <p:sp>
        <p:nvSpPr>
          <p:cNvPr id="13" name="Backend tier label"/>
          <p:cNvSpPr txBox="1"/>
          <p:nvPr/>
        </p:nvSpPr>
        <p:spPr>
          <a:xfrm>
            <a:off x="8636460" y="1508760"/>
            <a:ext cx="2820972"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TIER 2  |  BACKEND REST SERVICES</a:t>
            </a:r>
            <a:endParaRPr lang="en-US" sz="1100" dirty="0"/>
          </a:p>
        </p:txBody>
      </p:sp>
      <p:sp>
        <p:nvSpPr>
          <p:cNvPr id="14" name="Backend tier title"/>
          <p:cNvSpPr txBox="1"/>
          <p:nvPr/>
        </p:nvSpPr>
        <p:spPr>
          <a:xfrm>
            <a:off x="8636460" y="1737360"/>
            <a:ext cx="2820972" cy="274320"/>
          </a:xfrm>
          <a:prstGeom prst="rect">
            <a:avLst/>
          </a:prstGeom>
          <a:noFill/>
          <a:ln/>
        </p:spPr>
        <p:txBody>
          <a:bodyPr wrap="square" lIns="0" tIns="0" rIns="0" bIns="0" rtlCol="0" anchor="t"/>
          <a:lstStyle/>
          <a:p>
            <a:pPr indent="0" marL="0">
              <a:buNone/>
            </a:pPr>
            <a:r>
              <a:rPr lang="en-US" sz="1500" b="1" dirty="0">
                <a:solidFill>
                  <a:schemeClr val="bg1"/>
                </a:solidFill>
                <a:latin typeface="+mj-lt" pitchFamily="34" charset="0"/>
                <a:ea typeface="+mj-lt" pitchFamily="34" charset="-122"/>
                <a:cs typeface="+mj-lt" pitchFamily="34" charset="-120"/>
              </a:rPr>
              <a:t>server.js</a:t>
            </a:r>
            <a:endParaRPr lang="en-US" sz="1500" dirty="0"/>
          </a:p>
        </p:txBody>
      </p:sp>
      <p:sp>
        <p:nvSpPr>
          <p:cNvPr id="15" name="Backend tier items"/>
          <p:cNvSpPr txBox="1"/>
          <p:nvPr/>
        </p:nvSpPr>
        <p:spPr>
          <a:xfrm>
            <a:off x="8636460" y="2103120"/>
            <a:ext cx="2820972" cy="2651760"/>
          </a:xfrm>
          <a:prstGeom prst="rect">
            <a:avLst/>
          </a:prstGeom>
          <a:noFill/>
          <a:ln/>
        </p:spPr>
        <p:txBody>
          <a:bodyPr wrap="square" lIns="0" tIns="0" rIns="0" bIns="0" rtlCol="0" anchor="t"/>
          <a:lstStyle/>
          <a:p>
            <a:pPr indent="0" marL="0">
              <a:buNone/>
            </a:pPr>
            <a:r>
              <a:rPr lang="en-US" sz="1300" b="1" dirty="0">
                <a:solidFill>
                  <a:schemeClr val="bg1"/>
                </a:solidFill>
              </a:rPr>
              <a:t>8.0 Express Dispatcher</a:t>
            </a:r>
            <a:endParaRPr lang="en-US" sz="1400" dirty="0"/>
          </a:p>
          <a:p>
            <a:pPr indent="0" marL="0">
              <a:spcAft>
                <a:spcPts val="600"/>
              </a:spcAft>
              <a:buNone/>
            </a:pPr>
            <a:r>
              <a:rPr lang="en-US" sz="1100" dirty="0">
                <a:solidFill>
                  <a:schemeClr val="bg2"/>
                </a:solidFill>
              </a:rPr>
              <a:t>endpoint routers</a:t>
            </a:r>
            <a:endParaRPr lang="en-US" sz="1400" dirty="0"/>
          </a:p>
          <a:p>
            <a:pPr indent="0" marL="0">
              <a:buNone/>
            </a:pPr>
            <a:r>
              <a:rPr lang="en-US" sz="1300" b="1" dirty="0">
                <a:solidFill>
                  <a:schemeClr val="bg1"/>
                </a:solidFill>
              </a:rPr>
              <a:t>8.1 Defensive Validation</a:t>
            </a:r>
            <a:endParaRPr lang="en-US" sz="1400" dirty="0"/>
          </a:p>
          <a:p>
            <a:pPr indent="0" marL="0">
              <a:spcAft>
                <a:spcPts val="600"/>
              </a:spcAft>
              <a:buNone/>
            </a:pPr>
            <a:r>
              <a:rPr lang="en-US" sz="1100" dirty="0">
                <a:solidFill>
                  <a:schemeClr val="bg2"/>
                </a:solidFill>
              </a:rPr>
              <a:t>validateViolationPayload</a:t>
            </a:r>
            <a:endParaRPr lang="en-US" sz="1400" dirty="0"/>
          </a:p>
          <a:p>
            <a:pPr indent="0" marL="0">
              <a:buNone/>
            </a:pPr>
            <a:r>
              <a:rPr lang="en-US" sz="1300" b="1" dirty="0">
                <a:solidFill>
                  <a:schemeClr val="bg1"/>
                </a:solidFill>
              </a:rPr>
              <a:t>8.2 Screening Engine</a:t>
            </a:r>
            <a:endParaRPr lang="en-US" sz="1400" dirty="0"/>
          </a:p>
          <a:p>
            <a:pPr indent="0" marL="0">
              <a:spcAft>
                <a:spcPts val="600"/>
              </a:spcAft>
              <a:buNone/>
            </a:pPr>
            <a:r>
              <a:rPr lang="en-US" sz="1100" dirty="0">
                <a:solidFill>
                  <a:schemeClr val="bg2"/>
                </a:solidFill>
              </a:rPr>
              <a:t>assessScreening</a:t>
            </a:r>
            <a:endParaRPr lang="en-US" sz="1400" dirty="0"/>
          </a:p>
          <a:p>
            <a:pPr indent="0" marL="0">
              <a:buNone/>
            </a:pPr>
            <a:r>
              <a:rPr lang="en-US" sz="1300" b="1" dirty="0">
                <a:solidFill>
                  <a:schemeClr val="bg1"/>
                </a:solidFill>
              </a:rPr>
              <a:t>8.3 Fine Calculator</a:t>
            </a:r>
            <a:endParaRPr lang="en-US" sz="1400" dirty="0"/>
          </a:p>
          <a:p>
            <a:pPr indent="0" marL="0">
              <a:spcAft>
                <a:spcPts val="600"/>
              </a:spcAft>
              <a:buNone/>
            </a:pPr>
            <a:r>
              <a:rPr lang="en-US" sz="1100" dirty="0">
                <a:solidFill>
                  <a:schemeClr val="bg2"/>
                </a:solidFill>
              </a:rPr>
              <a:t>calculateViolationTotal</a:t>
            </a:r>
            <a:endParaRPr lang="en-US" sz="1400" dirty="0"/>
          </a:p>
          <a:p>
            <a:pPr indent="0" marL="0">
              <a:buNone/>
            </a:pPr>
            <a:r>
              <a:rPr lang="en-US" sz="1300" b="1" dirty="0">
                <a:solidFill>
                  <a:schemeClr val="bg1"/>
                </a:solidFill>
              </a:rPr>
              <a:t>8.4 Ticket ID Generator</a:t>
            </a:r>
            <a:endParaRPr lang="en-US" sz="1400" dirty="0"/>
          </a:p>
          <a:p>
            <a:pPr indent="0" marL="0">
              <a:spcAft>
                <a:spcPts val="600"/>
              </a:spcAft>
              <a:buNone/>
            </a:pPr>
            <a:r>
              <a:rPr lang="en-US" sz="1100" dirty="0">
                <a:solidFill>
                  <a:schemeClr val="bg2"/>
                </a:solidFill>
              </a:rPr>
              <a:t>generateTicketNumber</a:t>
            </a:r>
            <a:endParaRPr lang="en-US" sz="1400" dirty="0"/>
          </a:p>
          <a:p>
            <a:pPr indent="0" marL="0">
              <a:buNone/>
            </a:pPr>
            <a:r>
              <a:rPr lang="en-US" sz="1300" b="1" dirty="0">
                <a:solidFill>
                  <a:schemeClr val="bg1"/>
                </a:solidFill>
              </a:rPr>
              <a:t>8.5 SQLite Data Access</a:t>
            </a:r>
            <a:endParaRPr lang="en-US" sz="1400" dirty="0"/>
          </a:p>
          <a:p>
            <a:pPr indent="0" marL="0">
              <a:spcAft>
                <a:spcPts val="600"/>
              </a:spcAft>
              <a:buNone/>
            </a:pPr>
            <a:r>
              <a:rPr lang="en-US" sz="1100" dirty="0">
                <a:solidFill>
                  <a:schemeClr val="bg2"/>
                </a:solidFill>
              </a:rPr>
              <a:t>db.all, db.run, db.get</a:t>
            </a:r>
            <a:endParaRPr lang="en-US" sz="1400" dirty="0"/>
          </a:p>
        </p:txBody>
      </p:sp>
      <p:sp>
        <p:nvSpPr>
          <p:cNvPr id="16" name="Coupling card"/>
          <p:cNvSpPr/>
          <p:nvPr/>
        </p:nvSpPr>
        <p:spPr>
          <a:xfrm>
            <a:off x="5038247" y="4983480"/>
            <a:ext cx="6602065" cy="1234440"/>
          </a:xfrm>
          <a:prstGeom prst="roundRect">
            <a:avLst>
              <a:gd name="adj" fmla="val 7407"/>
            </a:avLst>
          </a:prstGeom>
          <a:solidFill>
            <a:schemeClr val="accent1"/>
          </a:solidFill>
          <a:ln/>
        </p:spPr>
      </p:sp>
      <p:sp>
        <p:nvSpPr>
          <p:cNvPr id="17" name="Coupling text"/>
          <p:cNvSpPr txBox="1"/>
          <p:nvPr/>
        </p:nvSpPr>
        <p:spPr>
          <a:xfrm>
            <a:off x="5266847" y="4983480"/>
            <a:ext cx="6144865" cy="1234440"/>
          </a:xfrm>
          <a:prstGeom prst="rect">
            <a:avLst/>
          </a:prstGeom>
          <a:noFill/>
          <a:ln/>
        </p:spPr>
        <p:txBody>
          <a:bodyPr wrap="square" lIns="0" tIns="0" rIns="0" bIns="0" rtlCol="0" anchor="ctr"/>
          <a:lstStyle/>
          <a:p>
            <a:pPr indent="0" marL="0">
              <a:buNone/>
            </a:pPr>
            <a:r>
              <a:rPr lang="en-US" sz="1100" b="1" spc="100" kern="0" dirty="0">
                <a:solidFill>
                  <a:schemeClr val="tx1"/>
                </a:solidFill>
              </a:rPr>
              <a:t>COUPLING CONTROL</a:t>
            </a:r>
            <a:endParaRPr lang="en-US" sz="1400" dirty="0"/>
          </a:p>
          <a:p>
            <a:pPr indent="0" marL="0">
              <a:buNone/>
            </a:pPr>
            <a:r>
              <a:rPr lang="en-US" sz="1400" dirty="0">
                <a:solidFill>
                  <a:schemeClr val="tx1"/>
                </a:solidFill>
              </a:rPr>
              <a:t>High cohesion, loose coupling: structured JSON payloads (data couples) and strict HTTP status codes (control couples).</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Technology Stack &amp; Trade-offs</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CRITERIA 3 &amp; 4: DESIGN DECISIONS</a:t>
            </a:r>
            <a:endParaRPr lang="en-US" sz="1100" dirty="0"/>
          </a:p>
        </p:txBody>
      </p:sp>
      <p:sp>
        <p:nvSpPr>
          <p:cNvPr id="4" name="Speaker chip"/>
          <p:cNvSpPr/>
          <p:nvPr/>
        </p:nvSpPr>
        <p:spPr>
          <a:xfrm>
            <a:off x="8750808" y="384048"/>
            <a:ext cx="2889504" cy="365760"/>
          </a:xfrm>
          <a:prstGeom prst="roundRect">
            <a:avLst>
              <a:gd name="adj" fmla="val 50000"/>
            </a:avLst>
          </a:prstGeom>
          <a:solidFill>
            <a:schemeClr val="tx2"/>
          </a:solidFill>
          <a:ln/>
        </p:spPr>
      </p:sp>
      <p:sp>
        <p:nvSpPr>
          <p:cNvPr id="5" name="Speaker label"/>
          <p:cNvSpPr txBox="1"/>
          <p:nvPr/>
        </p:nvSpPr>
        <p:spPr>
          <a:xfrm>
            <a:off x="8750808" y="384048"/>
            <a:ext cx="2889504" cy="365760"/>
          </a:xfrm>
          <a:prstGeom prst="rect">
            <a:avLst/>
          </a:prstGeom>
          <a:noFill/>
          <a:ln/>
        </p:spPr>
        <p:txBody>
          <a:bodyPr wrap="square" lIns="0" tIns="0" rIns="0" bIns="0" rtlCol="0" anchor="ctr"/>
          <a:lstStyle/>
          <a:p>
            <a:pPr algn="ctr" indent="0" marL="0">
              <a:buNone/>
            </a:pPr>
            <a:r>
              <a:rPr lang="en-US" sz="1200" b="1" dirty="0">
                <a:solidFill>
                  <a:schemeClr val="bg1"/>
                </a:solidFill>
              </a:rPr>
              <a:t>Benjie &amp; Antonio  |  3.0 min</a:t>
            </a:r>
            <a:endParaRPr lang="en-US" sz="1200" dirty="0"/>
          </a:p>
        </p:txBody>
      </p:sp>
      <p:sp>
        <p:nvSpPr>
          <p:cNvPr id="6" name="Stack card 1"/>
          <p:cNvSpPr/>
          <p:nvPr/>
        </p:nvSpPr>
        <p:spPr>
          <a:xfrm>
            <a:off x="548640" y="1371600"/>
            <a:ext cx="2601468" cy="3200400"/>
          </a:xfrm>
          <a:prstGeom prst="roundRect">
            <a:avLst>
              <a:gd name="adj" fmla="val 3515"/>
            </a:avLst>
          </a:prstGeom>
          <a:solidFill>
            <a:schemeClr val="bg2"/>
          </a:solidFill>
          <a:ln/>
        </p:spPr>
      </p:sp>
      <p:sp>
        <p:nvSpPr>
          <p:cNvPr id="7" name="BACKEND PLATFORM icon background"/>
          <p:cNvSpPr/>
          <p:nvPr/>
        </p:nvSpPr>
        <p:spPr>
          <a:xfrm>
            <a:off x="731520" y="1508760"/>
            <a:ext cx="457200" cy="457200"/>
          </a:xfrm>
          <a:prstGeom prst="ellipse">
            <a:avLst/>
          </a:prstGeom>
          <a:solidFill>
            <a:schemeClr val="accent2"/>
          </a:solidFill>
          <a:ln/>
        </p:spPr>
      </p:sp>
      <p:pic>
        <p:nvPicPr>
          <p:cNvPr id="8" name="Image 0" descr="BACKEND PLATFORM icon">    </p:cNvPr>
          <p:cNvPicPr>
            <a:picLocks noChangeAspect="1"/>
          </p:cNvPicPr>
          <p:nvPr/>
        </p:nvPicPr>
        <p:blipFill>
          <a:blip r:embed="rId1"/>
          <a:stretch>
            <a:fillRect/>
          </a:stretch>
        </p:blipFill>
        <p:spPr>
          <a:xfrm>
            <a:off x="850392" y="1627632"/>
            <a:ext cx="219456" cy="219456"/>
          </a:xfrm>
          <a:prstGeom prst="rect">
            <a:avLst/>
          </a:prstGeom>
        </p:spPr>
      </p:pic>
      <p:sp>
        <p:nvSpPr>
          <p:cNvPr id="9" name="Stack label 1"/>
          <p:cNvSpPr txBox="1"/>
          <p:nvPr/>
        </p:nvSpPr>
        <p:spPr>
          <a:xfrm>
            <a:off x="1280160" y="1508760"/>
            <a:ext cx="1783080" cy="457200"/>
          </a:xfrm>
          <a:prstGeom prst="rect">
            <a:avLst/>
          </a:prstGeom>
          <a:noFill/>
          <a:ln/>
        </p:spPr>
        <p:txBody>
          <a:bodyPr wrap="square" lIns="0" tIns="0" rIns="0" bIns="0" rtlCol="0" anchor="ctr"/>
          <a:lstStyle/>
          <a:p>
            <a:pPr indent="0" marL="0">
              <a:buNone/>
            </a:pPr>
            <a:r>
              <a:rPr lang="en-US" sz="1100" b="1" spc="100" kern="0" dirty="0">
                <a:solidFill>
                  <a:schemeClr val="accent2"/>
                </a:solidFill>
              </a:rPr>
              <a:t>BACKEND PLATFORM</a:t>
            </a:r>
            <a:endParaRPr lang="en-US" sz="1100" dirty="0"/>
          </a:p>
        </p:txBody>
      </p:sp>
      <p:sp>
        <p:nvSpPr>
          <p:cNvPr id="10" name="Stack name 1"/>
          <p:cNvSpPr txBox="1"/>
          <p:nvPr/>
        </p:nvSpPr>
        <p:spPr>
          <a:xfrm>
            <a:off x="731520" y="2084832"/>
            <a:ext cx="2286000" cy="5029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Node.js + Express 4.19</a:t>
            </a:r>
            <a:endParaRPr lang="en-US" sz="1600" dirty="0"/>
          </a:p>
        </p:txBody>
      </p:sp>
      <p:sp>
        <p:nvSpPr>
          <p:cNvPr id="11" name="Stack details 1"/>
          <p:cNvSpPr txBox="1"/>
          <p:nvPr/>
        </p:nvSpPr>
        <p:spPr>
          <a:xfrm>
            <a:off x="731520" y="2651760"/>
            <a:ext cx="2286000" cy="18745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Non-blocking async I/O for concurrent REST calls</a:t>
            </a:r>
            <a:endParaRPr lang="en-US" sz="1400" dirty="0"/>
          </a:p>
          <a:p>
            <a:pPr marL="177800" indent="-177800">
              <a:spcAft>
                <a:spcPts val="500"/>
              </a:spcAft>
              <a:buSzPct val="100000"/>
              <a:buChar char="•"/>
            </a:pPr>
            <a:r>
              <a:rPr lang="en-US" sz="1300" dirty="0">
                <a:solidFill>
                  <a:schemeClr val="tx1"/>
                </a:solidFill>
              </a:rPr>
              <a:t>/api/violations, /api/screen, /api/reports</a:t>
            </a:r>
            <a:endParaRPr lang="en-US" sz="1400" dirty="0"/>
          </a:p>
          <a:p>
            <a:pPr marL="177800" indent="-177800">
              <a:spcAft>
                <a:spcPts val="500"/>
              </a:spcAft>
              <a:buSzPct val="100000"/>
              <a:buChar char="•"/>
            </a:pPr>
            <a:r>
              <a:rPr lang="en-US" sz="1300" dirty="0">
                <a:solidFill>
                  <a:schemeClr val="tx1"/>
                </a:solidFill>
              </a:rPr>
              <a:t>10 MB body limit; parameterized queries stop SQL injection</a:t>
            </a:r>
            <a:endParaRPr lang="en-US" sz="1400" dirty="0"/>
          </a:p>
        </p:txBody>
      </p:sp>
      <p:sp>
        <p:nvSpPr>
          <p:cNvPr id="12" name="Stack card 2"/>
          <p:cNvSpPr/>
          <p:nvPr/>
        </p:nvSpPr>
        <p:spPr>
          <a:xfrm>
            <a:off x="3378708" y="1371600"/>
            <a:ext cx="2601468" cy="3200400"/>
          </a:xfrm>
          <a:prstGeom prst="roundRect">
            <a:avLst>
              <a:gd name="adj" fmla="val 3515"/>
            </a:avLst>
          </a:prstGeom>
          <a:solidFill>
            <a:schemeClr val="bg2"/>
          </a:solidFill>
          <a:ln/>
        </p:spPr>
      </p:sp>
      <p:sp>
        <p:nvSpPr>
          <p:cNvPr id="13" name="PERSISTENCE ENGINE icon background"/>
          <p:cNvSpPr/>
          <p:nvPr/>
        </p:nvSpPr>
        <p:spPr>
          <a:xfrm>
            <a:off x="3561588" y="1508760"/>
            <a:ext cx="457200" cy="457200"/>
          </a:xfrm>
          <a:prstGeom prst="ellipse">
            <a:avLst/>
          </a:prstGeom>
          <a:solidFill>
            <a:schemeClr val="accent2"/>
          </a:solidFill>
          <a:ln/>
        </p:spPr>
      </p:sp>
      <p:pic>
        <p:nvPicPr>
          <p:cNvPr id="14" name="Image 1" descr="PERSISTENCE ENGINE icon">    </p:cNvPr>
          <p:cNvPicPr>
            <a:picLocks noChangeAspect="1"/>
          </p:cNvPicPr>
          <p:nvPr/>
        </p:nvPicPr>
        <p:blipFill>
          <a:blip r:embed="rId2"/>
          <a:stretch>
            <a:fillRect/>
          </a:stretch>
        </p:blipFill>
        <p:spPr>
          <a:xfrm>
            <a:off x="3680460" y="1627632"/>
            <a:ext cx="219456" cy="219456"/>
          </a:xfrm>
          <a:prstGeom prst="rect">
            <a:avLst/>
          </a:prstGeom>
        </p:spPr>
      </p:pic>
      <p:sp>
        <p:nvSpPr>
          <p:cNvPr id="15" name="Stack label 2"/>
          <p:cNvSpPr txBox="1"/>
          <p:nvPr/>
        </p:nvSpPr>
        <p:spPr>
          <a:xfrm>
            <a:off x="4110228" y="1508760"/>
            <a:ext cx="1783080" cy="457200"/>
          </a:xfrm>
          <a:prstGeom prst="rect">
            <a:avLst/>
          </a:prstGeom>
          <a:noFill/>
          <a:ln/>
        </p:spPr>
        <p:txBody>
          <a:bodyPr wrap="square" lIns="0" tIns="0" rIns="0" bIns="0" rtlCol="0" anchor="ctr"/>
          <a:lstStyle/>
          <a:p>
            <a:pPr indent="0" marL="0">
              <a:buNone/>
            </a:pPr>
            <a:r>
              <a:rPr lang="en-US" sz="1100" b="1" spc="100" kern="0" dirty="0">
                <a:solidFill>
                  <a:schemeClr val="accent2"/>
                </a:solidFill>
              </a:rPr>
              <a:t>PERSISTENCE ENGINE</a:t>
            </a:r>
            <a:endParaRPr lang="en-US" sz="1100" dirty="0"/>
          </a:p>
        </p:txBody>
      </p:sp>
      <p:sp>
        <p:nvSpPr>
          <p:cNvPr id="16" name="Stack name 2"/>
          <p:cNvSpPr txBox="1"/>
          <p:nvPr/>
        </p:nvSpPr>
        <p:spPr>
          <a:xfrm>
            <a:off x="3561588" y="2084832"/>
            <a:ext cx="2286000" cy="5029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SQLite3 embedded</a:t>
            </a:r>
            <a:endParaRPr lang="en-US" sz="1600" dirty="0"/>
          </a:p>
        </p:txBody>
      </p:sp>
      <p:sp>
        <p:nvSpPr>
          <p:cNvPr id="17" name="Stack details 2"/>
          <p:cNvSpPr txBox="1"/>
          <p:nvPr/>
        </p:nvSpPr>
        <p:spPr>
          <a:xfrm>
            <a:off x="3561588" y="2651760"/>
            <a:ext cx="2286000" cy="18745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File-based ACID database (pnp_checkpoint.db)</a:t>
            </a:r>
            <a:endParaRPr lang="en-US" sz="1400" dirty="0"/>
          </a:p>
          <a:p>
            <a:pPr marL="177800" indent="-177800">
              <a:spcAft>
                <a:spcPts val="500"/>
              </a:spcAft>
              <a:buSzPct val="100000"/>
              <a:buChar char="•"/>
            </a:pPr>
            <a:r>
              <a:rPr lang="en-US" sz="1300" dirty="0">
                <a:solidFill>
                  <a:schemeClr val="tx1"/>
                </a:solidFill>
              </a:rPr>
              <a:t>Zero config, zero external services, USB-portable</a:t>
            </a:r>
            <a:endParaRPr lang="en-US" sz="1400" dirty="0"/>
          </a:p>
          <a:p>
            <a:pPr marL="177800" indent="-177800">
              <a:spcAft>
                <a:spcPts val="500"/>
              </a:spcAft>
              <a:buSzPct val="100000"/>
              <a:buChar char="•"/>
            </a:pPr>
            <a:r>
              <a:rPr lang="en-US" sz="1300" dirty="0">
                <a:solidFill>
                  <a:schemeClr val="tx1"/>
                </a:solidFill>
              </a:rPr>
              <a:t>Indexed ticket, plate, driver, time: sub-50 ms search</a:t>
            </a:r>
            <a:endParaRPr lang="en-US" sz="1400" dirty="0"/>
          </a:p>
        </p:txBody>
      </p:sp>
      <p:sp>
        <p:nvSpPr>
          <p:cNvPr id="18" name="Stack card 3"/>
          <p:cNvSpPr/>
          <p:nvPr/>
        </p:nvSpPr>
        <p:spPr>
          <a:xfrm>
            <a:off x="6208776" y="1371600"/>
            <a:ext cx="2601468" cy="3200400"/>
          </a:xfrm>
          <a:prstGeom prst="roundRect">
            <a:avLst>
              <a:gd name="adj" fmla="val 3515"/>
            </a:avLst>
          </a:prstGeom>
          <a:solidFill>
            <a:schemeClr val="bg2"/>
          </a:solidFill>
          <a:ln/>
        </p:spPr>
      </p:sp>
      <p:sp>
        <p:nvSpPr>
          <p:cNvPr id="19" name="FRONTEND INTERFACE icon background"/>
          <p:cNvSpPr/>
          <p:nvPr/>
        </p:nvSpPr>
        <p:spPr>
          <a:xfrm>
            <a:off x="6391656" y="1508760"/>
            <a:ext cx="457200" cy="457200"/>
          </a:xfrm>
          <a:prstGeom prst="ellipse">
            <a:avLst/>
          </a:prstGeom>
          <a:solidFill>
            <a:schemeClr val="accent2"/>
          </a:solidFill>
          <a:ln/>
        </p:spPr>
      </p:sp>
      <p:pic>
        <p:nvPicPr>
          <p:cNvPr id="20" name="Image 2" descr="FRONTEND INTERFACE icon">    </p:cNvPr>
          <p:cNvPicPr>
            <a:picLocks noChangeAspect="1"/>
          </p:cNvPicPr>
          <p:nvPr/>
        </p:nvPicPr>
        <p:blipFill>
          <a:blip r:embed="rId3"/>
          <a:stretch>
            <a:fillRect/>
          </a:stretch>
        </p:blipFill>
        <p:spPr>
          <a:xfrm>
            <a:off x="6510528" y="1627632"/>
            <a:ext cx="219456" cy="219456"/>
          </a:xfrm>
          <a:prstGeom prst="rect">
            <a:avLst/>
          </a:prstGeom>
        </p:spPr>
      </p:pic>
      <p:sp>
        <p:nvSpPr>
          <p:cNvPr id="21" name="Stack label 3"/>
          <p:cNvSpPr txBox="1"/>
          <p:nvPr/>
        </p:nvSpPr>
        <p:spPr>
          <a:xfrm>
            <a:off x="6940296" y="1508760"/>
            <a:ext cx="1783080" cy="457200"/>
          </a:xfrm>
          <a:prstGeom prst="rect">
            <a:avLst/>
          </a:prstGeom>
          <a:noFill/>
          <a:ln/>
        </p:spPr>
        <p:txBody>
          <a:bodyPr wrap="square" lIns="0" tIns="0" rIns="0" bIns="0" rtlCol="0" anchor="ctr"/>
          <a:lstStyle/>
          <a:p>
            <a:pPr indent="0" marL="0">
              <a:buNone/>
            </a:pPr>
            <a:r>
              <a:rPr lang="en-US" sz="1100" b="1" spc="100" kern="0" dirty="0">
                <a:solidFill>
                  <a:schemeClr val="accent2"/>
                </a:solidFill>
              </a:rPr>
              <a:t>FRONTEND INTERFACE</a:t>
            </a:r>
            <a:endParaRPr lang="en-US" sz="1100" dirty="0"/>
          </a:p>
        </p:txBody>
      </p:sp>
      <p:sp>
        <p:nvSpPr>
          <p:cNvPr id="22" name="Stack name 3"/>
          <p:cNvSpPr txBox="1"/>
          <p:nvPr/>
        </p:nvSpPr>
        <p:spPr>
          <a:xfrm>
            <a:off x="6391656" y="2084832"/>
            <a:ext cx="2286000" cy="5029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HTML5, CSS3, vanilla ES6+</a:t>
            </a:r>
            <a:endParaRPr lang="en-US" sz="1600" dirty="0"/>
          </a:p>
        </p:txBody>
      </p:sp>
      <p:sp>
        <p:nvSpPr>
          <p:cNvPr id="23" name="Stack details 3"/>
          <p:cNvSpPr txBox="1"/>
          <p:nvPr/>
        </p:nvSpPr>
        <p:spPr>
          <a:xfrm>
            <a:off x="6391656" y="2651760"/>
            <a:ext cx="2286000" cy="18745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CSS Grid &amp; Flexbox, high contrast for daylight</a:t>
            </a:r>
            <a:endParaRPr lang="en-US" sz="1400" dirty="0"/>
          </a:p>
          <a:p>
            <a:pPr marL="177800" indent="-177800">
              <a:spcAft>
                <a:spcPts val="500"/>
              </a:spcAft>
              <a:buSzPct val="100000"/>
              <a:buChar char="•"/>
            </a:pPr>
            <a:r>
              <a:rPr lang="en-US" sz="1300" dirty="0">
                <a:solidFill>
                  <a:schemeClr val="tx1"/>
                </a:solidFill>
              </a:rPr>
              <a:t>Custom @media print for 58/80 mm thermal rolls</a:t>
            </a:r>
            <a:endParaRPr lang="en-US" sz="1400" dirty="0"/>
          </a:p>
          <a:p>
            <a:pPr marL="177800" indent="-177800">
              <a:spcAft>
                <a:spcPts val="500"/>
              </a:spcAft>
              <a:buSzPct val="100000"/>
              <a:buChar char="•"/>
            </a:pPr>
            <a:r>
              <a:rPr lang="en-US" sz="1300" dirty="0">
                <a:solidFill>
                  <a:schemeClr val="tx1"/>
                </a:solidFill>
              </a:rPr>
              <a:t>Native canvas compression for evidence photos</a:t>
            </a:r>
            <a:endParaRPr lang="en-US" sz="1400" dirty="0"/>
          </a:p>
        </p:txBody>
      </p:sp>
      <p:sp>
        <p:nvSpPr>
          <p:cNvPr id="24" name="Stack card 4"/>
          <p:cNvSpPr/>
          <p:nvPr/>
        </p:nvSpPr>
        <p:spPr>
          <a:xfrm>
            <a:off x="9038844" y="1371600"/>
            <a:ext cx="2601468" cy="3200400"/>
          </a:xfrm>
          <a:prstGeom prst="roundRect">
            <a:avLst>
              <a:gd name="adj" fmla="val 3515"/>
            </a:avLst>
          </a:prstGeom>
          <a:solidFill>
            <a:schemeClr val="bg2"/>
          </a:solidFill>
          <a:ln/>
        </p:spPr>
      </p:sp>
      <p:sp>
        <p:nvSpPr>
          <p:cNvPr id="25" name="PLATFORM AUTOMATION icon background"/>
          <p:cNvSpPr/>
          <p:nvPr/>
        </p:nvSpPr>
        <p:spPr>
          <a:xfrm>
            <a:off x="9221724" y="1508760"/>
            <a:ext cx="457200" cy="457200"/>
          </a:xfrm>
          <a:prstGeom prst="ellipse">
            <a:avLst/>
          </a:prstGeom>
          <a:solidFill>
            <a:schemeClr val="accent2"/>
          </a:solidFill>
          <a:ln/>
        </p:spPr>
      </p:sp>
      <p:pic>
        <p:nvPicPr>
          <p:cNvPr id="26" name="Image 3" descr="PLATFORM AUTOMATION icon">    </p:cNvPr>
          <p:cNvPicPr>
            <a:picLocks noChangeAspect="1"/>
          </p:cNvPicPr>
          <p:nvPr/>
        </p:nvPicPr>
        <p:blipFill>
          <a:blip r:embed="rId4"/>
          <a:stretch>
            <a:fillRect/>
          </a:stretch>
        </p:blipFill>
        <p:spPr>
          <a:xfrm>
            <a:off x="9340596" y="1627632"/>
            <a:ext cx="219456" cy="219456"/>
          </a:xfrm>
          <a:prstGeom prst="rect">
            <a:avLst/>
          </a:prstGeom>
        </p:spPr>
      </p:pic>
      <p:sp>
        <p:nvSpPr>
          <p:cNvPr id="27" name="Stack label 4"/>
          <p:cNvSpPr txBox="1"/>
          <p:nvPr/>
        </p:nvSpPr>
        <p:spPr>
          <a:xfrm>
            <a:off x="9770364" y="1508760"/>
            <a:ext cx="1783080" cy="457200"/>
          </a:xfrm>
          <a:prstGeom prst="rect">
            <a:avLst/>
          </a:prstGeom>
          <a:noFill/>
          <a:ln/>
        </p:spPr>
        <p:txBody>
          <a:bodyPr wrap="square" lIns="0" tIns="0" rIns="0" bIns="0" rtlCol="0" anchor="ctr"/>
          <a:lstStyle/>
          <a:p>
            <a:pPr indent="0" marL="0">
              <a:buNone/>
            </a:pPr>
            <a:r>
              <a:rPr lang="en-US" sz="1100" b="1" spc="100" kern="0" dirty="0">
                <a:solidFill>
                  <a:schemeClr val="accent2"/>
                </a:solidFill>
              </a:rPr>
              <a:t>PLATFORM AUTOMATION</a:t>
            </a:r>
            <a:endParaRPr lang="en-US" sz="1100" dirty="0"/>
          </a:p>
        </p:txBody>
      </p:sp>
      <p:sp>
        <p:nvSpPr>
          <p:cNvPr id="28" name="Stack name 4"/>
          <p:cNvSpPr txBox="1"/>
          <p:nvPr/>
        </p:nvSpPr>
        <p:spPr>
          <a:xfrm>
            <a:off x="9221724" y="2084832"/>
            <a:ext cx="2286000" cy="5029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PowerShell &amp; Windows batch</a:t>
            </a:r>
            <a:endParaRPr lang="en-US" sz="1600" dirty="0"/>
          </a:p>
        </p:txBody>
      </p:sp>
      <p:sp>
        <p:nvSpPr>
          <p:cNvPr id="29" name="Stack details 4"/>
          <p:cNvSpPr txBox="1"/>
          <p:nvPr/>
        </p:nvSpPr>
        <p:spPr>
          <a:xfrm>
            <a:off x="9221724" y="2651760"/>
            <a:ext cx="2286000" cy="18745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Start-CVPRMS.bat: one-click launch with preflight</a:t>
            </a:r>
            <a:endParaRPr lang="en-US" sz="1400" dirty="0"/>
          </a:p>
          <a:p>
            <a:pPr marL="177800" indent="-177800">
              <a:spcAft>
                <a:spcPts val="500"/>
              </a:spcAft>
              <a:buSzPct val="100000"/>
              <a:buChar char="•"/>
            </a:pPr>
            <a:r>
              <a:rPr lang="en-US" sz="1300" dirty="0">
                <a:solidFill>
                  <a:schemeClr val="tx1"/>
                </a:solidFill>
              </a:rPr>
              <a:t>Create-CVPRMS-Shortcut.bat: PNP-badged shortcut</a:t>
            </a:r>
            <a:endParaRPr lang="en-US" sz="1400" dirty="0"/>
          </a:p>
          <a:p>
            <a:pPr marL="177800" indent="-177800">
              <a:spcAft>
                <a:spcPts val="500"/>
              </a:spcAft>
              <a:buSzPct val="100000"/>
              <a:buChar char="•"/>
            </a:pPr>
            <a:r>
              <a:rPr lang="en-US" sz="1300" dirty="0">
                <a:solidFill>
                  <a:schemeClr val="tx1"/>
                </a:solidFill>
              </a:rPr>
              <a:t>node --test: built-in runner, 14 regression tests</a:t>
            </a:r>
            <a:endParaRPr lang="en-US" sz="1400" dirty="0"/>
          </a:p>
        </p:txBody>
      </p:sp>
      <p:sp>
        <p:nvSpPr>
          <p:cNvPr id="30" name="Trade-offs label"/>
          <p:cNvSpPr txBox="1"/>
          <p:nvPr/>
        </p:nvSpPr>
        <p:spPr>
          <a:xfrm>
            <a:off x="548640" y="4736592"/>
            <a:ext cx="54864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TRADE-OFFS WE ACCEPTED</a:t>
            </a:r>
            <a:endParaRPr lang="en-US" sz="1100" dirty="0"/>
          </a:p>
        </p:txBody>
      </p:sp>
      <p:sp>
        <p:nvSpPr>
          <p:cNvPr id="31" name="Trade-off card 1"/>
          <p:cNvSpPr/>
          <p:nvPr/>
        </p:nvSpPr>
        <p:spPr>
          <a:xfrm>
            <a:off x="548640" y="5029200"/>
            <a:ext cx="3575304" cy="1188720"/>
          </a:xfrm>
          <a:prstGeom prst="roundRect">
            <a:avLst>
              <a:gd name="adj" fmla="val 7692"/>
            </a:avLst>
          </a:prstGeom>
          <a:solidFill>
            <a:schemeClr val="tx2"/>
          </a:solidFill>
          <a:ln/>
        </p:spPr>
      </p:sp>
      <p:sp>
        <p:nvSpPr>
          <p:cNvPr id="32" name="Trade-off text 1"/>
          <p:cNvSpPr txBox="1"/>
          <p:nvPr/>
        </p:nvSpPr>
        <p:spPr>
          <a:xfrm>
            <a:off x="731520" y="5029200"/>
            <a:ext cx="3200400" cy="1188720"/>
          </a:xfrm>
          <a:prstGeom prst="rect">
            <a:avLst/>
          </a:prstGeom>
          <a:noFill/>
          <a:ln/>
        </p:spPr>
        <p:txBody>
          <a:bodyPr wrap="square" lIns="0" tIns="0" rIns="0" bIns="0" rtlCol="0" anchor="ctr"/>
          <a:lstStyle/>
          <a:p>
            <a:pPr indent="0" marL="0">
              <a:buNone/>
            </a:pPr>
            <a:r>
              <a:rPr lang="en-US" sz="1300" b="1" dirty="0">
                <a:solidFill>
                  <a:schemeClr val="accent1"/>
                </a:solidFill>
              </a:rPr>
              <a:t>SQLite vs. cloud DB</a:t>
            </a:r>
            <a:endParaRPr lang="en-US" sz="1400" dirty="0"/>
          </a:p>
          <a:p>
            <a:pPr indent="0" marL="0">
              <a:buNone/>
            </a:pPr>
            <a:r>
              <a:rPr lang="en-US" sz="1200" dirty="0">
                <a:solidFill>
                  <a:schemeClr val="bg1"/>
                </a:solidFill>
              </a:rPr>
              <a:t>Zero-latency, 100% offline uptime at remote posts. Cost: no multi-writer concurrency; PostgreSQL is on the roadmap.</a:t>
            </a:r>
            <a:endParaRPr lang="en-US" sz="1400" dirty="0"/>
          </a:p>
        </p:txBody>
      </p:sp>
      <p:sp>
        <p:nvSpPr>
          <p:cNvPr id="33" name="Trade-off card 2"/>
          <p:cNvSpPr/>
          <p:nvPr/>
        </p:nvSpPr>
        <p:spPr>
          <a:xfrm>
            <a:off x="4306824" y="5029200"/>
            <a:ext cx="3575304" cy="1188720"/>
          </a:xfrm>
          <a:prstGeom prst="roundRect">
            <a:avLst>
              <a:gd name="adj" fmla="val 7692"/>
            </a:avLst>
          </a:prstGeom>
          <a:solidFill>
            <a:schemeClr val="tx2"/>
          </a:solidFill>
          <a:ln/>
        </p:spPr>
      </p:sp>
      <p:sp>
        <p:nvSpPr>
          <p:cNvPr id="34" name="Trade-off text 2"/>
          <p:cNvSpPr txBox="1"/>
          <p:nvPr/>
        </p:nvSpPr>
        <p:spPr>
          <a:xfrm>
            <a:off x="4489704" y="5029200"/>
            <a:ext cx="3200400" cy="1188720"/>
          </a:xfrm>
          <a:prstGeom prst="rect">
            <a:avLst/>
          </a:prstGeom>
          <a:noFill/>
          <a:ln/>
        </p:spPr>
        <p:txBody>
          <a:bodyPr wrap="square" lIns="0" tIns="0" rIns="0" bIns="0" rtlCol="0" anchor="ctr"/>
          <a:lstStyle/>
          <a:p>
            <a:pPr indent="0" marL="0">
              <a:buNone/>
            </a:pPr>
            <a:r>
              <a:rPr lang="en-US" sz="1300" b="1" dirty="0">
                <a:solidFill>
                  <a:schemeClr val="accent1"/>
                </a:solidFill>
              </a:rPr>
              <a:t>Vanilla ES6+ vs. SPA frameworks</a:t>
            </a:r>
            <a:endParaRPr lang="en-US" sz="1400" dirty="0"/>
          </a:p>
          <a:p>
            <a:pPr indent="0" marL="0">
              <a:buNone/>
            </a:pPr>
            <a:r>
              <a:rPr lang="en-US" sz="1200" dirty="0">
                <a:solidFill>
                  <a:schemeClr val="bg1"/>
                </a:solidFill>
              </a:rPr>
              <a:t>No build step, under 100 KB, instant load. Cost: manual DOM updates, fine for a single-screen workflow.</a:t>
            </a:r>
            <a:endParaRPr lang="en-US" sz="1400" dirty="0"/>
          </a:p>
        </p:txBody>
      </p:sp>
      <p:sp>
        <p:nvSpPr>
          <p:cNvPr id="35" name="Trade-off card 3"/>
          <p:cNvSpPr/>
          <p:nvPr/>
        </p:nvSpPr>
        <p:spPr>
          <a:xfrm>
            <a:off x="8065008" y="5029200"/>
            <a:ext cx="3575304" cy="1188720"/>
          </a:xfrm>
          <a:prstGeom prst="roundRect">
            <a:avLst>
              <a:gd name="adj" fmla="val 7692"/>
            </a:avLst>
          </a:prstGeom>
          <a:solidFill>
            <a:schemeClr val="tx2"/>
          </a:solidFill>
          <a:ln/>
        </p:spPr>
      </p:sp>
      <p:sp>
        <p:nvSpPr>
          <p:cNvPr id="36" name="Trade-off text 3"/>
          <p:cNvSpPr txBox="1"/>
          <p:nvPr/>
        </p:nvSpPr>
        <p:spPr>
          <a:xfrm>
            <a:off x="8247888" y="5029200"/>
            <a:ext cx="3200400" cy="1188720"/>
          </a:xfrm>
          <a:prstGeom prst="rect">
            <a:avLst/>
          </a:prstGeom>
          <a:noFill/>
          <a:ln/>
        </p:spPr>
        <p:txBody>
          <a:bodyPr wrap="square" lIns="0" tIns="0" rIns="0" bIns="0" rtlCol="0" anchor="ctr"/>
          <a:lstStyle/>
          <a:p>
            <a:pPr indent="0" marL="0">
              <a:buNone/>
            </a:pPr>
            <a:r>
              <a:rPr lang="en-US" sz="1300" b="1" dirty="0">
                <a:solidFill>
                  <a:schemeClr val="accent1"/>
                </a:solidFill>
              </a:rPr>
              <a:t>Local blacklist vs. live APIs</a:t>
            </a:r>
            <a:endParaRPr lang="en-US" sz="1400" dirty="0"/>
          </a:p>
          <a:p>
            <a:pPr indent="0" marL="0">
              <a:buNone/>
            </a:pPr>
            <a:r>
              <a:rPr lang="en-US" sz="1200" dirty="0">
                <a:solidFill>
                  <a:schemeClr val="bg1"/>
                </a:solidFill>
              </a:rPr>
              <a:t>Reliable demo with no VPN or IP whitelisting. Cost: curated prototype data instead of live LTO / HPG feeds.</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Core Algorithms &amp; Business Logic</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4: IMPLEMENTATION (10 PTS)</a:t>
            </a:r>
            <a:endParaRPr lang="en-US" sz="1100" dirty="0"/>
          </a:p>
        </p:txBody>
      </p:sp>
      <p:sp>
        <p:nvSpPr>
          <p:cNvPr id="4" name="Speaker chip"/>
          <p:cNvSpPr/>
          <p:nvPr/>
        </p:nvSpPr>
        <p:spPr>
          <a:xfrm>
            <a:off x="9537192" y="384048"/>
            <a:ext cx="2103120" cy="365760"/>
          </a:xfrm>
          <a:prstGeom prst="roundRect">
            <a:avLst>
              <a:gd name="adj" fmla="val 50000"/>
            </a:avLst>
          </a:prstGeom>
          <a:solidFill>
            <a:schemeClr val="tx2"/>
          </a:solidFill>
          <a:ln/>
        </p:spPr>
      </p:sp>
      <p:sp>
        <p:nvSpPr>
          <p:cNvPr id="5" name="Speaker label"/>
          <p:cNvSpPr txBox="1"/>
          <p:nvPr/>
        </p:nvSpPr>
        <p:spPr>
          <a:xfrm>
            <a:off x="9537192" y="384048"/>
            <a:ext cx="2103120" cy="365760"/>
          </a:xfrm>
          <a:prstGeom prst="rect">
            <a:avLst/>
          </a:prstGeom>
          <a:noFill/>
          <a:ln/>
        </p:spPr>
        <p:txBody>
          <a:bodyPr wrap="square" lIns="0" tIns="0" rIns="0" bIns="0" rtlCol="0" anchor="ctr"/>
          <a:lstStyle/>
          <a:p>
            <a:pPr algn="ctr" indent="0" marL="0">
              <a:buNone/>
            </a:pPr>
            <a:r>
              <a:rPr lang="en-US" sz="1200" b="1" dirty="0">
                <a:solidFill>
                  <a:schemeClr val="bg1"/>
                </a:solidFill>
              </a:rPr>
              <a:t>Benjie  |  1.5 min</a:t>
            </a:r>
            <a:endParaRPr lang="en-US" sz="1200" dirty="0"/>
          </a:p>
        </p:txBody>
      </p:sp>
      <p:sp>
        <p:nvSpPr>
          <p:cNvPr id="6" name="Algorithm 1 card"/>
          <p:cNvSpPr/>
          <p:nvPr/>
        </p:nvSpPr>
        <p:spPr>
          <a:xfrm>
            <a:off x="548640" y="1371600"/>
            <a:ext cx="3575304" cy="4846320"/>
          </a:xfrm>
          <a:prstGeom prst="roundRect">
            <a:avLst>
              <a:gd name="adj" fmla="val 2558"/>
            </a:avLst>
          </a:prstGeom>
          <a:solidFill>
            <a:schemeClr val="bg2"/>
          </a:solidFill>
          <a:ln/>
        </p:spPr>
      </p:sp>
      <p:sp>
        <p:nvSpPr>
          <p:cNvPr id="7" name="Algorithm 1 label"/>
          <p:cNvSpPr txBox="1"/>
          <p:nvPr/>
        </p:nvSpPr>
        <p:spPr>
          <a:xfrm>
            <a:off x="777240" y="1527048"/>
            <a:ext cx="31089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ALGORITHM 1  |  SCREENING ENGINE</a:t>
            </a:r>
            <a:endParaRPr lang="en-US" sz="1100" dirty="0"/>
          </a:p>
        </p:txBody>
      </p:sp>
      <p:sp>
        <p:nvSpPr>
          <p:cNvPr id="8" name="Algorithm 1 signature"/>
          <p:cNvSpPr txBox="1"/>
          <p:nvPr/>
        </p:nvSpPr>
        <p:spPr>
          <a:xfrm>
            <a:off x="777240" y="1783080"/>
            <a:ext cx="3154680" cy="457200"/>
          </a:xfrm>
          <a:prstGeom prst="rect">
            <a:avLst/>
          </a:prstGeom>
          <a:noFill/>
          <a:ln/>
        </p:spPr>
        <p:txBody>
          <a:bodyPr wrap="square" lIns="0" tIns="0" rIns="0" bIns="0" rtlCol="0" anchor="t"/>
          <a:lstStyle/>
          <a:p>
            <a:pPr indent="0" marL="0">
              <a:buNone/>
            </a:pPr>
            <a:r>
              <a:rPr lang="en-US" sz="1300" b="1" dirty="0">
                <a:solidFill>
                  <a:schemeClr val="tx1"/>
                </a:solidFill>
              </a:rPr>
              <a:t>assessScreening(license, plate, driver)</a:t>
            </a:r>
            <a:endParaRPr lang="en-US" sz="1300" dirty="0"/>
          </a:p>
        </p:txBody>
      </p:sp>
      <p:sp>
        <p:nvSpPr>
          <p:cNvPr id="9" name="Step card 1"/>
          <p:cNvSpPr/>
          <p:nvPr/>
        </p:nvSpPr>
        <p:spPr>
          <a:xfrm>
            <a:off x="777240" y="2377440"/>
            <a:ext cx="3118104" cy="640080"/>
          </a:xfrm>
          <a:prstGeom prst="roundRect">
            <a:avLst>
              <a:gd name="adj" fmla="val 14286"/>
            </a:avLst>
          </a:prstGeom>
          <a:solidFill>
            <a:schemeClr val="bg1"/>
          </a:solidFill>
          <a:ln/>
        </p:spPr>
      </p:sp>
      <p:sp>
        <p:nvSpPr>
          <p:cNvPr id="10" name="Step number 1"/>
          <p:cNvSpPr txBox="1"/>
          <p:nvPr/>
        </p:nvSpPr>
        <p:spPr>
          <a:xfrm>
            <a:off x="868680" y="2377440"/>
            <a:ext cx="274320" cy="640080"/>
          </a:xfrm>
          <a:prstGeom prst="rect">
            <a:avLst/>
          </a:prstGeom>
          <a:noFill/>
          <a:ln/>
        </p:spPr>
        <p:txBody>
          <a:bodyPr wrap="square" lIns="0" tIns="0" rIns="0" bIns="0" rtlCol="0" anchor="ctr"/>
          <a:lstStyle/>
          <a:p>
            <a:pPr indent="0" marL="0">
              <a:buNone/>
            </a:pPr>
            <a:r>
              <a:rPr lang="en-US" sz="1600" b="1" dirty="0">
                <a:solidFill>
                  <a:schemeClr val="accent2"/>
                </a:solidFill>
                <a:latin typeface="+mj-lt" pitchFamily="34" charset="0"/>
                <a:ea typeface="+mj-lt" pitchFamily="34" charset="-122"/>
                <a:cs typeface="+mj-lt" pitchFamily="34" charset="-120"/>
              </a:rPr>
              <a:t>1</a:t>
            </a:r>
            <a:endParaRPr lang="en-US" sz="1600" dirty="0"/>
          </a:p>
        </p:txBody>
      </p:sp>
      <p:sp>
        <p:nvSpPr>
          <p:cNvPr id="11" name="Step text 1"/>
          <p:cNvSpPr txBox="1"/>
          <p:nvPr/>
        </p:nvSpPr>
        <p:spPr>
          <a:xfrm>
            <a:off x="1188720" y="2377440"/>
            <a:ext cx="1417320" cy="640080"/>
          </a:xfrm>
          <a:prstGeom prst="rect">
            <a:avLst/>
          </a:prstGeom>
          <a:noFill/>
          <a:ln/>
        </p:spPr>
        <p:txBody>
          <a:bodyPr wrap="square" lIns="0" tIns="0" rIns="0" bIns="0" rtlCol="0" anchor="ctr"/>
          <a:lstStyle/>
          <a:p>
            <a:pPr indent="0" marL="0">
              <a:buNone/>
            </a:pPr>
            <a:r>
              <a:rPr lang="en-US" sz="1200" dirty="0">
                <a:solidFill>
                  <a:schemeClr val="tx1"/>
                </a:solidFill>
              </a:rPr>
              <a:t>Plate on HPG stolen list</a:t>
            </a:r>
            <a:endParaRPr lang="en-US" sz="1200" dirty="0"/>
          </a:p>
        </p:txBody>
      </p:sp>
      <p:sp>
        <p:nvSpPr>
          <p:cNvPr id="12" name="Step 1 badge pill"/>
          <p:cNvSpPr/>
          <p:nvPr/>
        </p:nvSpPr>
        <p:spPr>
          <a:xfrm>
            <a:off x="2697480" y="2532888"/>
            <a:ext cx="1097280" cy="329184"/>
          </a:xfrm>
          <a:prstGeom prst="roundRect">
            <a:avLst>
              <a:gd name="adj" fmla="val 50000"/>
            </a:avLst>
          </a:prstGeom>
          <a:solidFill>
            <a:schemeClr val="accent3"/>
          </a:solidFill>
          <a:ln/>
        </p:spPr>
      </p:sp>
      <p:sp>
        <p:nvSpPr>
          <p:cNvPr id="13" name="Step 1 badge label"/>
          <p:cNvSpPr txBox="1"/>
          <p:nvPr/>
        </p:nvSpPr>
        <p:spPr>
          <a:xfrm>
            <a:off x="2697480" y="2532888"/>
            <a:ext cx="1097280" cy="329184"/>
          </a:xfrm>
          <a:prstGeom prst="rect">
            <a:avLst/>
          </a:prstGeom>
          <a:noFill/>
          <a:ln/>
        </p:spPr>
        <p:txBody>
          <a:bodyPr wrap="square" lIns="0" tIns="0" rIns="0" bIns="0" rtlCol="0" anchor="ctr"/>
          <a:lstStyle/>
          <a:p>
            <a:pPr algn="ctr" indent="0" marL="0">
              <a:buNone/>
            </a:pPr>
            <a:r>
              <a:rPr lang="en-US" sz="1200" b="1" dirty="0">
                <a:solidFill>
                  <a:schemeClr val="bg1"/>
                </a:solidFill>
              </a:rPr>
              <a:t>ALARM</a:t>
            </a:r>
            <a:endParaRPr lang="en-US" sz="1200" dirty="0"/>
          </a:p>
        </p:txBody>
      </p:sp>
      <p:sp>
        <p:nvSpPr>
          <p:cNvPr id="14" name="Step card 2"/>
          <p:cNvSpPr/>
          <p:nvPr/>
        </p:nvSpPr>
        <p:spPr>
          <a:xfrm>
            <a:off x="777240" y="3127248"/>
            <a:ext cx="3118104" cy="640080"/>
          </a:xfrm>
          <a:prstGeom prst="roundRect">
            <a:avLst>
              <a:gd name="adj" fmla="val 14286"/>
            </a:avLst>
          </a:prstGeom>
          <a:solidFill>
            <a:schemeClr val="bg1"/>
          </a:solidFill>
          <a:ln/>
        </p:spPr>
      </p:sp>
      <p:sp>
        <p:nvSpPr>
          <p:cNvPr id="15" name="Step number 2"/>
          <p:cNvSpPr txBox="1"/>
          <p:nvPr/>
        </p:nvSpPr>
        <p:spPr>
          <a:xfrm>
            <a:off x="868680" y="3127248"/>
            <a:ext cx="274320" cy="640080"/>
          </a:xfrm>
          <a:prstGeom prst="rect">
            <a:avLst/>
          </a:prstGeom>
          <a:noFill/>
          <a:ln/>
        </p:spPr>
        <p:txBody>
          <a:bodyPr wrap="square" lIns="0" tIns="0" rIns="0" bIns="0" rtlCol="0" anchor="ctr"/>
          <a:lstStyle/>
          <a:p>
            <a:pPr indent="0" marL="0">
              <a:buNone/>
            </a:pPr>
            <a:r>
              <a:rPr lang="en-US" sz="1600" b="1" dirty="0">
                <a:solidFill>
                  <a:schemeClr val="accent2"/>
                </a:solidFill>
                <a:latin typeface="+mj-lt" pitchFamily="34" charset="0"/>
                <a:ea typeface="+mj-lt" pitchFamily="34" charset="-122"/>
                <a:cs typeface="+mj-lt" pitchFamily="34" charset="-120"/>
              </a:rPr>
              <a:t>2</a:t>
            </a:r>
            <a:endParaRPr lang="en-US" sz="1600" dirty="0"/>
          </a:p>
        </p:txBody>
      </p:sp>
      <p:sp>
        <p:nvSpPr>
          <p:cNvPr id="16" name="Step text 2"/>
          <p:cNvSpPr txBox="1"/>
          <p:nvPr/>
        </p:nvSpPr>
        <p:spPr>
          <a:xfrm>
            <a:off x="1188720" y="3127248"/>
            <a:ext cx="1417320" cy="640080"/>
          </a:xfrm>
          <a:prstGeom prst="rect">
            <a:avLst/>
          </a:prstGeom>
          <a:noFill/>
          <a:ln/>
        </p:spPr>
        <p:txBody>
          <a:bodyPr wrap="square" lIns="0" tIns="0" rIns="0" bIns="0" rtlCol="0" anchor="ctr"/>
          <a:lstStyle/>
          <a:p>
            <a:pPr indent="0" marL="0">
              <a:buNone/>
            </a:pPr>
            <a:r>
              <a:rPr lang="en-US" sz="1200" dirty="0">
                <a:solidFill>
                  <a:schemeClr val="tx1"/>
                </a:solidFill>
              </a:rPr>
              <a:t>Driver on court-warrant list</a:t>
            </a:r>
            <a:endParaRPr lang="en-US" sz="1200" dirty="0"/>
          </a:p>
        </p:txBody>
      </p:sp>
      <p:sp>
        <p:nvSpPr>
          <p:cNvPr id="17" name="Step 2 badge pill"/>
          <p:cNvSpPr/>
          <p:nvPr/>
        </p:nvSpPr>
        <p:spPr>
          <a:xfrm>
            <a:off x="2697480" y="3282696"/>
            <a:ext cx="1097280" cy="329184"/>
          </a:xfrm>
          <a:prstGeom prst="roundRect">
            <a:avLst>
              <a:gd name="adj" fmla="val 50000"/>
            </a:avLst>
          </a:prstGeom>
          <a:solidFill>
            <a:schemeClr val="accent3"/>
          </a:solidFill>
          <a:ln/>
        </p:spPr>
      </p:sp>
      <p:sp>
        <p:nvSpPr>
          <p:cNvPr id="18" name="Step 2 badge label"/>
          <p:cNvSpPr txBox="1"/>
          <p:nvPr/>
        </p:nvSpPr>
        <p:spPr>
          <a:xfrm>
            <a:off x="2697480" y="3282696"/>
            <a:ext cx="1097280" cy="329184"/>
          </a:xfrm>
          <a:prstGeom prst="rect">
            <a:avLst/>
          </a:prstGeom>
          <a:noFill/>
          <a:ln/>
        </p:spPr>
        <p:txBody>
          <a:bodyPr wrap="square" lIns="0" tIns="0" rIns="0" bIns="0" rtlCol="0" anchor="ctr"/>
          <a:lstStyle/>
          <a:p>
            <a:pPr algn="ctr" indent="0" marL="0">
              <a:buNone/>
            </a:pPr>
            <a:r>
              <a:rPr lang="en-US" sz="1200" b="1" dirty="0">
                <a:solidFill>
                  <a:schemeClr val="bg1"/>
                </a:solidFill>
              </a:rPr>
              <a:t>ALARM</a:t>
            </a:r>
            <a:endParaRPr lang="en-US" sz="1200" dirty="0"/>
          </a:p>
        </p:txBody>
      </p:sp>
      <p:sp>
        <p:nvSpPr>
          <p:cNvPr id="19" name="Step card 3"/>
          <p:cNvSpPr/>
          <p:nvPr/>
        </p:nvSpPr>
        <p:spPr>
          <a:xfrm>
            <a:off x="777240" y="3877056"/>
            <a:ext cx="3118104" cy="640080"/>
          </a:xfrm>
          <a:prstGeom prst="roundRect">
            <a:avLst>
              <a:gd name="adj" fmla="val 14286"/>
            </a:avLst>
          </a:prstGeom>
          <a:solidFill>
            <a:schemeClr val="bg1"/>
          </a:solidFill>
          <a:ln/>
        </p:spPr>
      </p:sp>
      <p:sp>
        <p:nvSpPr>
          <p:cNvPr id="20" name="Step number 3"/>
          <p:cNvSpPr txBox="1"/>
          <p:nvPr/>
        </p:nvSpPr>
        <p:spPr>
          <a:xfrm>
            <a:off x="868680" y="3877056"/>
            <a:ext cx="274320" cy="640080"/>
          </a:xfrm>
          <a:prstGeom prst="rect">
            <a:avLst/>
          </a:prstGeom>
          <a:noFill/>
          <a:ln/>
        </p:spPr>
        <p:txBody>
          <a:bodyPr wrap="square" lIns="0" tIns="0" rIns="0" bIns="0" rtlCol="0" anchor="ctr"/>
          <a:lstStyle/>
          <a:p>
            <a:pPr indent="0" marL="0">
              <a:buNone/>
            </a:pPr>
            <a:r>
              <a:rPr lang="en-US" sz="1600" b="1" dirty="0">
                <a:solidFill>
                  <a:schemeClr val="accent2"/>
                </a:solidFill>
                <a:latin typeface="+mj-lt" pitchFamily="34" charset="0"/>
                <a:ea typeface="+mj-lt" pitchFamily="34" charset="-122"/>
                <a:cs typeface="+mj-lt" pitchFamily="34" charset="-120"/>
              </a:rPr>
              <a:t>3</a:t>
            </a:r>
            <a:endParaRPr lang="en-US" sz="1600" dirty="0"/>
          </a:p>
        </p:txBody>
      </p:sp>
      <p:sp>
        <p:nvSpPr>
          <p:cNvPr id="21" name="Step text 3"/>
          <p:cNvSpPr txBox="1"/>
          <p:nvPr/>
        </p:nvSpPr>
        <p:spPr>
          <a:xfrm>
            <a:off x="1188720" y="3877056"/>
            <a:ext cx="1417320" cy="640080"/>
          </a:xfrm>
          <a:prstGeom prst="rect">
            <a:avLst/>
          </a:prstGeom>
          <a:noFill/>
          <a:ln/>
        </p:spPr>
        <p:txBody>
          <a:bodyPr wrap="square" lIns="0" tIns="0" rIns="0" bIns="0" rtlCol="0" anchor="ctr"/>
          <a:lstStyle/>
          <a:p>
            <a:pPr indent="0" marL="0">
              <a:buNone/>
            </a:pPr>
            <a:r>
              <a:rPr lang="en-US" sz="1200" dirty="0">
                <a:solidFill>
                  <a:schemeClr val="tx1"/>
                </a:solidFill>
              </a:rPr>
              <a:t>Suspended / repeat-offender license</a:t>
            </a:r>
            <a:endParaRPr lang="en-US" sz="1200" dirty="0"/>
          </a:p>
        </p:txBody>
      </p:sp>
      <p:sp>
        <p:nvSpPr>
          <p:cNvPr id="22" name="Step 3 badge pill"/>
          <p:cNvSpPr/>
          <p:nvPr/>
        </p:nvSpPr>
        <p:spPr>
          <a:xfrm>
            <a:off x="2697480" y="4032504"/>
            <a:ext cx="1097280" cy="329184"/>
          </a:xfrm>
          <a:prstGeom prst="roundRect">
            <a:avLst>
              <a:gd name="adj" fmla="val 50000"/>
            </a:avLst>
          </a:prstGeom>
          <a:solidFill>
            <a:schemeClr val="accent4"/>
          </a:solidFill>
          <a:ln/>
        </p:spPr>
      </p:sp>
      <p:sp>
        <p:nvSpPr>
          <p:cNvPr id="23" name="Step 3 badge label"/>
          <p:cNvSpPr txBox="1"/>
          <p:nvPr/>
        </p:nvSpPr>
        <p:spPr>
          <a:xfrm>
            <a:off x="2697480" y="4032504"/>
            <a:ext cx="1097280" cy="329184"/>
          </a:xfrm>
          <a:prstGeom prst="rect">
            <a:avLst/>
          </a:prstGeom>
          <a:noFill/>
          <a:ln/>
        </p:spPr>
        <p:txBody>
          <a:bodyPr wrap="square" lIns="0" tIns="0" rIns="0" bIns="0" rtlCol="0" anchor="ctr"/>
          <a:lstStyle/>
          <a:p>
            <a:pPr algn="ctr" indent="0" marL="0">
              <a:buNone/>
            </a:pPr>
            <a:r>
              <a:rPr lang="en-US" sz="1200" b="1" dirty="0">
                <a:solidFill>
                  <a:schemeClr val="tx1"/>
                </a:solidFill>
              </a:rPr>
              <a:t>WARNING</a:t>
            </a:r>
            <a:endParaRPr lang="en-US" sz="1200" dirty="0"/>
          </a:p>
        </p:txBody>
      </p:sp>
      <p:sp>
        <p:nvSpPr>
          <p:cNvPr id="24" name="Step card 4"/>
          <p:cNvSpPr/>
          <p:nvPr/>
        </p:nvSpPr>
        <p:spPr>
          <a:xfrm>
            <a:off x="777240" y="4626864"/>
            <a:ext cx="3118104" cy="640080"/>
          </a:xfrm>
          <a:prstGeom prst="roundRect">
            <a:avLst>
              <a:gd name="adj" fmla="val 14286"/>
            </a:avLst>
          </a:prstGeom>
          <a:solidFill>
            <a:schemeClr val="bg1"/>
          </a:solidFill>
          <a:ln/>
        </p:spPr>
      </p:sp>
      <p:sp>
        <p:nvSpPr>
          <p:cNvPr id="25" name="Step number 4"/>
          <p:cNvSpPr txBox="1"/>
          <p:nvPr/>
        </p:nvSpPr>
        <p:spPr>
          <a:xfrm>
            <a:off x="868680" y="4626864"/>
            <a:ext cx="274320" cy="640080"/>
          </a:xfrm>
          <a:prstGeom prst="rect">
            <a:avLst/>
          </a:prstGeom>
          <a:noFill/>
          <a:ln/>
        </p:spPr>
        <p:txBody>
          <a:bodyPr wrap="square" lIns="0" tIns="0" rIns="0" bIns="0" rtlCol="0" anchor="ctr"/>
          <a:lstStyle/>
          <a:p>
            <a:pPr indent="0" marL="0">
              <a:buNone/>
            </a:pPr>
            <a:r>
              <a:rPr lang="en-US" sz="1600" b="1" dirty="0">
                <a:solidFill>
                  <a:schemeClr val="accent2"/>
                </a:solidFill>
                <a:latin typeface="+mj-lt" pitchFamily="34" charset="0"/>
                <a:ea typeface="+mj-lt" pitchFamily="34" charset="-122"/>
                <a:cs typeface="+mj-lt" pitchFamily="34" charset="-120"/>
              </a:rPr>
              <a:t>4</a:t>
            </a:r>
            <a:endParaRPr lang="en-US" sz="1600" dirty="0"/>
          </a:p>
        </p:txBody>
      </p:sp>
      <p:sp>
        <p:nvSpPr>
          <p:cNvPr id="26" name="Step text 4"/>
          <p:cNvSpPr txBox="1"/>
          <p:nvPr/>
        </p:nvSpPr>
        <p:spPr>
          <a:xfrm>
            <a:off x="1188720" y="4626864"/>
            <a:ext cx="1417320" cy="640080"/>
          </a:xfrm>
          <a:prstGeom prst="rect">
            <a:avLst/>
          </a:prstGeom>
          <a:noFill/>
          <a:ln/>
        </p:spPr>
        <p:txBody>
          <a:bodyPr wrap="square" lIns="0" tIns="0" rIns="0" bIns="0" rtlCol="0" anchor="ctr"/>
          <a:lstStyle/>
          <a:p>
            <a:pPr indent="0" marL="0">
              <a:buNone/>
            </a:pPr>
            <a:r>
              <a:rPr lang="en-US" sz="1200" dirty="0">
                <a:solidFill>
                  <a:schemeClr val="tx1"/>
                </a:solidFill>
              </a:rPr>
              <a:t>Expiration check (EXPIRED)</a:t>
            </a:r>
            <a:endParaRPr lang="en-US" sz="1200" dirty="0"/>
          </a:p>
        </p:txBody>
      </p:sp>
      <p:sp>
        <p:nvSpPr>
          <p:cNvPr id="27" name="Step 4 badge pill"/>
          <p:cNvSpPr/>
          <p:nvPr/>
        </p:nvSpPr>
        <p:spPr>
          <a:xfrm>
            <a:off x="2697480" y="4782312"/>
            <a:ext cx="1097280" cy="329184"/>
          </a:xfrm>
          <a:prstGeom prst="roundRect">
            <a:avLst>
              <a:gd name="adj" fmla="val 50000"/>
            </a:avLst>
          </a:prstGeom>
          <a:solidFill>
            <a:schemeClr val="accent4"/>
          </a:solidFill>
          <a:ln/>
        </p:spPr>
      </p:sp>
      <p:sp>
        <p:nvSpPr>
          <p:cNvPr id="28" name="Step 4 badge label"/>
          <p:cNvSpPr txBox="1"/>
          <p:nvPr/>
        </p:nvSpPr>
        <p:spPr>
          <a:xfrm>
            <a:off x="2697480" y="4782312"/>
            <a:ext cx="1097280" cy="329184"/>
          </a:xfrm>
          <a:prstGeom prst="rect">
            <a:avLst/>
          </a:prstGeom>
          <a:noFill/>
          <a:ln/>
        </p:spPr>
        <p:txBody>
          <a:bodyPr wrap="square" lIns="0" tIns="0" rIns="0" bIns="0" rtlCol="0" anchor="ctr"/>
          <a:lstStyle/>
          <a:p>
            <a:pPr algn="ctr" indent="0" marL="0">
              <a:buNone/>
            </a:pPr>
            <a:r>
              <a:rPr lang="en-US" sz="1200" b="1" dirty="0">
                <a:solidFill>
                  <a:schemeClr val="tx1"/>
                </a:solidFill>
              </a:rPr>
              <a:t>WARNING</a:t>
            </a:r>
            <a:endParaRPr lang="en-US" sz="1200" dirty="0"/>
          </a:p>
        </p:txBody>
      </p:sp>
      <p:sp>
        <p:nvSpPr>
          <p:cNvPr id="29" name="Step card 5"/>
          <p:cNvSpPr/>
          <p:nvPr/>
        </p:nvSpPr>
        <p:spPr>
          <a:xfrm>
            <a:off x="777240" y="5376672"/>
            <a:ext cx="3118104" cy="640080"/>
          </a:xfrm>
          <a:prstGeom prst="roundRect">
            <a:avLst>
              <a:gd name="adj" fmla="val 14286"/>
            </a:avLst>
          </a:prstGeom>
          <a:solidFill>
            <a:schemeClr val="bg1"/>
          </a:solidFill>
          <a:ln/>
        </p:spPr>
      </p:sp>
      <p:sp>
        <p:nvSpPr>
          <p:cNvPr id="30" name="Step number 5"/>
          <p:cNvSpPr txBox="1"/>
          <p:nvPr/>
        </p:nvSpPr>
        <p:spPr>
          <a:xfrm>
            <a:off x="868680" y="5376672"/>
            <a:ext cx="274320" cy="640080"/>
          </a:xfrm>
          <a:prstGeom prst="rect">
            <a:avLst/>
          </a:prstGeom>
          <a:noFill/>
          <a:ln/>
        </p:spPr>
        <p:txBody>
          <a:bodyPr wrap="square" lIns="0" tIns="0" rIns="0" bIns="0" rtlCol="0" anchor="ctr"/>
          <a:lstStyle/>
          <a:p>
            <a:pPr indent="0" marL="0">
              <a:buNone/>
            </a:pPr>
            <a:r>
              <a:rPr lang="en-US" sz="1600" b="1" dirty="0">
                <a:solidFill>
                  <a:schemeClr val="accent2"/>
                </a:solidFill>
                <a:latin typeface="+mj-lt" pitchFamily="34" charset="0"/>
                <a:ea typeface="+mj-lt" pitchFamily="34" charset="-122"/>
                <a:cs typeface="+mj-lt" pitchFamily="34" charset="-120"/>
              </a:rPr>
              <a:t>5</a:t>
            </a:r>
            <a:endParaRPr lang="en-US" sz="1600" dirty="0"/>
          </a:p>
        </p:txBody>
      </p:sp>
      <p:sp>
        <p:nvSpPr>
          <p:cNvPr id="31" name="Step text 5"/>
          <p:cNvSpPr txBox="1"/>
          <p:nvPr/>
        </p:nvSpPr>
        <p:spPr>
          <a:xfrm>
            <a:off x="1188720" y="5376672"/>
            <a:ext cx="1417320" cy="640080"/>
          </a:xfrm>
          <a:prstGeom prst="rect">
            <a:avLst/>
          </a:prstGeom>
          <a:noFill/>
          <a:ln/>
        </p:spPr>
        <p:txBody>
          <a:bodyPr wrap="square" lIns="0" tIns="0" rIns="0" bIns="0" rtlCol="0" anchor="ctr"/>
          <a:lstStyle/>
          <a:p>
            <a:pPr indent="0" marL="0">
              <a:buNone/>
            </a:pPr>
            <a:r>
              <a:rPr lang="en-US" sz="1200" dirty="0">
                <a:solidFill>
                  <a:schemeClr val="tx1"/>
                </a:solidFill>
              </a:rPr>
              <a:t>Clean motorist</a:t>
            </a:r>
            <a:endParaRPr lang="en-US" sz="1200" dirty="0"/>
          </a:p>
        </p:txBody>
      </p:sp>
      <p:sp>
        <p:nvSpPr>
          <p:cNvPr id="32" name="Step 5 badge pill"/>
          <p:cNvSpPr/>
          <p:nvPr/>
        </p:nvSpPr>
        <p:spPr>
          <a:xfrm>
            <a:off x="2697480" y="5532120"/>
            <a:ext cx="1097280" cy="329184"/>
          </a:xfrm>
          <a:prstGeom prst="roundRect">
            <a:avLst>
              <a:gd name="adj" fmla="val 50000"/>
            </a:avLst>
          </a:prstGeom>
          <a:solidFill>
            <a:schemeClr val="accent5"/>
          </a:solidFill>
          <a:ln/>
        </p:spPr>
      </p:sp>
      <p:sp>
        <p:nvSpPr>
          <p:cNvPr id="33" name="Step 5 badge label"/>
          <p:cNvSpPr txBox="1"/>
          <p:nvPr/>
        </p:nvSpPr>
        <p:spPr>
          <a:xfrm>
            <a:off x="2697480" y="5532120"/>
            <a:ext cx="1097280" cy="329184"/>
          </a:xfrm>
          <a:prstGeom prst="rect">
            <a:avLst/>
          </a:prstGeom>
          <a:noFill/>
          <a:ln/>
        </p:spPr>
        <p:txBody>
          <a:bodyPr wrap="square" lIns="0" tIns="0" rIns="0" bIns="0" rtlCol="0" anchor="ctr"/>
          <a:lstStyle/>
          <a:p>
            <a:pPr algn="ctr" indent="0" marL="0">
              <a:buNone/>
            </a:pPr>
            <a:r>
              <a:rPr lang="en-US" sz="1200" b="1" dirty="0">
                <a:solidFill>
                  <a:schemeClr val="bg1"/>
                </a:solidFill>
              </a:rPr>
              <a:t>CLEAR</a:t>
            </a:r>
            <a:endParaRPr lang="en-US" sz="1200" dirty="0"/>
          </a:p>
        </p:txBody>
      </p:sp>
      <p:sp>
        <p:nvSpPr>
          <p:cNvPr id="34" name="Algorithm 2 card"/>
          <p:cNvSpPr/>
          <p:nvPr/>
        </p:nvSpPr>
        <p:spPr>
          <a:xfrm>
            <a:off x="4306824" y="1371600"/>
            <a:ext cx="3575304" cy="4846320"/>
          </a:xfrm>
          <a:prstGeom prst="roundRect">
            <a:avLst>
              <a:gd name="adj" fmla="val 2558"/>
            </a:avLst>
          </a:prstGeom>
          <a:solidFill>
            <a:schemeClr val="bg2"/>
          </a:solidFill>
          <a:ln/>
        </p:spPr>
      </p:sp>
      <p:sp>
        <p:nvSpPr>
          <p:cNvPr id="35" name="Algorithm 2 label"/>
          <p:cNvSpPr txBox="1"/>
          <p:nvPr/>
        </p:nvSpPr>
        <p:spPr>
          <a:xfrm>
            <a:off x="4535424" y="1527048"/>
            <a:ext cx="31089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ALGORITHM 2  |  UNLICENSED WORKFLOW</a:t>
            </a:r>
            <a:endParaRPr lang="en-US" sz="1100" dirty="0"/>
          </a:p>
        </p:txBody>
      </p:sp>
      <p:sp>
        <p:nvSpPr>
          <p:cNvPr id="36" name="Algorithm 2 signature"/>
          <p:cNvSpPr txBox="1"/>
          <p:nvPr/>
        </p:nvSpPr>
        <p:spPr>
          <a:xfrm>
            <a:off x="4535424" y="1783080"/>
            <a:ext cx="3154680" cy="457200"/>
          </a:xfrm>
          <a:prstGeom prst="rect">
            <a:avLst/>
          </a:prstGeom>
          <a:noFill/>
          <a:ln/>
        </p:spPr>
        <p:txBody>
          <a:bodyPr wrap="square" lIns="0" tIns="0" rIns="0" bIns="0" rtlCol="0" anchor="t"/>
          <a:lstStyle/>
          <a:p>
            <a:pPr indent="0" marL="0">
              <a:buNone/>
            </a:pPr>
            <a:r>
              <a:rPr lang="en-US" sz="1300" b="1" dirty="0">
                <a:solidFill>
                  <a:schemeClr val="tx1"/>
                </a:solidFill>
              </a:rPr>
              <a:t>validateViolationPayload(data)</a:t>
            </a:r>
            <a:endParaRPr lang="en-US" sz="1300" dirty="0"/>
          </a:p>
        </p:txBody>
      </p:sp>
      <p:sp>
        <p:nvSpPr>
          <p:cNvPr id="37" name="Algorithm 2 details"/>
          <p:cNvSpPr txBox="1"/>
          <p:nvPr/>
        </p:nvSpPr>
        <p:spPr>
          <a:xfrm>
            <a:off x="4535424" y="2377440"/>
            <a:ext cx="3154680" cy="374904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chemeClr val="tx1"/>
                </a:solidFill>
              </a:rPr>
              <a:t>Auto-lock: </a:t>
            </a:r>
            <a:pPr indent="0" marL="0">
              <a:buNone/>
            </a:pPr>
            <a:r>
              <a:rPr lang="en-US" sz="1400" dirty="0">
                <a:solidFill>
                  <a:schemeClr val="tx1"/>
                </a:solidFill>
              </a:rPr>
              <a:t>"No Driver's License" sets the license field to N/A - Unlicensed</a:t>
            </a:r>
            <a:endParaRPr lang="en-US" sz="1400" dirty="0"/>
          </a:p>
          <a:p>
            <a:pPr marL="177800" indent="-177800">
              <a:spcAft>
                <a:spcPts val="900"/>
              </a:spcAft>
              <a:buSzPct val="100000"/>
              <a:buChar char="•"/>
            </a:pPr>
            <a:r>
              <a:rPr lang="en-US" sz="1400" b="1" dirty="0">
                <a:solidFill>
                  <a:schemeClr val="tx1"/>
                </a:solidFill>
              </a:rPr>
              <a:t>No false alarms: </a:t>
            </a:r>
            <a:pPr indent="0" marL="0">
              <a:buNone/>
            </a:pPr>
            <a:r>
              <a:rPr lang="en-US" sz="1400" dirty="0">
                <a:solidFill>
                  <a:schemeClr val="tx1"/>
                </a:solidFill>
              </a:rPr>
              <a:t>screening skips N/A licenses</a:t>
            </a:r>
            <a:endParaRPr lang="en-US" sz="1400" dirty="0"/>
          </a:p>
          <a:p>
            <a:pPr marL="177800" indent="-177800">
              <a:spcAft>
                <a:spcPts val="900"/>
              </a:spcAft>
              <a:buSzPct val="100000"/>
              <a:buChar char="•"/>
            </a:pPr>
            <a:r>
              <a:rPr lang="en-US" sz="1400" b="1" dirty="0">
                <a:solidFill>
                  <a:schemeClr val="tx1"/>
                </a:solidFill>
              </a:rPr>
              <a:t>Alt-ID required: </a:t>
            </a:r>
            <a:pPr indent="0" marL="0">
              <a:buNone/>
            </a:pPr>
            <a:r>
              <a:rPr lang="en-US" sz="1400" dirty="0">
                <a:solidFill>
                  <a:schemeClr val="tx1"/>
                </a:solidFill>
              </a:rPr>
              <a:t>PhilID / National ID, Passport, SSS/GSIS, Voter's ID, PRC, or Senior/PWD ID</a:t>
            </a:r>
            <a:endParaRPr lang="en-US" sz="1400" dirty="0"/>
          </a:p>
          <a:p>
            <a:pPr marL="177800" indent="-177800">
              <a:spcAft>
                <a:spcPts val="900"/>
              </a:spcAft>
              <a:buSzPct val="100000"/>
              <a:buChar char="•"/>
            </a:pPr>
            <a:r>
              <a:rPr lang="en-US" sz="1400" b="1" dirty="0">
                <a:solidFill>
                  <a:schemeClr val="tx1"/>
                </a:solidFill>
              </a:rPr>
              <a:t>Rejects </a:t>
            </a:r>
            <a:pPr indent="0" marL="0">
              <a:buNone/>
            </a:pPr>
            <a:r>
              <a:rPr lang="en-US" sz="1400" dirty="0">
                <a:solidFill>
                  <a:schemeClr val="tx1"/>
                </a:solidFill>
              </a:rPr>
              <a:t>submissions missing the Alt-ID type or document number</a:t>
            </a:r>
            <a:endParaRPr lang="en-US" sz="1400" dirty="0"/>
          </a:p>
        </p:txBody>
      </p:sp>
      <p:sp>
        <p:nvSpPr>
          <p:cNvPr id="38" name="Verification callout"/>
          <p:cNvSpPr/>
          <p:nvPr/>
        </p:nvSpPr>
        <p:spPr>
          <a:xfrm>
            <a:off x="4535424" y="5166360"/>
            <a:ext cx="3118104" cy="914400"/>
          </a:xfrm>
          <a:prstGeom prst="roundRect">
            <a:avLst>
              <a:gd name="adj" fmla="val 10000"/>
            </a:avLst>
          </a:prstGeom>
          <a:solidFill>
            <a:schemeClr val="bg1"/>
          </a:solidFill>
          <a:ln/>
        </p:spPr>
      </p:sp>
      <p:sp>
        <p:nvSpPr>
          <p:cNvPr id="39" name="Verification callout text"/>
          <p:cNvSpPr txBox="1"/>
          <p:nvPr/>
        </p:nvSpPr>
        <p:spPr>
          <a:xfrm>
            <a:off x="4672584" y="5166360"/>
            <a:ext cx="2834640" cy="914400"/>
          </a:xfrm>
          <a:prstGeom prst="rect">
            <a:avLst/>
          </a:prstGeom>
          <a:noFill/>
          <a:ln/>
        </p:spPr>
        <p:txBody>
          <a:bodyPr wrap="square" lIns="0" tIns="0" rIns="0" bIns="0" rtlCol="0" anchor="ctr"/>
          <a:lstStyle/>
          <a:p>
            <a:pPr indent="0" marL="0">
              <a:buNone/>
            </a:pPr>
            <a:r>
              <a:rPr lang="en-US" sz="1200" b="1" dirty="0">
                <a:solidFill>
                  <a:schemeClr val="accent2"/>
                </a:solidFill>
              </a:rPr>
              <a:t>Verified by tests: </a:t>
            </a:r>
            <a:pPr indent="0" marL="0">
              <a:buNone/>
            </a:pPr>
            <a:r>
              <a:rPr lang="en-US" sz="1200" dirty="0">
                <a:solidFill>
                  <a:schemeClr val="tx1"/>
                </a:solidFill>
              </a:rPr>
              <a:t>fails without an Alt-ID and passes with a valid National ID.</a:t>
            </a:r>
            <a:endParaRPr lang="en-US" sz="1200" dirty="0"/>
          </a:p>
        </p:txBody>
      </p:sp>
      <p:sp>
        <p:nvSpPr>
          <p:cNvPr id="40" name="Algorithm 3 card"/>
          <p:cNvSpPr/>
          <p:nvPr/>
        </p:nvSpPr>
        <p:spPr>
          <a:xfrm>
            <a:off x="8065008" y="1371600"/>
            <a:ext cx="3575304" cy="4846320"/>
          </a:xfrm>
          <a:prstGeom prst="roundRect">
            <a:avLst>
              <a:gd name="adj" fmla="val 2558"/>
            </a:avLst>
          </a:prstGeom>
          <a:solidFill>
            <a:schemeClr val="bg2"/>
          </a:solidFill>
          <a:ln/>
        </p:spPr>
      </p:sp>
      <p:sp>
        <p:nvSpPr>
          <p:cNvPr id="41" name="Algorithm 3 label"/>
          <p:cNvSpPr txBox="1"/>
          <p:nvPr/>
        </p:nvSpPr>
        <p:spPr>
          <a:xfrm>
            <a:off x="8293608" y="1527048"/>
            <a:ext cx="310896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ALGORITHM 3  |  STATUTORY TOTALING</a:t>
            </a:r>
            <a:endParaRPr lang="en-US" sz="1100" dirty="0"/>
          </a:p>
        </p:txBody>
      </p:sp>
      <p:sp>
        <p:nvSpPr>
          <p:cNvPr id="42" name="Algorithm 3 signature"/>
          <p:cNvSpPr txBox="1"/>
          <p:nvPr/>
        </p:nvSpPr>
        <p:spPr>
          <a:xfrm>
            <a:off x="8293608" y="1783080"/>
            <a:ext cx="3154680" cy="457200"/>
          </a:xfrm>
          <a:prstGeom prst="rect">
            <a:avLst/>
          </a:prstGeom>
          <a:noFill/>
          <a:ln/>
        </p:spPr>
        <p:txBody>
          <a:bodyPr wrap="square" lIns="0" tIns="0" rIns="0" bIns="0" rtlCol="0" anchor="t"/>
          <a:lstStyle/>
          <a:p>
            <a:pPr indent="0" marL="0">
              <a:buNone/>
            </a:pPr>
            <a:r>
              <a:rPr lang="en-US" sz="1300" b="1" dirty="0">
                <a:solidFill>
                  <a:schemeClr val="tx1"/>
                </a:solidFill>
              </a:rPr>
              <a:t>calculateViolationTotal(violations)</a:t>
            </a:r>
            <a:endParaRPr lang="en-US" sz="1300" dirty="0"/>
          </a:p>
        </p:txBody>
      </p:sp>
      <p:graphicFrame>
        <p:nvGraphicFramePr>
          <p:cNvPr id="14" name="Offense schedule table"/>
          <p:cNvGraphicFramePr>
            <a:graphicFrameLocks noGrp="1"/>
          </p:cNvGraphicFramePr>
          <p:nvPr>
            <p:extLst>
              <p:ext uri="{D42A27DB-BD31-4B8C-83A1-F6EECF244321}">
                <p14:modId xmlns:p14="http://schemas.microsoft.com/office/powerpoint/2010/main" val="1579011935"/>
              </p:ext>
            </p:extLst>
          </p:nvPr>
        </p:nvGraphicFramePr>
        <p:xfrm>
          <a:off x="8293608" y="2377440"/>
          <a:ext cx="3118104" cy="914400"/>
        </p:xfrm>
        <a:graphic>
          <a:graphicData uri="http://schemas.openxmlformats.org/drawingml/2006/table">
            <a:tbl>
              <a:tblPr/>
              <a:tblGrid>
                <a:gridCol w="2011680"/>
                <a:gridCol w="1106424"/>
              </a:tblGrid>
              <a:tr h="310896">
                <a:tc>
                  <a:txBody>
                    <a:bodyPr/>
                    <a:lstStyle/>
                    <a:p>
                      <a:pPr indent="0" marL="0">
                        <a:buNone/>
                      </a:pPr>
                      <a:r>
                        <a:rPr lang="en-US" sz="1100" b="1" dirty="0">
                          <a:solidFill>
                            <a:schemeClr val="bg1"/>
                          </a:solidFill>
                        </a:rPr>
                        <a:t>OFFENSE_SCHEDULE</a:t>
                      </a:r>
                      <a:endParaRPr lang="en-US" sz="11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100" b="1" dirty="0">
                          <a:solidFill>
                            <a:schemeClr val="bg1"/>
                          </a:solidFill>
                        </a:rPr>
                        <a:t>FINE (PHP)</a:t>
                      </a:r>
                      <a:endParaRPr lang="en-US" sz="11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tx2"/>
                    </a:solidFill>
                  </a:tcPr>
                </a:tc>
              </a:tr>
              <a:tr h="310896">
                <a:tc>
                  <a:txBody>
                    <a:bodyPr/>
                    <a:lstStyle/>
                    <a:p>
                      <a:pPr indent="0" marL="0">
                        <a:buNone/>
                      </a:pPr>
                      <a:r>
                        <a:rPr lang="en-US" sz="1200" dirty="0">
                          <a:solidFill>
                            <a:schemeClr val="tx1"/>
                          </a:solidFill>
                        </a:rPr>
                        <a:t>No Driver's License</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b="1" dirty="0">
                          <a:solidFill>
                            <a:schemeClr val="tx1"/>
                          </a:solidFill>
                        </a:rPr>
                        <a:t>₱1,500</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1"/>
                    </a:solidFill>
                  </a:tcPr>
                </a:tc>
              </a:tr>
              <a:tr h="310896">
                <a:tc>
                  <a:txBody>
                    <a:bodyPr/>
                    <a:lstStyle/>
                    <a:p>
                      <a:pPr indent="0" marL="0">
                        <a:buNone/>
                      </a:pPr>
                      <a:r>
                        <a:rPr lang="en-US" sz="1200" dirty="0">
                          <a:solidFill>
                            <a:schemeClr val="tx1"/>
                          </a:solidFill>
                        </a:rPr>
                        <a:t>Expired Registration</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b="1" dirty="0">
                          <a:solidFill>
                            <a:schemeClr val="tx1"/>
                          </a:solidFill>
                        </a:rPr>
                        <a:t>₱1,200</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2"/>
                    </a:solidFill>
                  </a:tcPr>
                </a:tc>
              </a:tr>
              <a:tr h="310896">
                <a:tc>
                  <a:txBody>
                    <a:bodyPr/>
                    <a:lstStyle/>
                    <a:p>
                      <a:pPr indent="0" marL="0">
                        <a:buNone/>
                      </a:pPr>
                      <a:r>
                        <a:rPr lang="en-US" sz="1200" dirty="0">
                          <a:solidFill>
                            <a:schemeClr val="tx1"/>
                          </a:solidFill>
                        </a:rPr>
                        <a:t>No Helmet / Seatbelt</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b="1" dirty="0">
                          <a:solidFill>
                            <a:schemeClr val="tx1"/>
                          </a:solidFill>
                        </a:rPr>
                        <a:t>₱1,000</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1"/>
                    </a:solidFill>
                  </a:tcPr>
                </a:tc>
              </a:tr>
              <a:tr h="310896">
                <a:tc>
                  <a:txBody>
                    <a:bodyPr/>
                    <a:lstStyle/>
                    <a:p>
                      <a:pPr indent="0" marL="0">
                        <a:buNone/>
                      </a:pPr>
                      <a:r>
                        <a:rPr lang="en-US" sz="1200" dirty="0">
                          <a:solidFill>
                            <a:schemeClr val="tx1"/>
                          </a:solidFill>
                        </a:rPr>
                        <a:t>DUI</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b="1" dirty="0">
                          <a:solidFill>
                            <a:schemeClr val="tx1"/>
                          </a:solidFill>
                        </a:rPr>
                        <a:t>₱5,000</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2"/>
                    </a:solidFill>
                  </a:tcPr>
                </a:tc>
              </a:tr>
              <a:tr h="310896">
                <a:tc>
                  <a:txBody>
                    <a:bodyPr/>
                    <a:lstStyle/>
                    <a:p>
                      <a:pPr indent="0" marL="0">
                        <a:buNone/>
                      </a:pPr>
                      <a:r>
                        <a:rPr lang="en-US" sz="1200" dirty="0">
                          <a:solidFill>
                            <a:schemeClr val="tx1"/>
                          </a:solidFill>
                        </a:rPr>
                        <a:t>Distracted Driving</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b="1" dirty="0">
                          <a:solidFill>
                            <a:schemeClr val="tx1"/>
                          </a:solidFill>
                        </a:rPr>
                        <a:t>₱5,000</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1"/>
                    </a:solidFill>
                  </a:tcPr>
                </a:tc>
              </a:tr>
              <a:tr h="310896">
                <a:tc>
                  <a:txBody>
                    <a:bodyPr/>
                    <a:lstStyle/>
                    <a:p>
                      <a:pPr indent="0" marL="0">
                        <a:buNone/>
                      </a:pPr>
                      <a:r>
                        <a:rPr lang="en-US" sz="1200" dirty="0">
                          <a:solidFill>
                            <a:schemeClr val="tx1"/>
                          </a:solidFill>
                        </a:rPr>
                        <a:t>Reckless / Counterflow</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b="1" dirty="0">
                          <a:solidFill>
                            <a:schemeClr val="tx1"/>
                          </a:solidFill>
                        </a:rPr>
                        <a:t>₱3,000</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2"/>
                    </a:solidFill>
                  </a:tcPr>
                </a:tc>
              </a:tr>
              <a:tr h="310896">
                <a:tc>
                  <a:txBody>
                    <a:bodyPr/>
                    <a:lstStyle/>
                    <a:p>
                      <a:pPr indent="0" marL="0">
                        <a:buNone/>
                      </a:pPr>
                      <a:r>
                        <a:rPr lang="en-US" sz="1200" dirty="0">
                          <a:solidFill>
                            <a:schemeClr val="tx1"/>
                          </a:solidFill>
                        </a:rPr>
                        <a:t>Smoke Belching</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b="1" dirty="0">
                          <a:solidFill>
                            <a:schemeClr val="tx1"/>
                          </a:solidFill>
                        </a:rPr>
                        <a:t>₱1,500</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4" name="Override callout"/>
          <p:cNvSpPr/>
          <p:nvPr/>
        </p:nvSpPr>
        <p:spPr>
          <a:xfrm>
            <a:off x="8293608" y="5166360"/>
            <a:ext cx="3118104" cy="914400"/>
          </a:xfrm>
          <a:prstGeom prst="roundRect">
            <a:avLst>
              <a:gd name="adj" fmla="val 10000"/>
            </a:avLst>
          </a:prstGeom>
          <a:solidFill>
            <a:schemeClr val="accent1"/>
          </a:solidFill>
          <a:ln/>
        </p:spPr>
      </p:sp>
      <p:sp>
        <p:nvSpPr>
          <p:cNvPr id="45" name="Override callout text"/>
          <p:cNvSpPr txBox="1"/>
          <p:nvPr/>
        </p:nvSpPr>
        <p:spPr>
          <a:xfrm>
            <a:off x="8430768" y="5166360"/>
            <a:ext cx="2834640" cy="914400"/>
          </a:xfrm>
          <a:prstGeom prst="rect">
            <a:avLst/>
          </a:prstGeom>
          <a:noFill/>
          <a:ln/>
        </p:spPr>
        <p:txBody>
          <a:bodyPr wrap="square" lIns="0" tIns="0" rIns="0" bIns="0" rtlCol="0" anchor="ctr"/>
          <a:lstStyle/>
          <a:p>
            <a:pPr indent="0" marL="0">
              <a:buNone/>
            </a:pPr>
            <a:r>
              <a:rPr lang="en-US" sz="1200" b="1" dirty="0">
                <a:solidFill>
                  <a:schemeClr val="tx1"/>
                </a:solidFill>
              </a:rPr>
              <a:t>Discretionary override: </a:t>
            </a:r>
            <a:pPr indent="0" marL="0">
              <a:buNone/>
            </a:pPr>
            <a:r>
              <a:rPr lang="en-US" sz="1200" dirty="0">
                <a:solidFill>
                  <a:schemeClr val="tx1"/>
                </a:solidFill>
              </a:rPr>
              <a:t>authorizes manual fines while logging the original statutory total for audit.</a:t>
            </a:r>
            <a:endParaRPr lang="en-US" sz="12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Technical Challenges &amp; Solutions</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4: IMPLEMENTATION (10 PTS)</a:t>
            </a:r>
            <a:endParaRPr lang="en-US" sz="1100" dirty="0"/>
          </a:p>
        </p:txBody>
      </p:sp>
      <p:sp>
        <p:nvSpPr>
          <p:cNvPr id="4" name="Speaker chip"/>
          <p:cNvSpPr/>
          <p:nvPr/>
        </p:nvSpPr>
        <p:spPr>
          <a:xfrm>
            <a:off x="9011412" y="384048"/>
            <a:ext cx="2628900" cy="365760"/>
          </a:xfrm>
          <a:prstGeom prst="roundRect">
            <a:avLst>
              <a:gd name="adj" fmla="val 50000"/>
            </a:avLst>
          </a:prstGeom>
          <a:solidFill>
            <a:schemeClr val="tx2"/>
          </a:solidFill>
          <a:ln/>
        </p:spPr>
      </p:sp>
      <p:sp>
        <p:nvSpPr>
          <p:cNvPr id="5" name="Speaker label"/>
          <p:cNvSpPr txBox="1"/>
          <p:nvPr/>
        </p:nvSpPr>
        <p:spPr>
          <a:xfrm>
            <a:off x="9011412" y="384048"/>
            <a:ext cx="2628900" cy="365760"/>
          </a:xfrm>
          <a:prstGeom prst="rect">
            <a:avLst/>
          </a:prstGeom>
          <a:noFill/>
          <a:ln/>
        </p:spPr>
        <p:txBody>
          <a:bodyPr wrap="square" lIns="0" tIns="0" rIns="0" bIns="0" rtlCol="0" anchor="ctr"/>
          <a:lstStyle/>
          <a:p>
            <a:pPr algn="ctr" indent="0" marL="0">
              <a:buNone/>
            </a:pPr>
            <a:r>
              <a:rPr lang="en-US" sz="1200" b="1" dirty="0">
                <a:solidFill>
                  <a:schemeClr val="bg1"/>
                </a:solidFill>
              </a:rPr>
              <a:t>Emmanuel John  |  1.5 min</a:t>
            </a:r>
            <a:endParaRPr lang="en-US" sz="1200" dirty="0"/>
          </a:p>
        </p:txBody>
      </p:sp>
      <p:sp>
        <p:nvSpPr>
          <p:cNvPr id="6" name="Challenge column label"/>
          <p:cNvSpPr txBox="1"/>
          <p:nvPr/>
        </p:nvSpPr>
        <p:spPr>
          <a:xfrm>
            <a:off x="1325880" y="1371600"/>
            <a:ext cx="228600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CHALLENGE</a:t>
            </a:r>
            <a:endParaRPr lang="en-US" sz="1100" dirty="0"/>
          </a:p>
        </p:txBody>
      </p:sp>
      <p:sp>
        <p:nvSpPr>
          <p:cNvPr id="7" name="Problem column label"/>
          <p:cNvSpPr txBox="1"/>
          <p:nvPr/>
        </p:nvSpPr>
        <p:spPr>
          <a:xfrm>
            <a:off x="3977640" y="1371600"/>
            <a:ext cx="274320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PROBLEM</a:t>
            </a:r>
            <a:endParaRPr lang="en-US" sz="1100" dirty="0"/>
          </a:p>
        </p:txBody>
      </p:sp>
      <p:sp>
        <p:nvSpPr>
          <p:cNvPr id="8" name="Solution column label"/>
          <p:cNvSpPr txBox="1"/>
          <p:nvPr/>
        </p:nvSpPr>
        <p:spPr>
          <a:xfrm>
            <a:off x="7818120" y="1371600"/>
            <a:ext cx="274320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SOLUTION</a:t>
            </a:r>
            <a:endParaRPr lang="en-US" sz="1100" dirty="0"/>
          </a:p>
        </p:txBody>
      </p:sp>
      <p:sp>
        <p:nvSpPr>
          <p:cNvPr id="9" name="Challenge row 1"/>
          <p:cNvSpPr/>
          <p:nvPr/>
        </p:nvSpPr>
        <p:spPr>
          <a:xfrm>
            <a:off x="548640" y="1664208"/>
            <a:ext cx="11091672" cy="1033272"/>
          </a:xfrm>
          <a:prstGeom prst="roundRect">
            <a:avLst>
              <a:gd name="adj" fmla="val 8850"/>
            </a:avLst>
          </a:prstGeom>
          <a:solidFill>
            <a:schemeClr val="bg2"/>
          </a:solidFill>
          <a:ln/>
        </p:spPr>
      </p:sp>
      <p:sp>
        <p:nvSpPr>
          <p:cNvPr id="10" name="Challenge number background 1"/>
          <p:cNvSpPr/>
          <p:nvPr/>
        </p:nvSpPr>
        <p:spPr>
          <a:xfrm>
            <a:off x="731520" y="1965960"/>
            <a:ext cx="429768" cy="429768"/>
          </a:xfrm>
          <a:prstGeom prst="ellipse">
            <a:avLst/>
          </a:prstGeom>
          <a:solidFill>
            <a:schemeClr val="accent3"/>
          </a:solidFill>
          <a:ln/>
        </p:spPr>
      </p:sp>
      <p:sp>
        <p:nvSpPr>
          <p:cNvPr id="11" name="Challenge number 1"/>
          <p:cNvSpPr txBox="1"/>
          <p:nvPr/>
        </p:nvSpPr>
        <p:spPr>
          <a:xfrm>
            <a:off x="731520" y="1965960"/>
            <a:ext cx="429768" cy="42976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Challenge title 1"/>
          <p:cNvSpPr txBox="1"/>
          <p:nvPr/>
        </p:nvSpPr>
        <p:spPr>
          <a:xfrm>
            <a:off x="1325880" y="1664208"/>
            <a:ext cx="2377440" cy="10332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HTTP 413 'payload too large'</a:t>
            </a:r>
            <a:endParaRPr lang="en-US" sz="1500" dirty="0"/>
          </a:p>
        </p:txBody>
      </p:sp>
      <p:sp>
        <p:nvSpPr>
          <p:cNvPr id="13" name="Challenge problem 1"/>
          <p:cNvSpPr txBox="1"/>
          <p:nvPr/>
        </p:nvSpPr>
        <p:spPr>
          <a:xfrm>
            <a:off x="3977640" y="1664208"/>
            <a:ext cx="3520440" cy="1033272"/>
          </a:xfrm>
          <a:prstGeom prst="rect">
            <a:avLst/>
          </a:prstGeom>
          <a:noFill/>
          <a:ln/>
        </p:spPr>
        <p:txBody>
          <a:bodyPr wrap="square" lIns="0" tIns="0" rIns="0" bIns="0" rtlCol="0" anchor="ctr"/>
          <a:lstStyle/>
          <a:p>
            <a:pPr indent="0" marL="0">
              <a:buNone/>
            </a:pPr>
            <a:r>
              <a:rPr lang="en-US" sz="1300" dirty="0">
                <a:solidFill>
                  <a:schemeClr val="tx1"/>
                </a:solidFill>
              </a:rPr>
              <a:t>Phone photos of licenses (5-10 MB) exceeded Express body limits and crashed uploads.</a:t>
            </a:r>
            <a:endParaRPr lang="en-US" sz="1300" dirty="0"/>
          </a:p>
        </p:txBody>
      </p:sp>
      <p:sp>
        <p:nvSpPr>
          <p:cNvPr id="14" name="Challenge solution 1"/>
          <p:cNvSpPr txBox="1"/>
          <p:nvPr/>
        </p:nvSpPr>
        <p:spPr>
          <a:xfrm>
            <a:off x="7818120" y="1664208"/>
            <a:ext cx="3657600" cy="1033272"/>
          </a:xfrm>
          <a:prstGeom prst="rect">
            <a:avLst/>
          </a:prstGeom>
          <a:noFill/>
          <a:ln/>
        </p:spPr>
        <p:txBody>
          <a:bodyPr wrap="square" lIns="0" tIns="0" rIns="0" bIns="0" rtlCol="0" anchor="ctr"/>
          <a:lstStyle/>
          <a:p>
            <a:pPr indent="0" marL="0">
              <a:buNone/>
            </a:pPr>
            <a:r>
              <a:rPr lang="en-US" sz="1300" dirty="0">
                <a:solidFill>
                  <a:schemeClr val="tx1"/>
                </a:solidFill>
              </a:rPr>
              <a:t>Client-side canvas downsampling (max 1200 px, 0.7 JPEG) cuts payloads ~95% to under 150 KB; express.json limit set to 10 MB.</a:t>
            </a:r>
            <a:endParaRPr lang="en-US" sz="1300" dirty="0"/>
          </a:p>
        </p:txBody>
      </p:sp>
      <p:sp>
        <p:nvSpPr>
          <p:cNvPr id="15" name="Challenge row 2"/>
          <p:cNvSpPr/>
          <p:nvPr/>
        </p:nvSpPr>
        <p:spPr>
          <a:xfrm>
            <a:off x="548640" y="2807208"/>
            <a:ext cx="11091672" cy="1033272"/>
          </a:xfrm>
          <a:prstGeom prst="roundRect">
            <a:avLst>
              <a:gd name="adj" fmla="val 8850"/>
            </a:avLst>
          </a:prstGeom>
          <a:solidFill>
            <a:schemeClr val="bg2"/>
          </a:solidFill>
          <a:ln/>
        </p:spPr>
      </p:sp>
      <p:sp>
        <p:nvSpPr>
          <p:cNvPr id="16" name="Challenge number background 2"/>
          <p:cNvSpPr/>
          <p:nvPr/>
        </p:nvSpPr>
        <p:spPr>
          <a:xfrm>
            <a:off x="731520" y="3108960"/>
            <a:ext cx="429768" cy="429768"/>
          </a:xfrm>
          <a:prstGeom prst="ellipse">
            <a:avLst/>
          </a:prstGeom>
          <a:solidFill>
            <a:schemeClr val="accent3"/>
          </a:solidFill>
          <a:ln/>
        </p:spPr>
      </p:sp>
      <p:sp>
        <p:nvSpPr>
          <p:cNvPr id="17" name="Challenge number 2"/>
          <p:cNvSpPr txBox="1"/>
          <p:nvPr/>
        </p:nvSpPr>
        <p:spPr>
          <a:xfrm>
            <a:off x="731520" y="3108960"/>
            <a:ext cx="429768" cy="42976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Challenge title 2"/>
          <p:cNvSpPr txBox="1"/>
          <p:nvPr/>
        </p:nvSpPr>
        <p:spPr>
          <a:xfrm>
            <a:off x="1325880" y="2807208"/>
            <a:ext cx="2377440" cy="10332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Excel CSV encoding corruption</a:t>
            </a:r>
            <a:endParaRPr lang="en-US" sz="1500" dirty="0"/>
          </a:p>
        </p:txBody>
      </p:sp>
      <p:sp>
        <p:nvSpPr>
          <p:cNvPr id="19" name="Challenge problem 2"/>
          <p:cNvSpPr txBox="1"/>
          <p:nvPr/>
        </p:nvSpPr>
        <p:spPr>
          <a:xfrm>
            <a:off x="3977640" y="2807208"/>
            <a:ext cx="3520440" cy="1033272"/>
          </a:xfrm>
          <a:prstGeom prst="rect">
            <a:avLst/>
          </a:prstGeom>
          <a:noFill/>
          <a:ln/>
        </p:spPr>
        <p:txBody>
          <a:bodyPr wrap="square" lIns="0" tIns="0" rIns="0" bIns="0" rtlCol="0" anchor="ctr"/>
          <a:lstStyle/>
          <a:p>
            <a:pPr indent="0" marL="0">
              <a:buNone/>
            </a:pPr>
            <a:r>
              <a:rPr lang="en-US" sz="1300" dirty="0">
                <a:solidFill>
                  <a:schemeClr val="tx1"/>
                </a:solidFill>
              </a:rPr>
              <a:t>Peso signs and Filipino accents appeared as garbled characters when Treasury opened the CSV export in Excel.</a:t>
            </a:r>
            <a:endParaRPr lang="en-US" sz="1300" dirty="0"/>
          </a:p>
        </p:txBody>
      </p:sp>
      <p:sp>
        <p:nvSpPr>
          <p:cNvPr id="20" name="Challenge solution 2"/>
          <p:cNvSpPr txBox="1"/>
          <p:nvPr/>
        </p:nvSpPr>
        <p:spPr>
          <a:xfrm>
            <a:off x="7818120" y="2807208"/>
            <a:ext cx="3657600" cy="1033272"/>
          </a:xfrm>
          <a:prstGeom prst="rect">
            <a:avLst/>
          </a:prstGeom>
          <a:noFill/>
          <a:ln/>
        </p:spPr>
        <p:txBody>
          <a:bodyPr wrap="square" lIns="0" tIns="0" rIns="0" bIns="0" rtlCol="0" anchor="ctr"/>
          <a:lstStyle/>
          <a:p>
            <a:pPr indent="0" marL="0">
              <a:buNone/>
            </a:pPr>
            <a:r>
              <a:rPr lang="en-US" sz="1300" dirty="0">
                <a:solidFill>
                  <a:schemeClr val="tx1"/>
                </a:solidFill>
              </a:rPr>
              <a:t>Prepended the UTF-8 byte order mark (\uFEFF) to the CSV blob so Windows Excel reads full UTF-8.</a:t>
            </a:r>
            <a:endParaRPr lang="en-US" sz="1300" dirty="0"/>
          </a:p>
        </p:txBody>
      </p:sp>
      <p:sp>
        <p:nvSpPr>
          <p:cNvPr id="21" name="Challenge row 3"/>
          <p:cNvSpPr/>
          <p:nvPr/>
        </p:nvSpPr>
        <p:spPr>
          <a:xfrm>
            <a:off x="548640" y="3950208"/>
            <a:ext cx="11091672" cy="1033272"/>
          </a:xfrm>
          <a:prstGeom prst="roundRect">
            <a:avLst>
              <a:gd name="adj" fmla="val 8850"/>
            </a:avLst>
          </a:prstGeom>
          <a:solidFill>
            <a:schemeClr val="bg2"/>
          </a:solidFill>
          <a:ln/>
        </p:spPr>
      </p:sp>
      <p:sp>
        <p:nvSpPr>
          <p:cNvPr id="22" name="Challenge number background 3"/>
          <p:cNvSpPr/>
          <p:nvPr/>
        </p:nvSpPr>
        <p:spPr>
          <a:xfrm>
            <a:off x="731520" y="4251960"/>
            <a:ext cx="429768" cy="429768"/>
          </a:xfrm>
          <a:prstGeom prst="ellipse">
            <a:avLst/>
          </a:prstGeom>
          <a:solidFill>
            <a:schemeClr val="accent3"/>
          </a:solidFill>
          <a:ln/>
        </p:spPr>
      </p:sp>
      <p:sp>
        <p:nvSpPr>
          <p:cNvPr id="23" name="Challenge number 3"/>
          <p:cNvSpPr txBox="1"/>
          <p:nvPr/>
        </p:nvSpPr>
        <p:spPr>
          <a:xfrm>
            <a:off x="731520" y="4251960"/>
            <a:ext cx="429768" cy="42976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4" name="Challenge title 3"/>
          <p:cNvSpPr txBox="1"/>
          <p:nvPr/>
        </p:nvSpPr>
        <p:spPr>
          <a:xfrm>
            <a:off x="1325880" y="3950208"/>
            <a:ext cx="2377440" cy="10332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Thermal POS vs. A4 print centering</a:t>
            </a:r>
            <a:endParaRPr lang="en-US" sz="1500" dirty="0"/>
          </a:p>
        </p:txBody>
      </p:sp>
      <p:sp>
        <p:nvSpPr>
          <p:cNvPr id="25" name="Challenge problem 3"/>
          <p:cNvSpPr txBox="1"/>
          <p:nvPr/>
        </p:nvSpPr>
        <p:spPr>
          <a:xfrm>
            <a:off x="3977640" y="3950208"/>
            <a:ext cx="3520440" cy="1033272"/>
          </a:xfrm>
          <a:prstGeom prst="rect">
            <a:avLst/>
          </a:prstGeom>
          <a:noFill/>
          <a:ln/>
        </p:spPr>
        <p:txBody>
          <a:bodyPr wrap="square" lIns="0" tIns="0" rIns="0" bIns="0" rtlCol="0" anchor="ctr"/>
          <a:lstStyle/>
          <a:p>
            <a:pPr indent="0" marL="0">
              <a:buNone/>
            </a:pPr>
            <a:r>
              <a:rPr lang="en-US" sz="1300" dirty="0">
                <a:solidFill>
                  <a:schemeClr val="tx1"/>
                </a:solidFill>
              </a:rPr>
              <a:t>58/80 mm printers overflowed to multiple pages; A4 setups printed blank trailing rolls.</a:t>
            </a:r>
            <a:endParaRPr lang="en-US" sz="1300" dirty="0"/>
          </a:p>
        </p:txBody>
      </p:sp>
      <p:sp>
        <p:nvSpPr>
          <p:cNvPr id="26" name="Challenge solution 3"/>
          <p:cNvSpPr txBox="1"/>
          <p:nvPr/>
        </p:nvSpPr>
        <p:spPr>
          <a:xfrm>
            <a:off x="7818120" y="3950208"/>
            <a:ext cx="3657600" cy="1033272"/>
          </a:xfrm>
          <a:prstGeom prst="rect">
            <a:avLst/>
          </a:prstGeom>
          <a:noFill/>
          <a:ln/>
        </p:spPr>
        <p:txBody>
          <a:bodyPr wrap="square" lIns="0" tIns="0" rIns="0" bIns="0" rtlCol="0" anchor="ctr"/>
          <a:lstStyle/>
          <a:p>
            <a:pPr indent="0" marL="0">
              <a:buNone/>
            </a:pPr>
            <a:r>
              <a:rPr lang="en-US" sz="1300" dirty="0">
                <a:solidFill>
                  <a:schemeClr val="tx1"/>
                </a:solidFill>
              </a:rPr>
              <a:t>Custom @media print CSS with fixed mm containers (max-width 76 mm): centered on A4, exact fit on thermal rolls.</a:t>
            </a:r>
            <a:endParaRPr lang="en-US" sz="1300" dirty="0"/>
          </a:p>
        </p:txBody>
      </p:sp>
      <p:sp>
        <p:nvSpPr>
          <p:cNvPr id="27" name="Challenge row 4"/>
          <p:cNvSpPr/>
          <p:nvPr/>
        </p:nvSpPr>
        <p:spPr>
          <a:xfrm>
            <a:off x="548640" y="5093208"/>
            <a:ext cx="11091672" cy="1033272"/>
          </a:xfrm>
          <a:prstGeom prst="roundRect">
            <a:avLst>
              <a:gd name="adj" fmla="val 8850"/>
            </a:avLst>
          </a:prstGeom>
          <a:solidFill>
            <a:schemeClr val="bg2"/>
          </a:solidFill>
          <a:ln/>
        </p:spPr>
      </p:sp>
      <p:sp>
        <p:nvSpPr>
          <p:cNvPr id="28" name="Challenge number background 4"/>
          <p:cNvSpPr/>
          <p:nvPr/>
        </p:nvSpPr>
        <p:spPr>
          <a:xfrm>
            <a:off x="731520" y="5394960"/>
            <a:ext cx="429768" cy="429768"/>
          </a:xfrm>
          <a:prstGeom prst="ellipse">
            <a:avLst/>
          </a:prstGeom>
          <a:solidFill>
            <a:schemeClr val="accent3"/>
          </a:solidFill>
          <a:ln/>
        </p:spPr>
      </p:sp>
      <p:sp>
        <p:nvSpPr>
          <p:cNvPr id="29" name="Challenge number 4"/>
          <p:cNvSpPr txBox="1"/>
          <p:nvPr/>
        </p:nvSpPr>
        <p:spPr>
          <a:xfrm>
            <a:off x="731520" y="5394960"/>
            <a:ext cx="429768" cy="42976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0" name="Challenge title 4"/>
          <p:cNvSpPr txBox="1"/>
          <p:nvPr/>
        </p:nvSpPr>
        <p:spPr>
          <a:xfrm>
            <a:off x="1325880" y="5093208"/>
            <a:ext cx="2377440" cy="10332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Impound receipt enforcement</a:t>
            </a:r>
            <a:endParaRPr lang="en-US" sz="1500" dirty="0"/>
          </a:p>
        </p:txBody>
      </p:sp>
      <p:sp>
        <p:nvSpPr>
          <p:cNvPr id="31" name="Challenge problem 4"/>
          <p:cNvSpPr txBox="1"/>
          <p:nvPr/>
        </p:nvSpPr>
        <p:spPr>
          <a:xfrm>
            <a:off x="3977640" y="5093208"/>
            <a:ext cx="3520440" cy="1033272"/>
          </a:xfrm>
          <a:prstGeom prst="rect">
            <a:avLst/>
          </a:prstGeom>
          <a:noFill/>
          <a:ln/>
        </p:spPr>
        <p:txBody>
          <a:bodyPr wrap="square" lIns="0" tIns="0" rIns="0" bIns="0" rtlCol="0" anchor="ctr"/>
          <a:lstStyle/>
          <a:p>
            <a:pPr indent="0" marL="0">
              <a:buNone/>
            </a:pPr>
            <a:r>
              <a:rPr lang="en-US" sz="1300" dirty="0">
                <a:solidFill>
                  <a:schemeClr val="tx1"/>
                </a:solidFill>
              </a:rPr>
              <a:t>'Impounded' vehicles were sometimes submitted without slip numbers: a chain-of-custody gap.</a:t>
            </a:r>
            <a:endParaRPr lang="en-US" sz="1300" dirty="0"/>
          </a:p>
        </p:txBody>
      </p:sp>
      <p:sp>
        <p:nvSpPr>
          <p:cNvPr id="32" name="Challenge solution 4"/>
          <p:cNvSpPr txBox="1"/>
          <p:nvPr/>
        </p:nvSpPr>
        <p:spPr>
          <a:xfrm>
            <a:off x="7818120" y="5093208"/>
            <a:ext cx="3657600" cy="1033272"/>
          </a:xfrm>
          <a:prstGeom prst="rect">
            <a:avLst/>
          </a:prstGeom>
          <a:noFill/>
          <a:ln/>
        </p:spPr>
        <p:txBody>
          <a:bodyPr wrap="square" lIns="0" tIns="0" rIns="0" bIns="0" rtlCol="0" anchor="ctr"/>
          <a:lstStyle/>
          <a:p>
            <a:pPr indent="0" marL="0">
              <a:buNone/>
            </a:pPr>
            <a:r>
              <a:rPr lang="en-US" sz="1300" dirty="0">
                <a:solidFill>
                  <a:schemeClr val="tx1"/>
                </a:solidFill>
              </a:rPr>
              <a:t>Conditional validation in client JavaScript and the backend API rejects any impound without a valid slip number.</a:t>
            </a:r>
            <a:endParaRPr lang="en-US" sz="13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Testing Strategy &amp; QA Evidence</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5: TESTING &amp; QA (10 PTS)</a:t>
            </a:r>
            <a:endParaRPr lang="en-US" sz="1100" dirty="0"/>
          </a:p>
        </p:txBody>
      </p:sp>
      <p:sp>
        <p:nvSpPr>
          <p:cNvPr id="4" name="Speaker chip"/>
          <p:cNvSpPr/>
          <p:nvPr/>
        </p:nvSpPr>
        <p:spPr>
          <a:xfrm>
            <a:off x="9358884" y="384048"/>
            <a:ext cx="2281428" cy="365760"/>
          </a:xfrm>
          <a:prstGeom prst="roundRect">
            <a:avLst>
              <a:gd name="adj" fmla="val 50000"/>
            </a:avLst>
          </a:prstGeom>
          <a:solidFill>
            <a:schemeClr val="tx2"/>
          </a:solidFill>
          <a:ln/>
        </p:spPr>
      </p:sp>
      <p:sp>
        <p:nvSpPr>
          <p:cNvPr id="5" name="Speaker label"/>
          <p:cNvSpPr txBox="1"/>
          <p:nvPr/>
        </p:nvSpPr>
        <p:spPr>
          <a:xfrm>
            <a:off x="9358884" y="384048"/>
            <a:ext cx="2281428" cy="365760"/>
          </a:xfrm>
          <a:prstGeom prst="rect">
            <a:avLst/>
          </a:prstGeom>
          <a:noFill/>
          <a:ln/>
        </p:spPr>
        <p:txBody>
          <a:bodyPr wrap="square" lIns="0" tIns="0" rIns="0" bIns="0" rtlCol="0" anchor="ctr"/>
          <a:lstStyle/>
          <a:p>
            <a:pPr algn="ctr" indent="0" marL="0">
              <a:buNone/>
            </a:pPr>
            <a:r>
              <a:rPr lang="en-US" sz="1200" b="1" dirty="0">
                <a:solidFill>
                  <a:schemeClr val="bg1"/>
                </a:solidFill>
              </a:rPr>
              <a:t>Genuflect  |  3.0 min</a:t>
            </a:r>
            <a:endParaRPr lang="en-US" sz="1200" dirty="0"/>
          </a:p>
        </p:txBody>
      </p:sp>
      <p:sp>
        <p:nvSpPr>
          <p:cNvPr id="6" name="Test tier card 1"/>
          <p:cNvSpPr/>
          <p:nvPr/>
        </p:nvSpPr>
        <p:spPr>
          <a:xfrm>
            <a:off x="548640" y="1371600"/>
            <a:ext cx="7086600" cy="1517904"/>
          </a:xfrm>
          <a:prstGeom prst="roundRect">
            <a:avLst>
              <a:gd name="adj" fmla="val 6024"/>
            </a:avLst>
          </a:prstGeom>
          <a:solidFill>
            <a:schemeClr val="bg2"/>
          </a:solidFill>
          <a:ln/>
        </p:spPr>
      </p:sp>
      <p:sp>
        <p:nvSpPr>
          <p:cNvPr id="7" name="Tier 1 pill"/>
          <p:cNvSpPr/>
          <p:nvPr/>
        </p:nvSpPr>
        <p:spPr>
          <a:xfrm>
            <a:off x="731520" y="1527048"/>
            <a:ext cx="868680" cy="292608"/>
          </a:xfrm>
          <a:prstGeom prst="roundRect">
            <a:avLst>
              <a:gd name="adj" fmla="val 50000"/>
            </a:avLst>
          </a:prstGeom>
          <a:solidFill>
            <a:schemeClr val="accent2"/>
          </a:solidFill>
          <a:ln/>
        </p:spPr>
      </p:sp>
      <p:sp>
        <p:nvSpPr>
          <p:cNvPr id="8" name="Tier 1 label"/>
          <p:cNvSpPr txBox="1"/>
          <p:nvPr/>
        </p:nvSpPr>
        <p:spPr>
          <a:xfrm>
            <a:off x="731520" y="1527048"/>
            <a:ext cx="868680" cy="292608"/>
          </a:xfrm>
          <a:prstGeom prst="rect">
            <a:avLst/>
          </a:prstGeom>
          <a:noFill/>
          <a:ln/>
        </p:spPr>
        <p:txBody>
          <a:bodyPr wrap="square" lIns="0" tIns="0" rIns="0" bIns="0" rtlCol="0" anchor="ctr"/>
          <a:lstStyle/>
          <a:p>
            <a:pPr algn="ctr" indent="0" marL="0">
              <a:buNone/>
            </a:pPr>
            <a:r>
              <a:rPr lang="en-US" sz="1200" b="1" dirty="0">
                <a:solidFill>
                  <a:schemeClr val="bg1"/>
                </a:solidFill>
              </a:rPr>
              <a:t>TIER 1</a:t>
            </a:r>
            <a:endParaRPr lang="en-US" sz="1200" dirty="0"/>
          </a:p>
        </p:txBody>
      </p:sp>
      <p:sp>
        <p:nvSpPr>
          <p:cNvPr id="9" name="Tier title 1"/>
          <p:cNvSpPr txBox="1"/>
          <p:nvPr/>
        </p:nvSpPr>
        <p:spPr>
          <a:xfrm>
            <a:off x="1737360" y="1481328"/>
            <a:ext cx="2194560" cy="38404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Unit testing</a:t>
            </a:r>
            <a:endParaRPr lang="en-US" sz="1700" dirty="0"/>
          </a:p>
        </p:txBody>
      </p:sp>
      <p:sp>
        <p:nvSpPr>
          <p:cNvPr id="10" name="Tier scope 1"/>
          <p:cNvSpPr txBox="1"/>
          <p:nvPr/>
        </p:nvSpPr>
        <p:spPr>
          <a:xfrm>
            <a:off x="3931920" y="1481328"/>
            <a:ext cx="3566160" cy="384048"/>
          </a:xfrm>
          <a:prstGeom prst="rect">
            <a:avLst/>
          </a:prstGeom>
          <a:noFill/>
          <a:ln/>
        </p:spPr>
        <p:txBody>
          <a:bodyPr wrap="square" lIns="0" tIns="0" rIns="0" bIns="0" rtlCol="0" anchor="ctr"/>
          <a:lstStyle/>
          <a:p>
            <a:pPr indent="0" marL="0">
              <a:buNone/>
            </a:pPr>
            <a:r>
              <a:rPr lang="en-US" sz="1200" i="1" dirty="0">
                <a:solidFill>
                  <a:schemeClr val="accent6"/>
                </a:solidFill>
              </a:rPr>
              <a:t>Algorithmic correctness of isolated routines</a:t>
            </a:r>
            <a:endParaRPr lang="en-US" sz="1200" dirty="0"/>
          </a:p>
        </p:txBody>
      </p:sp>
      <p:sp>
        <p:nvSpPr>
          <p:cNvPr id="11" name="Tier specs 1"/>
          <p:cNvSpPr txBox="1"/>
          <p:nvPr/>
        </p:nvSpPr>
        <p:spPr>
          <a:xfrm>
            <a:off x="731520" y="1965960"/>
            <a:ext cx="6720840" cy="8686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Multi-offense fine totals and the expanded 14-violation schedule (RA 4136, JAO 2014-01)</a:t>
            </a:r>
            <a:endParaRPr lang="en-US" sz="1400" dirty="0"/>
          </a:p>
          <a:p>
            <a:pPr marL="177800" indent="-177800">
              <a:spcAft>
                <a:spcPts val="300"/>
              </a:spcAft>
              <a:buSzPct val="100000"/>
              <a:buChar char="•"/>
            </a:pPr>
            <a:r>
              <a:rPr lang="en-US" sz="1300" dirty="0">
                <a:solidFill>
                  <a:schemeClr val="tx1"/>
                </a:solidFill>
              </a:rPr>
              <a:t>Ticket numbers match /^PNP-\d{8}-[A-Z0-9]{6}$/</a:t>
            </a:r>
            <a:endParaRPr lang="en-US" sz="1400" dirty="0"/>
          </a:p>
          <a:p>
            <a:pPr marL="177800" indent="-177800">
              <a:spcAft>
                <a:spcPts val="300"/>
              </a:spcAft>
              <a:buSzPct val="100000"/>
              <a:buChar char="•"/>
            </a:pPr>
            <a:r>
              <a:rPr lang="en-US" sz="1300" dirty="0">
                <a:solidFill>
                  <a:schemeClr val="tx1"/>
                </a:solidFill>
              </a:rPr>
              <a:t>Pure screening logic: Alarm, Warning, Clear</a:t>
            </a:r>
            <a:endParaRPr lang="en-US" sz="1400" dirty="0"/>
          </a:p>
        </p:txBody>
      </p:sp>
      <p:sp>
        <p:nvSpPr>
          <p:cNvPr id="12" name="Test tier card 2"/>
          <p:cNvSpPr/>
          <p:nvPr/>
        </p:nvSpPr>
        <p:spPr>
          <a:xfrm>
            <a:off x="548640" y="2999232"/>
            <a:ext cx="7086600" cy="1517904"/>
          </a:xfrm>
          <a:prstGeom prst="roundRect">
            <a:avLst>
              <a:gd name="adj" fmla="val 6024"/>
            </a:avLst>
          </a:prstGeom>
          <a:solidFill>
            <a:schemeClr val="bg2"/>
          </a:solidFill>
          <a:ln/>
        </p:spPr>
      </p:sp>
      <p:sp>
        <p:nvSpPr>
          <p:cNvPr id="13" name="Tier 2 pill"/>
          <p:cNvSpPr/>
          <p:nvPr/>
        </p:nvSpPr>
        <p:spPr>
          <a:xfrm>
            <a:off x="731520" y="3154680"/>
            <a:ext cx="868680" cy="292608"/>
          </a:xfrm>
          <a:prstGeom prst="roundRect">
            <a:avLst>
              <a:gd name="adj" fmla="val 50000"/>
            </a:avLst>
          </a:prstGeom>
          <a:solidFill>
            <a:schemeClr val="accent2"/>
          </a:solidFill>
          <a:ln/>
        </p:spPr>
      </p:sp>
      <p:sp>
        <p:nvSpPr>
          <p:cNvPr id="14" name="Tier 2 label"/>
          <p:cNvSpPr txBox="1"/>
          <p:nvPr/>
        </p:nvSpPr>
        <p:spPr>
          <a:xfrm>
            <a:off x="731520" y="3154680"/>
            <a:ext cx="868680" cy="292608"/>
          </a:xfrm>
          <a:prstGeom prst="rect">
            <a:avLst/>
          </a:prstGeom>
          <a:noFill/>
          <a:ln/>
        </p:spPr>
        <p:txBody>
          <a:bodyPr wrap="square" lIns="0" tIns="0" rIns="0" bIns="0" rtlCol="0" anchor="ctr"/>
          <a:lstStyle/>
          <a:p>
            <a:pPr algn="ctr" indent="0" marL="0">
              <a:buNone/>
            </a:pPr>
            <a:r>
              <a:rPr lang="en-US" sz="1200" b="1" dirty="0">
                <a:solidFill>
                  <a:schemeClr val="bg1"/>
                </a:solidFill>
              </a:rPr>
              <a:t>TIER 2</a:t>
            </a:r>
            <a:endParaRPr lang="en-US" sz="1200" dirty="0"/>
          </a:p>
        </p:txBody>
      </p:sp>
      <p:sp>
        <p:nvSpPr>
          <p:cNvPr id="15" name="Tier title 2"/>
          <p:cNvSpPr txBox="1"/>
          <p:nvPr/>
        </p:nvSpPr>
        <p:spPr>
          <a:xfrm>
            <a:off x="1737360" y="3108960"/>
            <a:ext cx="2194560" cy="38404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Defensive validation</a:t>
            </a:r>
            <a:endParaRPr lang="en-US" sz="1700" dirty="0"/>
          </a:p>
        </p:txBody>
      </p:sp>
      <p:sp>
        <p:nvSpPr>
          <p:cNvPr id="16" name="Tier scope 2"/>
          <p:cNvSpPr txBox="1"/>
          <p:nvPr/>
        </p:nvSpPr>
        <p:spPr>
          <a:xfrm>
            <a:off x="3931920" y="3108960"/>
            <a:ext cx="3566160" cy="384048"/>
          </a:xfrm>
          <a:prstGeom prst="rect">
            <a:avLst/>
          </a:prstGeom>
          <a:noFill/>
          <a:ln/>
        </p:spPr>
        <p:txBody>
          <a:bodyPr wrap="square" lIns="0" tIns="0" rIns="0" bIns="0" rtlCol="0" anchor="ctr"/>
          <a:lstStyle/>
          <a:p>
            <a:pPr indent="0" marL="0">
              <a:buNone/>
            </a:pPr>
            <a:r>
              <a:rPr lang="en-US" sz="1200" i="1" dirty="0">
                <a:solidFill>
                  <a:schemeClr val="accent6"/>
                </a:solidFill>
              </a:rPr>
              <a:t>Boundary conditions and trust-boundary defense</a:t>
            </a:r>
            <a:endParaRPr lang="en-US" sz="1200" dirty="0"/>
          </a:p>
        </p:txBody>
      </p:sp>
      <p:sp>
        <p:nvSpPr>
          <p:cNvPr id="17" name="Tier specs 2"/>
          <p:cNvSpPr txBox="1"/>
          <p:nvPr/>
        </p:nvSpPr>
        <p:spPr>
          <a:xfrm>
            <a:off x="731520" y="3593592"/>
            <a:ext cx="6720840" cy="8686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Alt-ID required for unlicensed drivers; valid license required when licensed</a:t>
            </a:r>
            <a:endParaRPr lang="en-US" sz="1400" dirty="0"/>
          </a:p>
          <a:p>
            <a:pPr marL="177800" indent="-177800">
              <a:spcAft>
                <a:spcPts val="300"/>
              </a:spcAft>
              <a:buSzPct val="100000"/>
              <a:buChar char="•"/>
            </a:pPr>
            <a:r>
              <a:rPr lang="en-US" sz="1300" dirty="0">
                <a:solidFill>
                  <a:schemeClr val="tx1"/>
                </a:solidFill>
              </a:rPr>
              <a:t>Fine override authorization is verified</a:t>
            </a:r>
            <a:endParaRPr lang="en-US" sz="1400" dirty="0"/>
          </a:p>
          <a:p>
            <a:pPr marL="177800" indent="-177800">
              <a:spcAft>
                <a:spcPts val="300"/>
              </a:spcAft>
              <a:buSzPct val="100000"/>
              <a:buChar char="•"/>
            </a:pPr>
            <a:r>
              <a:rPr lang="en-US" sz="1300" dirty="0">
                <a:solidFill>
                  <a:schemeClr val="tx1"/>
                </a:solidFill>
              </a:rPr>
              <a:t>Impound slip mandatory when disposition is 'Impounded'</a:t>
            </a:r>
            <a:endParaRPr lang="en-US" sz="1400" dirty="0"/>
          </a:p>
        </p:txBody>
      </p:sp>
      <p:sp>
        <p:nvSpPr>
          <p:cNvPr id="18" name="Test tier card 3"/>
          <p:cNvSpPr/>
          <p:nvPr/>
        </p:nvSpPr>
        <p:spPr>
          <a:xfrm>
            <a:off x="548640" y="4626864"/>
            <a:ext cx="7086600" cy="1517904"/>
          </a:xfrm>
          <a:prstGeom prst="roundRect">
            <a:avLst>
              <a:gd name="adj" fmla="val 6024"/>
            </a:avLst>
          </a:prstGeom>
          <a:solidFill>
            <a:schemeClr val="bg2"/>
          </a:solidFill>
          <a:ln/>
        </p:spPr>
      </p:sp>
      <p:sp>
        <p:nvSpPr>
          <p:cNvPr id="19" name="Tier 3 pill"/>
          <p:cNvSpPr/>
          <p:nvPr/>
        </p:nvSpPr>
        <p:spPr>
          <a:xfrm>
            <a:off x="731520" y="4782312"/>
            <a:ext cx="868680" cy="292608"/>
          </a:xfrm>
          <a:prstGeom prst="roundRect">
            <a:avLst>
              <a:gd name="adj" fmla="val 50000"/>
            </a:avLst>
          </a:prstGeom>
          <a:solidFill>
            <a:schemeClr val="accent2"/>
          </a:solidFill>
          <a:ln/>
        </p:spPr>
      </p:sp>
      <p:sp>
        <p:nvSpPr>
          <p:cNvPr id="20" name="Tier 3 label"/>
          <p:cNvSpPr txBox="1"/>
          <p:nvPr/>
        </p:nvSpPr>
        <p:spPr>
          <a:xfrm>
            <a:off x="731520" y="4782312"/>
            <a:ext cx="868680" cy="292608"/>
          </a:xfrm>
          <a:prstGeom prst="rect">
            <a:avLst/>
          </a:prstGeom>
          <a:noFill/>
          <a:ln/>
        </p:spPr>
        <p:txBody>
          <a:bodyPr wrap="square" lIns="0" tIns="0" rIns="0" bIns="0" rtlCol="0" anchor="ctr"/>
          <a:lstStyle/>
          <a:p>
            <a:pPr algn="ctr" indent="0" marL="0">
              <a:buNone/>
            </a:pPr>
            <a:r>
              <a:rPr lang="en-US" sz="1200" b="1" dirty="0">
                <a:solidFill>
                  <a:schemeClr val="bg1"/>
                </a:solidFill>
              </a:rPr>
              <a:t>TIER 3</a:t>
            </a:r>
            <a:endParaRPr lang="en-US" sz="1200" dirty="0"/>
          </a:p>
        </p:txBody>
      </p:sp>
      <p:sp>
        <p:nvSpPr>
          <p:cNvPr id="21" name="Tier title 3"/>
          <p:cNvSpPr txBox="1"/>
          <p:nvPr/>
        </p:nvSpPr>
        <p:spPr>
          <a:xfrm>
            <a:off x="1737360" y="4736592"/>
            <a:ext cx="2194560" cy="38404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Integration &amp; API</a:t>
            </a:r>
            <a:endParaRPr lang="en-US" sz="1700" dirty="0"/>
          </a:p>
        </p:txBody>
      </p:sp>
      <p:sp>
        <p:nvSpPr>
          <p:cNvPr id="22" name="Tier scope 3"/>
          <p:cNvSpPr txBox="1"/>
          <p:nvPr/>
        </p:nvSpPr>
        <p:spPr>
          <a:xfrm>
            <a:off x="3931920" y="4736592"/>
            <a:ext cx="3566160" cy="384048"/>
          </a:xfrm>
          <a:prstGeom prst="rect">
            <a:avLst/>
          </a:prstGeom>
          <a:noFill/>
          <a:ln/>
        </p:spPr>
        <p:txBody>
          <a:bodyPr wrap="square" lIns="0" tIns="0" rIns="0" bIns="0" rtlCol="0" anchor="ctr"/>
          <a:lstStyle/>
          <a:p>
            <a:pPr indent="0" marL="0">
              <a:buNone/>
            </a:pPr>
            <a:r>
              <a:rPr lang="en-US" sz="1200" i="1" dirty="0">
                <a:solidFill>
                  <a:schemeClr val="accent6"/>
                </a:solidFill>
              </a:rPr>
              <a:t>End-to-end REST endpoints and SQLite transactions</a:t>
            </a:r>
            <a:endParaRPr lang="en-US" sz="1200" dirty="0"/>
          </a:p>
        </p:txBody>
      </p:sp>
      <p:sp>
        <p:nvSpPr>
          <p:cNvPr id="23" name="Tier specs 3"/>
          <p:cNvSpPr txBox="1"/>
          <p:nvPr/>
        </p:nvSpPr>
        <p:spPr>
          <a:xfrm>
            <a:off x="731520" y="5221224"/>
            <a:ext cx="6720840" cy="8686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PATCH status transitions; invalid statuses rejected</a:t>
            </a:r>
            <a:endParaRPr lang="en-US" sz="1400" dirty="0"/>
          </a:p>
          <a:p>
            <a:pPr marL="177800" indent="-177800">
              <a:spcAft>
                <a:spcPts val="300"/>
              </a:spcAft>
              <a:buSzPct val="100000"/>
              <a:buChar char="•"/>
            </a:pPr>
            <a:r>
              <a:rPr lang="en-US" sz="1300" dirty="0">
                <a:solidFill>
                  <a:schemeClr val="tx1"/>
                </a:solidFill>
              </a:rPr>
              <a:t>GET /search (ticket, officer, plate, driver) and /reports/summary KPIs</a:t>
            </a:r>
            <a:endParaRPr lang="en-US" sz="1400" dirty="0"/>
          </a:p>
          <a:p>
            <a:pPr marL="177800" indent="-177800">
              <a:spcAft>
                <a:spcPts val="300"/>
              </a:spcAft>
              <a:buSzPct val="100000"/>
              <a:buChar char="•"/>
            </a:pPr>
            <a:r>
              <a:rPr lang="en-US" sz="1300" dirty="0">
                <a:solidFill>
                  <a:schemeClr val="tx1"/>
                </a:solidFill>
              </a:rPr>
              <a:t>POST ingests base64 evidence over 100 KB without payload errors</a:t>
            </a:r>
            <a:endParaRPr lang="en-US" sz="1400" dirty="0"/>
          </a:p>
        </p:txBody>
      </p:sp>
      <p:sp>
        <p:nvSpPr>
          <p:cNvPr id="24" name="Scoreboard"/>
          <p:cNvSpPr/>
          <p:nvPr/>
        </p:nvSpPr>
        <p:spPr>
          <a:xfrm>
            <a:off x="7909560" y="1371600"/>
            <a:ext cx="3730752" cy="4846320"/>
          </a:xfrm>
          <a:prstGeom prst="roundRect">
            <a:avLst>
              <a:gd name="adj" fmla="val 2451"/>
            </a:avLst>
          </a:prstGeom>
          <a:solidFill>
            <a:schemeClr val="tx2"/>
          </a:solidFill>
          <a:ln/>
        </p:spPr>
      </p:sp>
      <p:sp>
        <p:nvSpPr>
          <p:cNvPr id="25" name="Scoreboard label"/>
          <p:cNvSpPr txBox="1"/>
          <p:nvPr/>
        </p:nvSpPr>
        <p:spPr>
          <a:xfrm>
            <a:off x="8138160" y="1554480"/>
            <a:ext cx="329184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AUTOMATED TEST SCOREBOARD</a:t>
            </a:r>
            <a:endParaRPr lang="en-US" sz="1100" dirty="0"/>
          </a:p>
        </p:txBody>
      </p:sp>
      <p:sp>
        <p:nvSpPr>
          <p:cNvPr id="26" name="Tests passing"/>
          <p:cNvSpPr txBox="1"/>
          <p:nvPr/>
        </p:nvSpPr>
        <p:spPr>
          <a:xfrm>
            <a:off x="8138160" y="1828800"/>
            <a:ext cx="3291840" cy="868680"/>
          </a:xfrm>
          <a:prstGeom prst="rect">
            <a:avLst/>
          </a:prstGeom>
          <a:noFill/>
          <a:ln/>
        </p:spPr>
        <p:txBody>
          <a:bodyPr wrap="square" lIns="0" tIns="0" rIns="0" bIns="0" rtlCol="0" anchor="t"/>
          <a:lstStyle/>
          <a:p>
            <a:pPr indent="0" marL="0">
              <a:buNone/>
            </a:pPr>
            <a:r>
              <a:rPr lang="en-US" sz="5600" b="1" dirty="0">
                <a:solidFill>
                  <a:schemeClr val="accent5"/>
                </a:solidFill>
                <a:latin typeface="+mj-lt" pitchFamily="34" charset="0"/>
                <a:ea typeface="+mj-lt" pitchFamily="34" charset="-122"/>
                <a:cs typeface="+mj-lt" pitchFamily="34" charset="-120"/>
              </a:rPr>
              <a:t>14 / 14</a:t>
            </a:r>
            <a:endParaRPr lang="en-US" sz="5600" dirty="0"/>
          </a:p>
        </p:txBody>
      </p:sp>
      <p:sp>
        <p:nvSpPr>
          <p:cNvPr id="27" name="Pass rate"/>
          <p:cNvSpPr txBox="1"/>
          <p:nvPr/>
        </p:nvSpPr>
        <p:spPr>
          <a:xfrm>
            <a:off x="8138160" y="2724912"/>
            <a:ext cx="3291840" cy="274320"/>
          </a:xfrm>
          <a:prstGeom prst="rect">
            <a:avLst/>
          </a:prstGeom>
          <a:noFill/>
          <a:ln/>
        </p:spPr>
        <p:txBody>
          <a:bodyPr wrap="square" lIns="0" tIns="0" rIns="0" bIns="0" rtlCol="0" anchor="t"/>
          <a:lstStyle/>
          <a:p>
            <a:pPr indent="0" marL="0">
              <a:buNone/>
            </a:pPr>
            <a:r>
              <a:rPr lang="en-US" sz="1200" b="1" dirty="0">
                <a:solidFill>
                  <a:schemeClr val="bg1"/>
                </a:solidFill>
              </a:rPr>
              <a:t>TESTS PASSING  |  100% PASS RATE</a:t>
            </a:r>
            <a:endParaRPr lang="en-US" sz="1200" dirty="0"/>
          </a:p>
        </p:txBody>
      </p:sp>
      <p:sp>
        <p:nvSpPr>
          <p:cNvPr id="28" name="Execution time"/>
          <p:cNvSpPr txBox="1"/>
          <p:nvPr/>
        </p:nvSpPr>
        <p:spPr>
          <a:xfrm>
            <a:off x="8138160" y="3017520"/>
            <a:ext cx="3291840" cy="274320"/>
          </a:xfrm>
          <a:prstGeom prst="rect">
            <a:avLst/>
          </a:prstGeom>
          <a:noFill/>
          <a:ln/>
        </p:spPr>
        <p:txBody>
          <a:bodyPr wrap="square" lIns="0" tIns="0" rIns="0" bIns="0" rtlCol="0" anchor="t"/>
          <a:lstStyle/>
          <a:p>
            <a:pPr indent="0" marL="0">
              <a:buNone/>
            </a:pPr>
            <a:r>
              <a:rPr lang="en-US" sz="1300" dirty="0">
                <a:solidFill>
                  <a:schemeClr val="bg2"/>
                </a:solidFill>
              </a:rPr>
              <a:t>Execution time: 5.69 seconds</a:t>
            </a:r>
            <a:endParaRPr lang="en-US" sz="1300" dirty="0"/>
          </a:p>
        </p:txBody>
      </p:sp>
      <p:sp>
        <p:nvSpPr>
          <p:cNvPr id="29" name="Test metrics"/>
          <p:cNvSpPr txBox="1"/>
          <p:nvPr/>
        </p:nvSpPr>
        <p:spPr>
          <a:xfrm>
            <a:off x="8138160" y="3474720"/>
            <a:ext cx="3291840" cy="1554480"/>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bg1"/>
                </a:solidFill>
              </a:rPr>
              <a:t>Framework: </a:t>
            </a:r>
            <a:pPr indent="0" marL="0">
              <a:buNone/>
            </a:pPr>
            <a:r>
              <a:rPr lang="en-US" sz="1300" dirty="0">
                <a:solidFill>
                  <a:schemeClr val="bg1"/>
                </a:solidFill>
              </a:rPr>
              <a:t>native node:test</a:t>
            </a:r>
            <a:endParaRPr lang="en-US" sz="1400" dirty="0"/>
          </a:p>
          <a:p>
            <a:pPr marL="177800" indent="-177800">
              <a:spcAft>
                <a:spcPts val="400"/>
              </a:spcAft>
              <a:buSzPct val="100000"/>
              <a:buChar char="•"/>
            </a:pPr>
            <a:r>
              <a:rPr lang="en-US" sz="1300" b="1" dirty="0">
                <a:solidFill>
                  <a:schemeClr val="bg1"/>
                </a:solidFill>
              </a:rPr>
              <a:t>Assertions: </a:t>
            </a:r>
            <a:pPr indent="0" marL="0">
              <a:buNone/>
            </a:pPr>
            <a:r>
              <a:rPr lang="en-US" sz="1300" dirty="0">
                <a:solidFill>
                  <a:schemeClr val="bg1"/>
                </a:solidFill>
              </a:rPr>
              <a:t>node:assert/strict</a:t>
            </a:r>
            <a:endParaRPr lang="en-US" sz="1400" dirty="0"/>
          </a:p>
          <a:p>
            <a:pPr marL="177800" indent="-177800">
              <a:spcAft>
                <a:spcPts val="400"/>
              </a:spcAft>
              <a:buSzPct val="100000"/>
              <a:buChar char="•"/>
            </a:pPr>
            <a:r>
              <a:rPr lang="en-US" sz="1300" b="1" dirty="0">
                <a:solidFill>
                  <a:schemeClr val="bg1"/>
                </a:solidFill>
              </a:rPr>
              <a:t>Result: </a:t>
            </a:r>
            <a:pPr indent="0" marL="0">
              <a:buNone/>
            </a:pPr>
            <a:r>
              <a:rPr lang="en-US" sz="1300" dirty="0">
                <a:solidFill>
                  <a:schemeClr val="bg1"/>
                </a:solidFill>
              </a:rPr>
              <a:t>14 pass, 0 fail, 0 skipped</a:t>
            </a:r>
            <a:endParaRPr lang="en-US" sz="1400" dirty="0"/>
          </a:p>
          <a:p>
            <a:pPr marL="177800" indent="-177800">
              <a:spcAft>
                <a:spcPts val="400"/>
              </a:spcAft>
              <a:buSzPct val="100000"/>
              <a:buChar char="•"/>
            </a:pPr>
            <a:r>
              <a:rPr lang="en-US" sz="1300" b="1" dirty="0">
                <a:solidFill>
                  <a:schemeClr val="bg1"/>
                </a:solidFill>
              </a:rPr>
              <a:t>Zero flaky tests: </a:t>
            </a:r>
            <a:pPr indent="0" marL="0">
              <a:buNone/>
            </a:pPr>
            <a:r>
              <a:rPr lang="en-US" sz="1300" dirty="0">
                <a:solidFill>
                  <a:schemeClr val="bg1"/>
                </a:solidFill>
              </a:rPr>
              <a:t>isolated local SQLite</a:t>
            </a:r>
            <a:endParaRPr lang="en-US" sz="1400" dirty="0"/>
          </a:p>
        </p:txBody>
      </p:sp>
      <p:sp>
        <p:nvSpPr>
          <p:cNvPr id="30" name="Re-run command"/>
          <p:cNvSpPr/>
          <p:nvPr/>
        </p:nvSpPr>
        <p:spPr>
          <a:xfrm>
            <a:off x="8138160" y="5212080"/>
            <a:ext cx="3273552" cy="777240"/>
          </a:xfrm>
          <a:prstGeom prst="roundRect">
            <a:avLst>
              <a:gd name="adj" fmla="val 11765"/>
            </a:avLst>
          </a:prstGeom>
          <a:solidFill>
            <a:schemeClr val="tx1"/>
          </a:solidFill>
          <a:ln/>
        </p:spPr>
      </p:sp>
      <p:sp>
        <p:nvSpPr>
          <p:cNvPr id="31" name="Re-run command text"/>
          <p:cNvSpPr txBox="1"/>
          <p:nvPr/>
        </p:nvSpPr>
        <p:spPr>
          <a:xfrm>
            <a:off x="8275320" y="5212080"/>
            <a:ext cx="3017520" cy="777240"/>
          </a:xfrm>
          <a:prstGeom prst="rect">
            <a:avLst/>
          </a:prstGeom>
          <a:noFill/>
          <a:ln/>
        </p:spPr>
        <p:txBody>
          <a:bodyPr wrap="square" lIns="0" tIns="0" rIns="0" bIns="0" rtlCol="0" anchor="ctr"/>
          <a:lstStyle/>
          <a:p>
            <a:pPr indent="0" marL="0">
              <a:buNone/>
            </a:pPr>
            <a:r>
              <a:rPr lang="en-US" sz="1000" b="1" spc="100" kern="0" dirty="0">
                <a:solidFill>
                  <a:schemeClr val="accent1"/>
                </a:solidFill>
              </a:rPr>
              <a:t>RE-RUN ANYTIME</a:t>
            </a:r>
            <a:endParaRPr lang="en-US" sz="1400" dirty="0"/>
          </a:p>
          <a:p>
            <a:pPr indent="0" marL="0">
              <a:buNone/>
            </a:pPr>
            <a:r>
              <a:rPr lang="en-US" sz="1100" dirty="0">
                <a:solidFill>
                  <a:schemeClr val="bg1"/>
                </a:solidFill>
                <a:latin typeface="Courier New" pitchFamily="34" charset="0"/>
                <a:ea typeface="Courier New" pitchFamily="34" charset="-122"/>
                <a:cs typeface="Courier New" pitchFamily="34" charset="-120"/>
              </a:rPr>
              <a:t>cd 'Source Code' &amp;&amp; node --test</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Project Management &amp; SCM Governance</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CATEGORY A  |  CRITERION 6: PROJECT MANAGEMENT &amp; SCM (5 PTS)</a:t>
            </a:r>
            <a:endParaRPr lang="en-US" sz="1100" dirty="0"/>
          </a:p>
        </p:txBody>
      </p:sp>
      <p:sp>
        <p:nvSpPr>
          <p:cNvPr id="4" name="Speaker chip"/>
          <p:cNvSpPr/>
          <p:nvPr/>
        </p:nvSpPr>
        <p:spPr>
          <a:xfrm>
            <a:off x="9537192" y="384048"/>
            <a:ext cx="2103120" cy="365760"/>
          </a:xfrm>
          <a:prstGeom prst="roundRect">
            <a:avLst>
              <a:gd name="adj" fmla="val 50000"/>
            </a:avLst>
          </a:prstGeom>
          <a:solidFill>
            <a:schemeClr val="tx2"/>
          </a:solidFill>
          <a:ln/>
        </p:spPr>
      </p:sp>
      <p:sp>
        <p:nvSpPr>
          <p:cNvPr id="5" name="Speaker label"/>
          <p:cNvSpPr txBox="1"/>
          <p:nvPr/>
        </p:nvSpPr>
        <p:spPr>
          <a:xfrm>
            <a:off x="9537192" y="384048"/>
            <a:ext cx="2103120" cy="365760"/>
          </a:xfrm>
          <a:prstGeom prst="rect">
            <a:avLst/>
          </a:prstGeom>
          <a:noFill/>
          <a:ln/>
        </p:spPr>
        <p:txBody>
          <a:bodyPr wrap="square" lIns="0" tIns="0" rIns="0" bIns="0" rtlCol="0" anchor="ctr"/>
          <a:lstStyle/>
          <a:p>
            <a:pPr algn="ctr" indent="0" marL="0">
              <a:buNone/>
            </a:pPr>
            <a:r>
              <a:rPr lang="en-US" sz="1200" b="1" dirty="0">
                <a:solidFill>
                  <a:schemeClr val="bg1"/>
                </a:solidFill>
              </a:rPr>
              <a:t>Ranier  |  1.5 min</a:t>
            </a:r>
            <a:endParaRPr lang="en-US" sz="1200" dirty="0"/>
          </a:p>
        </p:txBody>
      </p:sp>
      <p:sp>
        <p:nvSpPr>
          <p:cNvPr id="6" name="Sprint card 1"/>
          <p:cNvSpPr/>
          <p:nvPr/>
        </p:nvSpPr>
        <p:spPr>
          <a:xfrm>
            <a:off x="548640" y="1371600"/>
            <a:ext cx="2601468" cy="2834640"/>
          </a:xfrm>
          <a:prstGeom prst="roundRect">
            <a:avLst>
              <a:gd name="adj" fmla="val 3515"/>
            </a:avLst>
          </a:prstGeom>
          <a:solidFill>
            <a:schemeClr val="bg2"/>
          </a:solidFill>
          <a:ln/>
        </p:spPr>
      </p:sp>
      <p:sp>
        <p:nvSpPr>
          <p:cNvPr id="7" name="Sprint number background 1"/>
          <p:cNvSpPr/>
          <p:nvPr/>
        </p:nvSpPr>
        <p:spPr>
          <a:xfrm>
            <a:off x="731520" y="1554480"/>
            <a:ext cx="457200" cy="457200"/>
          </a:xfrm>
          <a:prstGeom prst="ellipse">
            <a:avLst/>
          </a:prstGeom>
          <a:solidFill>
            <a:schemeClr val="accent2"/>
          </a:solidFill>
          <a:ln/>
        </p:spPr>
      </p:sp>
      <p:sp>
        <p:nvSpPr>
          <p:cNvPr id="8" name="Sprint number 1"/>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Sprint label 1"/>
          <p:cNvSpPr txBox="1"/>
          <p:nvPr/>
        </p:nvSpPr>
        <p:spPr>
          <a:xfrm>
            <a:off x="1325880" y="1554480"/>
            <a:ext cx="1645920" cy="457200"/>
          </a:xfrm>
          <a:prstGeom prst="rect">
            <a:avLst/>
          </a:prstGeom>
          <a:noFill/>
          <a:ln/>
        </p:spPr>
        <p:txBody>
          <a:bodyPr wrap="square" lIns="0" tIns="0" rIns="0" bIns="0" rtlCol="0" anchor="ctr"/>
          <a:lstStyle/>
          <a:p>
            <a:pPr indent="0" marL="0">
              <a:buNone/>
            </a:pPr>
            <a:r>
              <a:rPr lang="en-US" sz="1200" b="1" spc="100" kern="0" dirty="0">
                <a:solidFill>
                  <a:schemeClr val="accent2"/>
                </a:solidFill>
              </a:rPr>
              <a:t>SPRINT 1</a:t>
            </a:r>
            <a:endParaRPr lang="en-US" sz="1200" dirty="0"/>
          </a:p>
        </p:txBody>
      </p:sp>
      <p:sp>
        <p:nvSpPr>
          <p:cNvPr id="10" name="Sprint title 1"/>
          <p:cNvSpPr txBox="1"/>
          <p:nvPr/>
        </p:nvSpPr>
        <p:spPr>
          <a:xfrm>
            <a:off x="731520" y="2148840"/>
            <a:ext cx="2286000" cy="56692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Problem discovery &amp; SCM baseline</a:t>
            </a:r>
            <a:endParaRPr lang="en-US" sz="1600" dirty="0"/>
          </a:p>
        </p:txBody>
      </p:sp>
      <p:sp>
        <p:nvSpPr>
          <p:cNvPr id="11" name="Sprint details 1"/>
          <p:cNvSpPr txBox="1"/>
          <p:nvPr/>
        </p:nvSpPr>
        <p:spPr>
          <a:xfrm>
            <a:off x="731520" y="2788920"/>
            <a:ext cx="2286000" cy="13716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Stakeholder interviews at Agoo MPS</a:t>
            </a:r>
            <a:endParaRPr lang="en-US" sz="1400" dirty="0"/>
          </a:p>
          <a:p>
            <a:pPr marL="177800" indent="-177800">
              <a:spcAft>
                <a:spcPts val="500"/>
              </a:spcAft>
              <a:buSzPct val="100000"/>
              <a:buChar char="•"/>
            </a:pPr>
            <a:r>
              <a:rPr lang="en-US" sz="1300" dirty="0">
                <a:solidFill>
                  <a:schemeClr val="tx1"/>
                </a:solidFill>
              </a:rPr>
              <a:t>SCM_PLAN.md defined</a:t>
            </a:r>
            <a:endParaRPr lang="en-US" sz="1400" dirty="0"/>
          </a:p>
          <a:p>
            <a:pPr marL="177800" indent="-177800">
              <a:spcAft>
                <a:spcPts val="500"/>
              </a:spcAft>
              <a:buSzPct val="100000"/>
              <a:buChar char="•"/>
            </a:pPr>
            <a:r>
              <a:rPr lang="en-US" sz="1300" dirty="0">
                <a:solidFill>
                  <a:schemeClr val="tx1"/>
                </a:solidFill>
              </a:rPr>
              <a:t>Baseline v1.0.0 approved</a:t>
            </a:r>
            <a:endParaRPr lang="en-US" sz="1400" dirty="0"/>
          </a:p>
        </p:txBody>
      </p:sp>
      <p:sp>
        <p:nvSpPr>
          <p:cNvPr id="12" name="Sprint card 2"/>
          <p:cNvSpPr/>
          <p:nvPr/>
        </p:nvSpPr>
        <p:spPr>
          <a:xfrm>
            <a:off x="3378708" y="1371600"/>
            <a:ext cx="2601468" cy="2834640"/>
          </a:xfrm>
          <a:prstGeom prst="roundRect">
            <a:avLst>
              <a:gd name="adj" fmla="val 3515"/>
            </a:avLst>
          </a:prstGeom>
          <a:solidFill>
            <a:schemeClr val="bg2"/>
          </a:solidFill>
          <a:ln/>
        </p:spPr>
      </p:sp>
      <p:sp>
        <p:nvSpPr>
          <p:cNvPr id="13" name="Sprint number background 2"/>
          <p:cNvSpPr/>
          <p:nvPr/>
        </p:nvSpPr>
        <p:spPr>
          <a:xfrm>
            <a:off x="3561588" y="1554480"/>
            <a:ext cx="457200" cy="457200"/>
          </a:xfrm>
          <a:prstGeom prst="ellipse">
            <a:avLst/>
          </a:prstGeom>
          <a:solidFill>
            <a:schemeClr val="accent2"/>
          </a:solidFill>
          <a:ln/>
        </p:spPr>
      </p:sp>
      <p:sp>
        <p:nvSpPr>
          <p:cNvPr id="14" name="Sprint number 2"/>
          <p:cNvSpPr txBox="1"/>
          <p:nvPr/>
        </p:nvSpPr>
        <p:spPr>
          <a:xfrm>
            <a:off x="3561588"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Sprint label 2"/>
          <p:cNvSpPr txBox="1"/>
          <p:nvPr/>
        </p:nvSpPr>
        <p:spPr>
          <a:xfrm>
            <a:off x="4155948" y="1554480"/>
            <a:ext cx="1645920" cy="457200"/>
          </a:xfrm>
          <a:prstGeom prst="rect">
            <a:avLst/>
          </a:prstGeom>
          <a:noFill/>
          <a:ln/>
        </p:spPr>
        <p:txBody>
          <a:bodyPr wrap="square" lIns="0" tIns="0" rIns="0" bIns="0" rtlCol="0" anchor="ctr"/>
          <a:lstStyle/>
          <a:p>
            <a:pPr indent="0" marL="0">
              <a:buNone/>
            </a:pPr>
            <a:r>
              <a:rPr lang="en-US" sz="1200" b="1" spc="100" kern="0" dirty="0">
                <a:solidFill>
                  <a:schemeClr val="accent2"/>
                </a:solidFill>
              </a:rPr>
              <a:t>SPRINT 2</a:t>
            </a:r>
            <a:endParaRPr lang="en-US" sz="1200" dirty="0"/>
          </a:p>
        </p:txBody>
      </p:sp>
      <p:sp>
        <p:nvSpPr>
          <p:cNvPr id="16" name="Sprint title 2"/>
          <p:cNvSpPr txBox="1"/>
          <p:nvPr/>
        </p:nvSpPr>
        <p:spPr>
          <a:xfrm>
            <a:off x="3561588" y="2148840"/>
            <a:ext cx="2286000" cy="56692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Core backend &amp; schema</a:t>
            </a:r>
            <a:endParaRPr lang="en-US" sz="1600" dirty="0"/>
          </a:p>
        </p:txBody>
      </p:sp>
      <p:sp>
        <p:nvSpPr>
          <p:cNvPr id="17" name="Sprint details 2"/>
          <p:cNvSpPr txBox="1"/>
          <p:nvPr/>
        </p:nvSpPr>
        <p:spPr>
          <a:xfrm>
            <a:off x="3561588" y="2788920"/>
            <a:ext cx="2286000" cy="13716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Express REST + SQLite init</a:t>
            </a:r>
            <a:endParaRPr lang="en-US" sz="1400" dirty="0"/>
          </a:p>
          <a:p>
            <a:pPr marL="177800" indent="-177800">
              <a:spcAft>
                <a:spcPts val="500"/>
              </a:spcAft>
              <a:buSzPct val="100000"/>
              <a:buChar char="•"/>
            </a:pPr>
            <a:r>
              <a:rPr lang="en-US" sz="1300" dirty="0">
                <a:solidFill>
                  <a:schemeClr val="tx1"/>
                </a:solidFill>
              </a:rPr>
              <a:t>Statutory fine engine</a:t>
            </a:r>
            <a:endParaRPr lang="en-US" sz="1400" dirty="0"/>
          </a:p>
          <a:p>
            <a:pPr marL="177800" indent="-177800">
              <a:spcAft>
                <a:spcPts val="500"/>
              </a:spcAft>
              <a:buSzPct val="100000"/>
              <a:buChar char="•"/>
            </a:pPr>
            <a:r>
              <a:rPr lang="en-US" sz="1300" dirty="0">
                <a:solidFill>
                  <a:schemeClr val="tx1"/>
                </a:solidFill>
              </a:rPr>
              <a:t>Rule-based screening with watchlists</a:t>
            </a:r>
            <a:endParaRPr lang="en-US" sz="1400" dirty="0"/>
          </a:p>
        </p:txBody>
      </p:sp>
      <p:sp>
        <p:nvSpPr>
          <p:cNvPr id="18" name="Sprint card 3"/>
          <p:cNvSpPr/>
          <p:nvPr/>
        </p:nvSpPr>
        <p:spPr>
          <a:xfrm>
            <a:off x="6208776" y="1371600"/>
            <a:ext cx="2601468" cy="2834640"/>
          </a:xfrm>
          <a:prstGeom prst="roundRect">
            <a:avLst>
              <a:gd name="adj" fmla="val 3515"/>
            </a:avLst>
          </a:prstGeom>
          <a:solidFill>
            <a:schemeClr val="bg2"/>
          </a:solidFill>
          <a:ln/>
        </p:spPr>
      </p:sp>
      <p:sp>
        <p:nvSpPr>
          <p:cNvPr id="19" name="Sprint number background 3"/>
          <p:cNvSpPr/>
          <p:nvPr/>
        </p:nvSpPr>
        <p:spPr>
          <a:xfrm>
            <a:off x="6391656" y="1554480"/>
            <a:ext cx="457200" cy="457200"/>
          </a:xfrm>
          <a:prstGeom prst="ellipse">
            <a:avLst/>
          </a:prstGeom>
          <a:solidFill>
            <a:schemeClr val="accent2"/>
          </a:solidFill>
          <a:ln/>
        </p:spPr>
      </p:sp>
      <p:sp>
        <p:nvSpPr>
          <p:cNvPr id="20" name="Sprint number 3"/>
          <p:cNvSpPr txBox="1"/>
          <p:nvPr/>
        </p:nvSpPr>
        <p:spPr>
          <a:xfrm>
            <a:off x="6391656"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Sprint label 3"/>
          <p:cNvSpPr txBox="1"/>
          <p:nvPr/>
        </p:nvSpPr>
        <p:spPr>
          <a:xfrm>
            <a:off x="6986016" y="1554480"/>
            <a:ext cx="1645920" cy="457200"/>
          </a:xfrm>
          <a:prstGeom prst="rect">
            <a:avLst/>
          </a:prstGeom>
          <a:noFill/>
          <a:ln/>
        </p:spPr>
        <p:txBody>
          <a:bodyPr wrap="square" lIns="0" tIns="0" rIns="0" bIns="0" rtlCol="0" anchor="ctr"/>
          <a:lstStyle/>
          <a:p>
            <a:pPr indent="0" marL="0">
              <a:buNone/>
            </a:pPr>
            <a:r>
              <a:rPr lang="en-US" sz="1200" b="1" spc="100" kern="0" dirty="0">
                <a:solidFill>
                  <a:schemeClr val="accent2"/>
                </a:solidFill>
              </a:rPr>
              <a:t>SPRINT 3</a:t>
            </a:r>
            <a:endParaRPr lang="en-US" sz="1200" dirty="0"/>
          </a:p>
        </p:txBody>
      </p:sp>
      <p:sp>
        <p:nvSpPr>
          <p:cNvPr id="22" name="Sprint title 3"/>
          <p:cNvSpPr txBox="1"/>
          <p:nvPr/>
        </p:nvSpPr>
        <p:spPr>
          <a:xfrm>
            <a:off x="6391656" y="2148840"/>
            <a:ext cx="2286000" cy="56692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Ergonomic UI &amp; thermal POS</a:t>
            </a:r>
            <a:endParaRPr lang="en-US" sz="1600" dirty="0"/>
          </a:p>
        </p:txBody>
      </p:sp>
      <p:sp>
        <p:nvSpPr>
          <p:cNvPr id="23" name="Sprint details 3"/>
          <p:cNvSpPr txBox="1"/>
          <p:nvPr/>
        </p:nvSpPr>
        <p:spPr>
          <a:xfrm>
            <a:off x="6391656" y="2788920"/>
            <a:ext cx="2286000" cy="13716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Responsive high-contrast UI</a:t>
            </a:r>
            <a:endParaRPr lang="en-US" sz="1400" dirty="0"/>
          </a:p>
          <a:p>
            <a:pPr marL="177800" indent="-177800">
              <a:spcAft>
                <a:spcPts val="500"/>
              </a:spcAft>
              <a:buSzPct val="100000"/>
              <a:buChar char="•"/>
            </a:pPr>
            <a:r>
              <a:rPr lang="en-US" sz="1300" dirty="0">
                <a:solidFill>
                  <a:schemeClr val="tx1"/>
                </a:solidFill>
              </a:rPr>
              <a:t>Canvas compression (&lt;150 KB)</a:t>
            </a:r>
            <a:endParaRPr lang="en-US" sz="1400" dirty="0"/>
          </a:p>
          <a:p>
            <a:pPr marL="177800" indent="-177800">
              <a:spcAft>
                <a:spcPts val="500"/>
              </a:spcAft>
              <a:buSzPct val="100000"/>
              <a:buChar char="•"/>
            </a:pPr>
            <a:r>
              <a:rPr lang="en-US" sz="1300" dirty="0">
                <a:solidFill>
                  <a:schemeClr val="tx1"/>
                </a:solidFill>
              </a:rPr>
              <a:t>ESC/POS 58/80 mm receipts</a:t>
            </a:r>
            <a:endParaRPr lang="en-US" sz="1400" dirty="0"/>
          </a:p>
        </p:txBody>
      </p:sp>
      <p:sp>
        <p:nvSpPr>
          <p:cNvPr id="24" name="Sprint card 4"/>
          <p:cNvSpPr/>
          <p:nvPr/>
        </p:nvSpPr>
        <p:spPr>
          <a:xfrm>
            <a:off x="9038844" y="1371600"/>
            <a:ext cx="2601468" cy="2834640"/>
          </a:xfrm>
          <a:prstGeom prst="roundRect">
            <a:avLst>
              <a:gd name="adj" fmla="val 3515"/>
            </a:avLst>
          </a:prstGeom>
          <a:solidFill>
            <a:schemeClr val="bg2"/>
          </a:solidFill>
          <a:ln/>
        </p:spPr>
      </p:sp>
      <p:sp>
        <p:nvSpPr>
          <p:cNvPr id="25" name="Sprint number background 4"/>
          <p:cNvSpPr/>
          <p:nvPr/>
        </p:nvSpPr>
        <p:spPr>
          <a:xfrm>
            <a:off x="9221724" y="1554480"/>
            <a:ext cx="457200" cy="457200"/>
          </a:xfrm>
          <a:prstGeom prst="ellipse">
            <a:avLst/>
          </a:prstGeom>
          <a:solidFill>
            <a:schemeClr val="accent2"/>
          </a:solidFill>
          <a:ln/>
        </p:spPr>
      </p:sp>
      <p:sp>
        <p:nvSpPr>
          <p:cNvPr id="26" name="Sprint number 4"/>
          <p:cNvSpPr txBox="1"/>
          <p:nvPr/>
        </p:nvSpPr>
        <p:spPr>
          <a:xfrm>
            <a:off x="9221724"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7" name="Sprint label 4"/>
          <p:cNvSpPr txBox="1"/>
          <p:nvPr/>
        </p:nvSpPr>
        <p:spPr>
          <a:xfrm>
            <a:off x="9816084" y="1554480"/>
            <a:ext cx="1645920" cy="457200"/>
          </a:xfrm>
          <a:prstGeom prst="rect">
            <a:avLst/>
          </a:prstGeom>
          <a:noFill/>
          <a:ln/>
        </p:spPr>
        <p:txBody>
          <a:bodyPr wrap="square" lIns="0" tIns="0" rIns="0" bIns="0" rtlCol="0" anchor="ctr"/>
          <a:lstStyle/>
          <a:p>
            <a:pPr indent="0" marL="0">
              <a:buNone/>
            </a:pPr>
            <a:r>
              <a:rPr lang="en-US" sz="1200" b="1" spc="100" kern="0" dirty="0">
                <a:solidFill>
                  <a:schemeClr val="accent2"/>
                </a:solidFill>
              </a:rPr>
              <a:t>SPRINT 4</a:t>
            </a:r>
            <a:endParaRPr lang="en-US" sz="1200" dirty="0"/>
          </a:p>
        </p:txBody>
      </p:sp>
      <p:sp>
        <p:nvSpPr>
          <p:cNvPr id="28" name="Sprint title 4"/>
          <p:cNvSpPr txBox="1"/>
          <p:nvPr/>
        </p:nvSpPr>
        <p:spPr>
          <a:xfrm>
            <a:off x="9221724" y="2148840"/>
            <a:ext cx="2286000" cy="56692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Defensive hardening &amp; SCM audit</a:t>
            </a:r>
            <a:endParaRPr lang="en-US" sz="1600" dirty="0"/>
          </a:p>
        </p:txBody>
      </p:sp>
      <p:sp>
        <p:nvSpPr>
          <p:cNvPr id="29" name="Sprint details 4"/>
          <p:cNvSpPr txBox="1"/>
          <p:nvPr/>
        </p:nvSpPr>
        <p:spPr>
          <a:xfrm>
            <a:off x="9221724" y="2788920"/>
            <a:ext cx="2286000" cy="13716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14-test regression suite</a:t>
            </a:r>
            <a:endParaRPr lang="en-US" sz="1400" dirty="0"/>
          </a:p>
          <a:p>
            <a:pPr marL="177800" indent="-177800">
              <a:spcAft>
                <a:spcPts val="500"/>
              </a:spcAft>
              <a:buSzPct val="100000"/>
              <a:buChar char="•"/>
            </a:pPr>
            <a:r>
              <a:rPr lang="en-US" sz="1300" dirty="0">
                <a:solidFill>
                  <a:schemeClr val="tx1"/>
                </a:solidFill>
              </a:rPr>
              <a:t>UTF-8 BOM CSV export</a:t>
            </a:r>
            <a:endParaRPr lang="en-US" sz="1400" dirty="0"/>
          </a:p>
          <a:p>
            <a:pPr marL="177800" indent="-177800">
              <a:spcAft>
                <a:spcPts val="500"/>
              </a:spcAft>
              <a:buSzPct val="100000"/>
              <a:buChar char="•"/>
            </a:pPr>
            <a:r>
              <a:rPr lang="en-US" sz="1300" dirty="0">
                <a:solidFill>
                  <a:schemeClr val="tx1"/>
                </a:solidFill>
              </a:rPr>
              <a:t>Config audit &amp; v2.0-PRO tag</a:t>
            </a:r>
            <a:endParaRPr lang="en-US" sz="1400" dirty="0"/>
          </a:p>
        </p:txBody>
      </p:sp>
      <p:sp>
        <p:nvSpPr>
          <p:cNvPr id="30" name="SCM label"/>
          <p:cNvSpPr txBox="1"/>
          <p:nvPr/>
        </p:nvSpPr>
        <p:spPr>
          <a:xfrm>
            <a:off x="548640" y="4370832"/>
            <a:ext cx="73152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FORMAL SCM GOVERNANCE  (SCM_PLAN.md)</a:t>
            </a:r>
            <a:endParaRPr lang="en-US" sz="1100" dirty="0"/>
          </a:p>
        </p:txBody>
      </p:sp>
      <p:sp>
        <p:nvSpPr>
          <p:cNvPr id="31" name="SCM stat 1"/>
          <p:cNvSpPr/>
          <p:nvPr/>
        </p:nvSpPr>
        <p:spPr>
          <a:xfrm>
            <a:off x="548640" y="4663440"/>
            <a:ext cx="3575304" cy="731520"/>
          </a:xfrm>
          <a:prstGeom prst="roundRect">
            <a:avLst>
              <a:gd name="adj" fmla="val 12500"/>
            </a:avLst>
          </a:prstGeom>
          <a:solidFill>
            <a:schemeClr val="tx2"/>
          </a:solidFill>
          <a:ln/>
        </p:spPr>
      </p:sp>
      <p:sp>
        <p:nvSpPr>
          <p:cNvPr id="32" name="SCM value 1"/>
          <p:cNvSpPr txBox="1"/>
          <p:nvPr/>
        </p:nvSpPr>
        <p:spPr>
          <a:xfrm>
            <a:off x="731520" y="4663440"/>
            <a:ext cx="731520" cy="7315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20</a:t>
            </a:r>
            <a:endParaRPr lang="en-US" sz="2600" dirty="0"/>
          </a:p>
        </p:txBody>
      </p:sp>
      <p:sp>
        <p:nvSpPr>
          <p:cNvPr id="33" name="SCM caption 1"/>
          <p:cNvSpPr txBox="1"/>
          <p:nvPr/>
        </p:nvSpPr>
        <p:spPr>
          <a:xfrm>
            <a:off x="1417320" y="4663440"/>
            <a:ext cx="2569464" cy="731520"/>
          </a:xfrm>
          <a:prstGeom prst="rect">
            <a:avLst/>
          </a:prstGeom>
          <a:noFill/>
          <a:ln/>
        </p:spPr>
        <p:txBody>
          <a:bodyPr wrap="square" lIns="0" tIns="0" rIns="0" bIns="0" rtlCol="0" anchor="ctr"/>
          <a:lstStyle/>
          <a:p>
            <a:pPr indent="0" marL="0">
              <a:buNone/>
            </a:pPr>
            <a:r>
              <a:rPr lang="en-US" sz="1200" dirty="0">
                <a:solidFill>
                  <a:schemeClr val="bg1"/>
                </a:solidFill>
              </a:rPr>
              <a:t>controlled configuration items in 5 classes</a:t>
            </a:r>
            <a:endParaRPr lang="en-US" sz="1200" dirty="0"/>
          </a:p>
        </p:txBody>
      </p:sp>
      <p:sp>
        <p:nvSpPr>
          <p:cNvPr id="34" name="SCM stat 2"/>
          <p:cNvSpPr/>
          <p:nvPr/>
        </p:nvSpPr>
        <p:spPr>
          <a:xfrm>
            <a:off x="4306824" y="4663440"/>
            <a:ext cx="3575304" cy="731520"/>
          </a:xfrm>
          <a:prstGeom prst="roundRect">
            <a:avLst>
              <a:gd name="adj" fmla="val 12500"/>
            </a:avLst>
          </a:prstGeom>
          <a:solidFill>
            <a:schemeClr val="tx2"/>
          </a:solidFill>
          <a:ln/>
        </p:spPr>
      </p:sp>
      <p:sp>
        <p:nvSpPr>
          <p:cNvPr id="35" name="SCM value 2"/>
          <p:cNvSpPr txBox="1"/>
          <p:nvPr/>
        </p:nvSpPr>
        <p:spPr>
          <a:xfrm>
            <a:off x="4489704" y="4663440"/>
            <a:ext cx="1737360" cy="73152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v1.0.0 to v2.0-PRO</a:t>
            </a:r>
            <a:endParaRPr lang="en-US" sz="1600" dirty="0"/>
          </a:p>
        </p:txBody>
      </p:sp>
      <p:sp>
        <p:nvSpPr>
          <p:cNvPr id="36" name="SCM caption 2"/>
          <p:cNvSpPr txBox="1"/>
          <p:nvPr/>
        </p:nvSpPr>
        <p:spPr>
          <a:xfrm>
            <a:off x="6272784" y="4663440"/>
            <a:ext cx="1472184" cy="731520"/>
          </a:xfrm>
          <a:prstGeom prst="rect">
            <a:avLst/>
          </a:prstGeom>
          <a:noFill/>
          <a:ln/>
        </p:spPr>
        <p:txBody>
          <a:bodyPr wrap="square" lIns="0" tIns="0" rIns="0" bIns="0" rtlCol="0" anchor="ctr"/>
          <a:lstStyle/>
          <a:p>
            <a:pPr indent="0" marL="0">
              <a:buNone/>
            </a:pPr>
            <a:r>
              <a:rPr lang="en-US" sz="1200" dirty="0">
                <a:solidFill>
                  <a:schemeClr val="bg1"/>
                </a:solidFill>
              </a:rPr>
              <a:t>strict semantic versioning</a:t>
            </a:r>
            <a:endParaRPr lang="en-US" sz="1200" dirty="0"/>
          </a:p>
        </p:txBody>
      </p:sp>
      <p:sp>
        <p:nvSpPr>
          <p:cNvPr id="37" name="SCM stat 3"/>
          <p:cNvSpPr/>
          <p:nvPr/>
        </p:nvSpPr>
        <p:spPr>
          <a:xfrm>
            <a:off x="8065008" y="4663440"/>
            <a:ext cx="3575304" cy="731520"/>
          </a:xfrm>
          <a:prstGeom prst="roundRect">
            <a:avLst>
              <a:gd name="adj" fmla="val 12500"/>
            </a:avLst>
          </a:prstGeom>
          <a:solidFill>
            <a:schemeClr val="tx2"/>
          </a:solidFill>
          <a:ln/>
        </p:spPr>
      </p:sp>
      <p:sp>
        <p:nvSpPr>
          <p:cNvPr id="38" name="SCM value 3"/>
          <p:cNvSpPr txBox="1"/>
          <p:nvPr/>
        </p:nvSpPr>
        <p:spPr>
          <a:xfrm>
            <a:off x="8247888" y="4663440"/>
            <a:ext cx="731520" cy="7315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0</a:t>
            </a:r>
            <a:endParaRPr lang="en-US" sz="2600" dirty="0"/>
          </a:p>
        </p:txBody>
      </p:sp>
      <p:sp>
        <p:nvSpPr>
          <p:cNvPr id="39" name="SCM caption 3"/>
          <p:cNvSpPr txBox="1"/>
          <p:nvPr/>
        </p:nvSpPr>
        <p:spPr>
          <a:xfrm>
            <a:off x="8933688" y="4663440"/>
            <a:ext cx="2569464" cy="731520"/>
          </a:xfrm>
          <a:prstGeom prst="rect">
            <a:avLst/>
          </a:prstGeom>
          <a:noFill/>
          <a:ln/>
        </p:spPr>
        <p:txBody>
          <a:bodyPr wrap="square" lIns="0" tIns="0" rIns="0" bIns="0" rtlCol="0" anchor="ctr"/>
          <a:lstStyle/>
          <a:p>
            <a:pPr indent="0" marL="0">
              <a:buNone/>
            </a:pPr>
            <a:r>
              <a:rPr lang="en-US" sz="1200" dirty="0">
                <a:solidFill>
                  <a:schemeClr val="bg1"/>
                </a:solidFill>
              </a:rPr>
              <a:t>direct pushes: tests gate every merge</a:t>
            </a:r>
            <a:endParaRPr lang="en-US" sz="1200" dirty="0"/>
          </a:p>
        </p:txBody>
      </p:sp>
      <p:sp>
        <p:nvSpPr>
          <p:cNvPr id="40" name="Change flow step 1"/>
          <p:cNvSpPr/>
          <p:nvPr/>
        </p:nvSpPr>
        <p:spPr>
          <a:xfrm>
            <a:off x="548640" y="5532120"/>
            <a:ext cx="2286000" cy="658368"/>
          </a:xfrm>
          <a:prstGeom prst="chevron">
            <a:avLst/>
          </a:prstGeom>
          <a:solidFill>
            <a:schemeClr val="accent2"/>
          </a:solidFill>
          <a:ln/>
        </p:spPr>
      </p:sp>
      <p:sp>
        <p:nvSpPr>
          <p:cNvPr id="41" name="Change flow label 1"/>
          <p:cNvSpPr txBox="1"/>
          <p:nvPr/>
        </p:nvSpPr>
        <p:spPr>
          <a:xfrm>
            <a:off x="896112" y="5532120"/>
            <a:ext cx="1600200" cy="658368"/>
          </a:xfrm>
          <a:prstGeom prst="rect">
            <a:avLst/>
          </a:prstGeom>
          <a:noFill/>
          <a:ln/>
        </p:spPr>
        <p:txBody>
          <a:bodyPr wrap="square" lIns="0" tIns="0" rIns="0" bIns="0" rtlCol="0" anchor="ctr"/>
          <a:lstStyle/>
          <a:p>
            <a:pPr algn="ctr" indent="0" marL="0">
              <a:buNone/>
            </a:pPr>
            <a:r>
              <a:rPr lang="en-US" sz="1200" b="1" dirty="0">
                <a:solidFill>
                  <a:schemeClr val="bg1"/>
                </a:solidFill>
              </a:rPr>
              <a:t>1  Change request</a:t>
            </a:r>
            <a:endParaRPr lang="en-US" sz="1200" dirty="0"/>
          </a:p>
        </p:txBody>
      </p:sp>
      <p:sp>
        <p:nvSpPr>
          <p:cNvPr id="42" name="Change flow step 2"/>
          <p:cNvSpPr/>
          <p:nvPr/>
        </p:nvSpPr>
        <p:spPr>
          <a:xfrm>
            <a:off x="2743200" y="5532120"/>
            <a:ext cx="2286000" cy="658368"/>
          </a:xfrm>
          <a:prstGeom prst="chevron">
            <a:avLst/>
          </a:prstGeom>
          <a:solidFill>
            <a:schemeClr val="accent2"/>
          </a:solidFill>
          <a:ln/>
        </p:spPr>
      </p:sp>
      <p:sp>
        <p:nvSpPr>
          <p:cNvPr id="43" name="Change flow label 2"/>
          <p:cNvSpPr txBox="1"/>
          <p:nvPr/>
        </p:nvSpPr>
        <p:spPr>
          <a:xfrm>
            <a:off x="3090672" y="5532120"/>
            <a:ext cx="1600200" cy="658368"/>
          </a:xfrm>
          <a:prstGeom prst="rect">
            <a:avLst/>
          </a:prstGeom>
          <a:noFill/>
          <a:ln/>
        </p:spPr>
        <p:txBody>
          <a:bodyPr wrap="square" lIns="0" tIns="0" rIns="0" bIns="0" rtlCol="0" anchor="ctr"/>
          <a:lstStyle/>
          <a:p>
            <a:pPr algn="ctr" indent="0" marL="0">
              <a:buNone/>
            </a:pPr>
            <a:r>
              <a:rPr lang="en-US" sz="1200" b="1" dirty="0">
                <a:solidFill>
                  <a:schemeClr val="bg1"/>
                </a:solidFill>
              </a:rPr>
              <a:t>2  Reason for change</a:t>
            </a:r>
            <a:endParaRPr lang="en-US" sz="1200" dirty="0"/>
          </a:p>
        </p:txBody>
      </p:sp>
      <p:sp>
        <p:nvSpPr>
          <p:cNvPr id="44" name="Change flow step 3"/>
          <p:cNvSpPr/>
          <p:nvPr/>
        </p:nvSpPr>
        <p:spPr>
          <a:xfrm>
            <a:off x="4937760" y="5532120"/>
            <a:ext cx="2286000" cy="658368"/>
          </a:xfrm>
          <a:prstGeom prst="chevron">
            <a:avLst/>
          </a:prstGeom>
          <a:solidFill>
            <a:schemeClr val="accent2"/>
          </a:solidFill>
          <a:ln/>
        </p:spPr>
      </p:sp>
      <p:sp>
        <p:nvSpPr>
          <p:cNvPr id="45" name="Change flow label 3"/>
          <p:cNvSpPr txBox="1"/>
          <p:nvPr/>
        </p:nvSpPr>
        <p:spPr>
          <a:xfrm>
            <a:off x="5285232" y="5532120"/>
            <a:ext cx="1600200" cy="658368"/>
          </a:xfrm>
          <a:prstGeom prst="rect">
            <a:avLst/>
          </a:prstGeom>
          <a:noFill/>
          <a:ln/>
        </p:spPr>
        <p:txBody>
          <a:bodyPr wrap="square" lIns="0" tIns="0" rIns="0" bIns="0" rtlCol="0" anchor="ctr"/>
          <a:lstStyle/>
          <a:p>
            <a:pPr algn="ctr" indent="0" marL="0">
              <a:buNone/>
            </a:pPr>
            <a:r>
              <a:rPr lang="en-US" sz="1200" b="1" dirty="0">
                <a:solidFill>
                  <a:schemeClr val="bg1"/>
                </a:solidFill>
              </a:rPr>
              <a:t>3  Develop &amp; test</a:t>
            </a:r>
            <a:endParaRPr lang="en-US" sz="1200" dirty="0"/>
          </a:p>
        </p:txBody>
      </p:sp>
      <p:sp>
        <p:nvSpPr>
          <p:cNvPr id="46" name="Change flow step 4"/>
          <p:cNvSpPr/>
          <p:nvPr/>
        </p:nvSpPr>
        <p:spPr>
          <a:xfrm>
            <a:off x="7132320" y="5532120"/>
            <a:ext cx="2286000" cy="658368"/>
          </a:xfrm>
          <a:prstGeom prst="chevron">
            <a:avLst/>
          </a:prstGeom>
          <a:solidFill>
            <a:schemeClr val="accent2"/>
          </a:solidFill>
          <a:ln/>
        </p:spPr>
      </p:sp>
      <p:sp>
        <p:nvSpPr>
          <p:cNvPr id="47" name="Change flow label 4"/>
          <p:cNvSpPr txBox="1"/>
          <p:nvPr/>
        </p:nvSpPr>
        <p:spPr>
          <a:xfrm>
            <a:off x="7479792" y="5532120"/>
            <a:ext cx="1600200" cy="658368"/>
          </a:xfrm>
          <a:prstGeom prst="rect">
            <a:avLst/>
          </a:prstGeom>
          <a:noFill/>
          <a:ln/>
        </p:spPr>
        <p:txBody>
          <a:bodyPr wrap="square" lIns="0" tIns="0" rIns="0" bIns="0" rtlCol="0" anchor="ctr"/>
          <a:lstStyle/>
          <a:p>
            <a:pPr algn="ctr" indent="0" marL="0">
              <a:buNone/>
            </a:pPr>
            <a:r>
              <a:rPr lang="en-US" sz="1200" b="1" dirty="0">
                <a:solidFill>
                  <a:schemeClr val="bg1"/>
                </a:solidFill>
              </a:rPr>
              <a:t>4  Pull request review</a:t>
            </a:r>
            <a:endParaRPr lang="en-US" sz="1200" dirty="0"/>
          </a:p>
        </p:txBody>
      </p:sp>
      <p:sp>
        <p:nvSpPr>
          <p:cNvPr id="48" name="Change flow step 5"/>
          <p:cNvSpPr/>
          <p:nvPr/>
        </p:nvSpPr>
        <p:spPr>
          <a:xfrm>
            <a:off x="9326880" y="5532120"/>
            <a:ext cx="2286000" cy="658368"/>
          </a:xfrm>
          <a:prstGeom prst="chevron">
            <a:avLst/>
          </a:prstGeom>
          <a:solidFill>
            <a:schemeClr val="accent5"/>
          </a:solidFill>
          <a:ln/>
        </p:spPr>
      </p:sp>
      <p:sp>
        <p:nvSpPr>
          <p:cNvPr id="49" name="Change flow label 5"/>
          <p:cNvSpPr txBox="1"/>
          <p:nvPr/>
        </p:nvSpPr>
        <p:spPr>
          <a:xfrm>
            <a:off x="9674352" y="5532120"/>
            <a:ext cx="1600200" cy="658368"/>
          </a:xfrm>
          <a:prstGeom prst="rect">
            <a:avLst/>
          </a:prstGeom>
          <a:noFill/>
          <a:ln/>
        </p:spPr>
        <p:txBody>
          <a:bodyPr wrap="square" lIns="0" tIns="0" rIns="0" bIns="0" rtlCol="0" anchor="ctr"/>
          <a:lstStyle/>
          <a:p>
            <a:pPr algn="ctr" indent="0" marL="0">
              <a:buNone/>
            </a:pPr>
            <a:r>
              <a:rPr lang="en-US" sz="1200" b="1" dirty="0">
                <a:solidFill>
                  <a:schemeClr val="bg1"/>
                </a:solidFill>
              </a:rPr>
              <a:t>5  Approve &amp; merge</a:t>
            </a:r>
            <a:endParaRPr lang="en-US" sz="12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bg1"/>
                </a:solidFill>
              </a:rPr>
              <a:t>Live Demo: 8-Step Checkpoint Walkthrough</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CATEGORY B  |  LIVE SYSTEM DEMONSTRATION (15 PTS)</a:t>
            </a:r>
            <a:endParaRPr lang="en-US" sz="1100" dirty="0"/>
          </a:p>
        </p:txBody>
      </p:sp>
      <p:sp>
        <p:nvSpPr>
          <p:cNvPr id="4" name="Speaker chip"/>
          <p:cNvSpPr/>
          <p:nvPr/>
        </p:nvSpPr>
        <p:spPr>
          <a:xfrm>
            <a:off x="8577072" y="384048"/>
            <a:ext cx="3063240" cy="365760"/>
          </a:xfrm>
          <a:prstGeom prst="roundRect">
            <a:avLst>
              <a:gd name="adj" fmla="val 50000"/>
            </a:avLst>
          </a:prstGeom>
          <a:solidFill>
            <a:schemeClr val="accent1"/>
          </a:solidFill>
          <a:ln/>
        </p:spPr>
      </p:sp>
      <p:sp>
        <p:nvSpPr>
          <p:cNvPr id="5" name="Speaker label"/>
          <p:cNvSpPr txBox="1"/>
          <p:nvPr/>
        </p:nvSpPr>
        <p:spPr>
          <a:xfrm>
            <a:off x="8577072" y="384048"/>
            <a:ext cx="3063240" cy="365760"/>
          </a:xfrm>
          <a:prstGeom prst="rect">
            <a:avLst/>
          </a:prstGeom>
          <a:noFill/>
          <a:ln/>
        </p:spPr>
        <p:txBody>
          <a:bodyPr wrap="square" lIns="0" tIns="0" rIns="0" bIns="0" rtlCol="0" anchor="ctr"/>
          <a:lstStyle/>
          <a:p>
            <a:pPr algn="ctr" indent="0" marL="0">
              <a:buNone/>
            </a:pPr>
            <a:r>
              <a:rPr lang="en-US" sz="1200" b="1" dirty="0">
                <a:solidFill>
                  <a:schemeClr val="tx1"/>
                </a:solidFill>
              </a:rPr>
              <a:t>Casey Freud &amp; Team  |  6-8 min</a:t>
            </a:r>
            <a:endParaRPr lang="en-US" sz="1200" dirty="0"/>
          </a:p>
        </p:txBody>
      </p:sp>
      <p:sp>
        <p:nvSpPr>
          <p:cNvPr id="6" name="Demo step card 1"/>
          <p:cNvSpPr/>
          <p:nvPr/>
        </p:nvSpPr>
        <p:spPr>
          <a:xfrm>
            <a:off x="548640" y="1371600"/>
            <a:ext cx="2601468" cy="2331720"/>
          </a:xfrm>
          <a:prstGeom prst="roundRect">
            <a:avLst>
              <a:gd name="adj" fmla="val 3922"/>
            </a:avLst>
          </a:prstGeom>
          <a:solidFill>
            <a:schemeClr val="tx2"/>
          </a:solidFill>
          <a:ln/>
        </p:spPr>
      </p:sp>
      <p:sp>
        <p:nvSpPr>
          <p:cNvPr id="7" name="Demo number background 1"/>
          <p:cNvSpPr/>
          <p:nvPr/>
        </p:nvSpPr>
        <p:spPr>
          <a:xfrm>
            <a:off x="731520" y="1554480"/>
            <a:ext cx="438912" cy="438912"/>
          </a:xfrm>
          <a:prstGeom prst="ellipse">
            <a:avLst/>
          </a:prstGeom>
          <a:solidFill>
            <a:schemeClr val="accent1"/>
          </a:solidFill>
          <a:ln/>
        </p:spPr>
      </p:sp>
      <p:sp>
        <p:nvSpPr>
          <p:cNvPr id="8" name="Demo number 1"/>
          <p:cNvSpPr txBox="1"/>
          <p:nvPr/>
        </p:nvSpPr>
        <p:spPr>
          <a:xfrm>
            <a:off x="731520" y="155448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rPr>
              <a:t>1</a:t>
            </a:r>
            <a:endParaRPr lang="en-US" sz="1700" dirty="0"/>
          </a:p>
        </p:txBody>
      </p:sp>
      <p:sp>
        <p:nvSpPr>
          <p:cNvPr id="9" name="Demo step title 1"/>
          <p:cNvSpPr txBox="1"/>
          <p:nvPr/>
        </p:nvSpPr>
        <p:spPr>
          <a:xfrm>
            <a:off x="1298448" y="1481328"/>
            <a:ext cx="1737360" cy="585216"/>
          </a:xfrm>
          <a:prstGeom prst="rect">
            <a:avLst/>
          </a:prstGeom>
          <a:noFill/>
          <a:ln/>
        </p:spPr>
        <p:txBody>
          <a:bodyPr wrap="square" lIns="0" tIns="0" rIns="0" bIns="0" rtlCol="0" anchor="ctr"/>
          <a:lstStyle/>
          <a:p>
            <a:pPr indent="0" marL="0">
              <a:buNone/>
            </a:pPr>
            <a:r>
              <a:rPr lang="en-US" sz="1400" b="1" dirty="0">
                <a:solidFill>
                  <a:schemeClr val="bg1"/>
                </a:solidFill>
              </a:rPr>
              <a:t>Session initialization</a:t>
            </a:r>
            <a:endParaRPr lang="en-US" sz="1400" dirty="0"/>
          </a:p>
        </p:txBody>
      </p:sp>
      <p:sp>
        <p:nvSpPr>
          <p:cNvPr id="10" name="Demo step details 1"/>
          <p:cNvSpPr txBox="1"/>
          <p:nvPr/>
        </p:nvSpPr>
        <p:spPr>
          <a:xfrm>
            <a:off x="731520" y="2148840"/>
            <a:ext cx="228600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Station: Agoo MPS</a:t>
            </a:r>
            <a:endParaRPr lang="en-US" sz="1400" dirty="0"/>
          </a:p>
          <a:p>
            <a:pPr marL="177800" indent="-177800">
              <a:spcAft>
                <a:spcPts val="600"/>
              </a:spcAft>
              <a:buSzPct val="100000"/>
              <a:buChar char="•"/>
            </a:pPr>
            <a:r>
              <a:rPr lang="en-US" sz="1400" dirty="0">
                <a:solidFill>
                  <a:schemeClr val="bg2"/>
                </a:solidFill>
              </a:rPr>
              <a:t>Post: San Nicolas Norte</a:t>
            </a:r>
            <a:endParaRPr lang="en-US" sz="1400" dirty="0"/>
          </a:p>
          <a:p>
            <a:pPr marL="177800" indent="-177800">
              <a:spcAft>
                <a:spcPts val="600"/>
              </a:spcAft>
              <a:buSzPct val="100000"/>
              <a:buChar char="•"/>
            </a:pPr>
            <a:r>
              <a:rPr lang="en-US" sz="1400" dirty="0">
                <a:solidFill>
                  <a:schemeClr val="bg2"/>
                </a:solidFill>
              </a:rPr>
              <a:t>Shift 2 (14:00-22:00)</a:t>
            </a:r>
            <a:endParaRPr lang="en-US" sz="1400" dirty="0"/>
          </a:p>
          <a:p>
            <a:pPr marL="177800" indent="-177800">
              <a:spcAft>
                <a:spcPts val="600"/>
              </a:spcAft>
              <a:buSzPct val="100000"/>
              <a:buChar char="•"/>
            </a:pPr>
            <a:r>
              <a:rPr lang="en-US" sz="1400" dirty="0">
                <a:solidFill>
                  <a:schemeClr val="bg2"/>
                </a:solidFill>
              </a:rPr>
              <a:t>Clock sync &amp; badge binding</a:t>
            </a:r>
            <a:endParaRPr lang="en-US" sz="1400" dirty="0"/>
          </a:p>
        </p:txBody>
      </p:sp>
      <p:sp>
        <p:nvSpPr>
          <p:cNvPr id="11" name="Demo step card 2"/>
          <p:cNvSpPr/>
          <p:nvPr/>
        </p:nvSpPr>
        <p:spPr>
          <a:xfrm>
            <a:off x="3378708" y="1371600"/>
            <a:ext cx="2601468" cy="2331720"/>
          </a:xfrm>
          <a:prstGeom prst="roundRect">
            <a:avLst>
              <a:gd name="adj" fmla="val 3922"/>
            </a:avLst>
          </a:prstGeom>
          <a:solidFill>
            <a:schemeClr val="tx2"/>
          </a:solidFill>
          <a:ln/>
        </p:spPr>
      </p:sp>
      <p:sp>
        <p:nvSpPr>
          <p:cNvPr id="12" name="Demo number background 2"/>
          <p:cNvSpPr/>
          <p:nvPr/>
        </p:nvSpPr>
        <p:spPr>
          <a:xfrm>
            <a:off x="3561588" y="1554480"/>
            <a:ext cx="438912" cy="438912"/>
          </a:xfrm>
          <a:prstGeom prst="ellipse">
            <a:avLst/>
          </a:prstGeom>
          <a:solidFill>
            <a:schemeClr val="accent1"/>
          </a:solidFill>
          <a:ln/>
        </p:spPr>
      </p:sp>
      <p:sp>
        <p:nvSpPr>
          <p:cNvPr id="13" name="Demo number 2"/>
          <p:cNvSpPr txBox="1"/>
          <p:nvPr/>
        </p:nvSpPr>
        <p:spPr>
          <a:xfrm>
            <a:off x="3561588" y="155448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rPr>
              <a:t>2</a:t>
            </a:r>
            <a:endParaRPr lang="en-US" sz="1700" dirty="0"/>
          </a:p>
        </p:txBody>
      </p:sp>
      <p:sp>
        <p:nvSpPr>
          <p:cNvPr id="14" name="Demo step title 2"/>
          <p:cNvSpPr txBox="1"/>
          <p:nvPr/>
        </p:nvSpPr>
        <p:spPr>
          <a:xfrm>
            <a:off x="4128516" y="1481328"/>
            <a:ext cx="1737360" cy="585216"/>
          </a:xfrm>
          <a:prstGeom prst="rect">
            <a:avLst/>
          </a:prstGeom>
          <a:noFill/>
          <a:ln/>
        </p:spPr>
        <p:txBody>
          <a:bodyPr wrap="square" lIns="0" tIns="0" rIns="0" bIns="0" rtlCol="0" anchor="ctr"/>
          <a:lstStyle/>
          <a:p>
            <a:pPr indent="0" marL="0">
              <a:buNone/>
            </a:pPr>
            <a:r>
              <a:rPr lang="en-US" sz="1400" b="1" dirty="0">
                <a:solidFill>
                  <a:schemeClr val="bg1"/>
                </a:solidFill>
              </a:rPr>
              <a:t>Live screening engine</a:t>
            </a:r>
            <a:endParaRPr lang="en-US" sz="1400" dirty="0"/>
          </a:p>
        </p:txBody>
      </p:sp>
      <p:sp>
        <p:nvSpPr>
          <p:cNvPr id="15" name="Demo step details 2"/>
          <p:cNvSpPr txBox="1"/>
          <p:nvPr/>
        </p:nvSpPr>
        <p:spPr>
          <a:xfrm>
            <a:off x="3561588" y="2148840"/>
            <a:ext cx="228600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Valid driver: green CLEAR</a:t>
            </a:r>
            <a:endParaRPr lang="en-US" sz="1400" dirty="0"/>
          </a:p>
          <a:p>
            <a:pPr marL="177800" indent="-177800">
              <a:spcAft>
                <a:spcPts val="600"/>
              </a:spcAft>
              <a:buSzPct val="100000"/>
              <a:buChar char="•"/>
            </a:pPr>
            <a:r>
              <a:rPr lang="en-US" sz="1400" dirty="0">
                <a:solidFill>
                  <a:schemeClr val="bg2"/>
                </a:solidFill>
              </a:rPr>
              <a:t>Expired reg.: amber WARNING</a:t>
            </a:r>
            <a:endParaRPr lang="en-US" sz="1400" dirty="0"/>
          </a:p>
          <a:p>
            <a:pPr marL="177800" indent="-177800">
              <a:spcAft>
                <a:spcPts val="600"/>
              </a:spcAft>
              <a:buSzPct val="100000"/>
              <a:buChar char="•"/>
            </a:pPr>
            <a:r>
              <a:rPr lang="en-US" sz="1400" dirty="0">
                <a:solidFill>
                  <a:schemeClr val="bg2"/>
                </a:solidFill>
              </a:rPr>
              <a:t>Plate ABC-1234: red ALARM</a:t>
            </a:r>
            <a:endParaRPr lang="en-US" sz="1400" dirty="0"/>
          </a:p>
        </p:txBody>
      </p:sp>
      <p:sp>
        <p:nvSpPr>
          <p:cNvPr id="16" name="Demo step card 3"/>
          <p:cNvSpPr/>
          <p:nvPr/>
        </p:nvSpPr>
        <p:spPr>
          <a:xfrm>
            <a:off x="6208776" y="1371600"/>
            <a:ext cx="2601468" cy="2331720"/>
          </a:xfrm>
          <a:prstGeom prst="roundRect">
            <a:avLst>
              <a:gd name="adj" fmla="val 3922"/>
            </a:avLst>
          </a:prstGeom>
          <a:solidFill>
            <a:schemeClr val="tx2"/>
          </a:solidFill>
          <a:ln/>
        </p:spPr>
      </p:sp>
      <p:sp>
        <p:nvSpPr>
          <p:cNvPr id="17" name="Demo number background 3"/>
          <p:cNvSpPr/>
          <p:nvPr/>
        </p:nvSpPr>
        <p:spPr>
          <a:xfrm>
            <a:off x="6391656" y="1554480"/>
            <a:ext cx="438912" cy="438912"/>
          </a:xfrm>
          <a:prstGeom prst="ellipse">
            <a:avLst/>
          </a:prstGeom>
          <a:solidFill>
            <a:schemeClr val="accent1"/>
          </a:solidFill>
          <a:ln/>
        </p:spPr>
      </p:sp>
      <p:sp>
        <p:nvSpPr>
          <p:cNvPr id="18" name="Demo number 3"/>
          <p:cNvSpPr txBox="1"/>
          <p:nvPr/>
        </p:nvSpPr>
        <p:spPr>
          <a:xfrm>
            <a:off x="6391656" y="155448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rPr>
              <a:t>3</a:t>
            </a:r>
            <a:endParaRPr lang="en-US" sz="1700" dirty="0"/>
          </a:p>
        </p:txBody>
      </p:sp>
      <p:sp>
        <p:nvSpPr>
          <p:cNvPr id="19" name="Demo step title 3"/>
          <p:cNvSpPr txBox="1"/>
          <p:nvPr/>
        </p:nvSpPr>
        <p:spPr>
          <a:xfrm>
            <a:off x="6958584" y="1481328"/>
            <a:ext cx="1737360" cy="585216"/>
          </a:xfrm>
          <a:prstGeom prst="rect">
            <a:avLst/>
          </a:prstGeom>
          <a:noFill/>
          <a:ln/>
        </p:spPr>
        <p:txBody>
          <a:bodyPr wrap="square" lIns="0" tIns="0" rIns="0" bIns="0" rtlCol="0" anchor="ctr"/>
          <a:lstStyle/>
          <a:p>
            <a:pPr indent="0" marL="0">
              <a:buNone/>
            </a:pPr>
            <a:r>
              <a:rPr lang="en-US" sz="1400" b="1" dirty="0">
                <a:solidFill>
                  <a:schemeClr val="bg1"/>
                </a:solidFill>
              </a:rPr>
              <a:t>Violations &amp; unlicensed flow</a:t>
            </a:r>
            <a:endParaRPr lang="en-US" sz="1400" dirty="0"/>
          </a:p>
        </p:txBody>
      </p:sp>
      <p:sp>
        <p:nvSpPr>
          <p:cNvPr id="20" name="Demo step details 3"/>
          <p:cNvSpPr txBox="1"/>
          <p:nvPr/>
        </p:nvSpPr>
        <p:spPr>
          <a:xfrm>
            <a:off x="6391656" y="2148840"/>
            <a:ext cx="228600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'No Driver's License' locks field</a:t>
            </a:r>
            <a:endParaRPr lang="en-US" sz="1400" dirty="0"/>
          </a:p>
          <a:p>
            <a:pPr marL="177800" indent="-177800">
              <a:spcAft>
                <a:spcPts val="600"/>
              </a:spcAft>
              <a:buSzPct val="100000"/>
              <a:buChar char="•"/>
            </a:pPr>
            <a:r>
              <a:rPr lang="en-US" sz="1400" dirty="0">
                <a:solidFill>
                  <a:schemeClr val="bg2"/>
                </a:solidFill>
              </a:rPr>
              <a:t>PhilID Alt-ID required</a:t>
            </a:r>
            <a:endParaRPr lang="en-US" sz="1400" dirty="0"/>
          </a:p>
          <a:p>
            <a:pPr marL="177800" indent="-177800">
              <a:spcAft>
                <a:spcPts val="600"/>
              </a:spcAft>
              <a:buSzPct val="100000"/>
              <a:buChar char="•"/>
            </a:pPr>
            <a:r>
              <a:rPr lang="en-US" sz="1400" dirty="0">
                <a:solidFill>
                  <a:schemeClr val="bg2"/>
                </a:solidFill>
              </a:rPr>
              <a:t>Multiple offenses total ₱3,700</a:t>
            </a:r>
            <a:endParaRPr lang="en-US" sz="1400" dirty="0"/>
          </a:p>
        </p:txBody>
      </p:sp>
      <p:sp>
        <p:nvSpPr>
          <p:cNvPr id="21" name="Demo step card 4"/>
          <p:cNvSpPr/>
          <p:nvPr/>
        </p:nvSpPr>
        <p:spPr>
          <a:xfrm>
            <a:off x="9038844" y="1371600"/>
            <a:ext cx="2601468" cy="2331720"/>
          </a:xfrm>
          <a:prstGeom prst="roundRect">
            <a:avLst>
              <a:gd name="adj" fmla="val 3922"/>
            </a:avLst>
          </a:prstGeom>
          <a:solidFill>
            <a:schemeClr val="tx2"/>
          </a:solidFill>
          <a:ln/>
        </p:spPr>
      </p:sp>
      <p:sp>
        <p:nvSpPr>
          <p:cNvPr id="22" name="Demo number background 4"/>
          <p:cNvSpPr/>
          <p:nvPr/>
        </p:nvSpPr>
        <p:spPr>
          <a:xfrm>
            <a:off x="9221724" y="1554480"/>
            <a:ext cx="438912" cy="438912"/>
          </a:xfrm>
          <a:prstGeom prst="ellipse">
            <a:avLst/>
          </a:prstGeom>
          <a:solidFill>
            <a:schemeClr val="accent1"/>
          </a:solidFill>
          <a:ln/>
        </p:spPr>
      </p:sp>
      <p:sp>
        <p:nvSpPr>
          <p:cNvPr id="23" name="Demo number 4"/>
          <p:cNvSpPr txBox="1"/>
          <p:nvPr/>
        </p:nvSpPr>
        <p:spPr>
          <a:xfrm>
            <a:off x="9221724" y="155448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rPr>
              <a:t>4</a:t>
            </a:r>
            <a:endParaRPr lang="en-US" sz="1700" dirty="0"/>
          </a:p>
        </p:txBody>
      </p:sp>
      <p:sp>
        <p:nvSpPr>
          <p:cNvPr id="24" name="Demo step title 4"/>
          <p:cNvSpPr txBox="1"/>
          <p:nvPr/>
        </p:nvSpPr>
        <p:spPr>
          <a:xfrm>
            <a:off x="9788652" y="1481328"/>
            <a:ext cx="1737360" cy="585216"/>
          </a:xfrm>
          <a:prstGeom prst="rect">
            <a:avLst/>
          </a:prstGeom>
          <a:noFill/>
          <a:ln/>
        </p:spPr>
        <p:txBody>
          <a:bodyPr wrap="square" lIns="0" tIns="0" rIns="0" bIns="0" rtlCol="0" anchor="ctr"/>
          <a:lstStyle/>
          <a:p>
            <a:pPr indent="0" marL="0">
              <a:buNone/>
            </a:pPr>
            <a:r>
              <a:rPr lang="en-US" sz="1400" b="1" dirty="0">
                <a:solidFill>
                  <a:schemeClr val="bg1"/>
                </a:solidFill>
              </a:rPr>
              <a:t>Disposition &amp; impound</a:t>
            </a:r>
            <a:endParaRPr lang="en-US" sz="1400" dirty="0"/>
          </a:p>
        </p:txBody>
      </p:sp>
      <p:sp>
        <p:nvSpPr>
          <p:cNvPr id="25" name="Demo step details 4"/>
          <p:cNvSpPr txBox="1"/>
          <p:nvPr/>
        </p:nvSpPr>
        <p:spPr>
          <a:xfrm>
            <a:off x="9221724" y="2148840"/>
            <a:ext cx="228600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Set vehicle to 'Impounded'</a:t>
            </a:r>
            <a:endParaRPr lang="en-US" sz="1400" dirty="0"/>
          </a:p>
          <a:p>
            <a:pPr marL="177800" indent="-177800">
              <a:spcAft>
                <a:spcPts val="600"/>
              </a:spcAft>
              <a:buSzPct val="100000"/>
              <a:buChar char="•"/>
            </a:pPr>
            <a:r>
              <a:rPr lang="en-US" sz="1400" dirty="0">
                <a:solidFill>
                  <a:schemeClr val="bg2"/>
                </a:solidFill>
              </a:rPr>
              <a:t>Submission blocked until slip number is entered</a:t>
            </a:r>
            <a:endParaRPr lang="en-US" sz="1400" dirty="0"/>
          </a:p>
        </p:txBody>
      </p:sp>
      <p:sp>
        <p:nvSpPr>
          <p:cNvPr id="26" name="Demo step card 5"/>
          <p:cNvSpPr/>
          <p:nvPr/>
        </p:nvSpPr>
        <p:spPr>
          <a:xfrm>
            <a:off x="548640" y="3840480"/>
            <a:ext cx="2601468" cy="2331720"/>
          </a:xfrm>
          <a:prstGeom prst="roundRect">
            <a:avLst>
              <a:gd name="adj" fmla="val 3922"/>
            </a:avLst>
          </a:prstGeom>
          <a:solidFill>
            <a:schemeClr val="tx2"/>
          </a:solidFill>
          <a:ln/>
        </p:spPr>
      </p:sp>
      <p:sp>
        <p:nvSpPr>
          <p:cNvPr id="27" name="Demo number background 5"/>
          <p:cNvSpPr/>
          <p:nvPr/>
        </p:nvSpPr>
        <p:spPr>
          <a:xfrm>
            <a:off x="731520" y="4023360"/>
            <a:ext cx="438912" cy="438912"/>
          </a:xfrm>
          <a:prstGeom prst="ellipse">
            <a:avLst/>
          </a:prstGeom>
          <a:solidFill>
            <a:schemeClr val="accent1"/>
          </a:solidFill>
          <a:ln/>
        </p:spPr>
      </p:sp>
      <p:sp>
        <p:nvSpPr>
          <p:cNvPr id="28" name="Demo number 5"/>
          <p:cNvSpPr txBox="1"/>
          <p:nvPr/>
        </p:nvSpPr>
        <p:spPr>
          <a:xfrm>
            <a:off x="731520" y="402336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rPr>
              <a:t>5</a:t>
            </a:r>
            <a:endParaRPr lang="en-US" sz="1700" dirty="0"/>
          </a:p>
        </p:txBody>
      </p:sp>
      <p:sp>
        <p:nvSpPr>
          <p:cNvPr id="29" name="Demo step title 5"/>
          <p:cNvSpPr txBox="1"/>
          <p:nvPr/>
        </p:nvSpPr>
        <p:spPr>
          <a:xfrm>
            <a:off x="1298448" y="3950208"/>
            <a:ext cx="1737360" cy="585216"/>
          </a:xfrm>
          <a:prstGeom prst="rect">
            <a:avLst/>
          </a:prstGeom>
          <a:noFill/>
          <a:ln/>
        </p:spPr>
        <p:txBody>
          <a:bodyPr wrap="square" lIns="0" tIns="0" rIns="0" bIns="0" rtlCol="0" anchor="ctr"/>
          <a:lstStyle/>
          <a:p>
            <a:pPr indent="0" marL="0">
              <a:buNone/>
            </a:pPr>
            <a:r>
              <a:rPr lang="en-US" sz="1400" b="1" dirty="0">
                <a:solidFill>
                  <a:schemeClr val="bg1"/>
                </a:solidFill>
              </a:rPr>
              <a:t>Evidence &amp; thermal receipt</a:t>
            </a:r>
            <a:endParaRPr lang="en-US" sz="1400" dirty="0"/>
          </a:p>
        </p:txBody>
      </p:sp>
      <p:sp>
        <p:nvSpPr>
          <p:cNvPr id="30" name="Demo step details 5"/>
          <p:cNvSpPr txBox="1"/>
          <p:nvPr/>
        </p:nvSpPr>
        <p:spPr>
          <a:xfrm>
            <a:off x="731520" y="4617720"/>
            <a:ext cx="228600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Photo: instant compression</a:t>
            </a:r>
            <a:endParaRPr lang="en-US" sz="1400" dirty="0"/>
          </a:p>
          <a:p>
            <a:pPr marL="177800" indent="-177800">
              <a:spcAft>
                <a:spcPts val="600"/>
              </a:spcAft>
              <a:buSzPct val="100000"/>
              <a:buChar char="•"/>
            </a:pPr>
            <a:r>
              <a:rPr lang="en-US" sz="1400" dirty="0">
                <a:solidFill>
                  <a:schemeClr val="bg2"/>
                </a:solidFill>
              </a:rPr>
              <a:t>Issue citation: unique ticket ID</a:t>
            </a:r>
            <a:endParaRPr lang="en-US" sz="1400" dirty="0"/>
          </a:p>
          <a:p>
            <a:pPr marL="177800" indent="-177800">
              <a:spcAft>
                <a:spcPts val="600"/>
              </a:spcAft>
              <a:buSzPct val="100000"/>
              <a:buChar char="•"/>
            </a:pPr>
            <a:r>
              <a:rPr lang="en-US" sz="1400" dirty="0">
                <a:solidFill>
                  <a:schemeClr val="bg2"/>
                </a:solidFill>
              </a:rPr>
              <a:t>58/80 mm receipt preview</a:t>
            </a:r>
            <a:endParaRPr lang="en-US" sz="1400" dirty="0"/>
          </a:p>
        </p:txBody>
      </p:sp>
      <p:sp>
        <p:nvSpPr>
          <p:cNvPr id="31" name="Demo step card 6"/>
          <p:cNvSpPr/>
          <p:nvPr/>
        </p:nvSpPr>
        <p:spPr>
          <a:xfrm>
            <a:off x="3378708" y="3840480"/>
            <a:ext cx="2601468" cy="2331720"/>
          </a:xfrm>
          <a:prstGeom prst="roundRect">
            <a:avLst>
              <a:gd name="adj" fmla="val 3922"/>
            </a:avLst>
          </a:prstGeom>
          <a:solidFill>
            <a:schemeClr val="tx2"/>
          </a:solidFill>
          <a:ln/>
        </p:spPr>
      </p:sp>
      <p:sp>
        <p:nvSpPr>
          <p:cNvPr id="32" name="Demo number background 6"/>
          <p:cNvSpPr/>
          <p:nvPr/>
        </p:nvSpPr>
        <p:spPr>
          <a:xfrm>
            <a:off x="3561588" y="4023360"/>
            <a:ext cx="438912" cy="438912"/>
          </a:xfrm>
          <a:prstGeom prst="ellipse">
            <a:avLst/>
          </a:prstGeom>
          <a:solidFill>
            <a:schemeClr val="accent1"/>
          </a:solidFill>
          <a:ln/>
        </p:spPr>
      </p:sp>
      <p:sp>
        <p:nvSpPr>
          <p:cNvPr id="33" name="Demo number 6"/>
          <p:cNvSpPr txBox="1"/>
          <p:nvPr/>
        </p:nvSpPr>
        <p:spPr>
          <a:xfrm>
            <a:off x="3561588" y="402336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rPr>
              <a:t>6</a:t>
            </a:r>
            <a:endParaRPr lang="en-US" sz="1700" dirty="0"/>
          </a:p>
        </p:txBody>
      </p:sp>
      <p:sp>
        <p:nvSpPr>
          <p:cNvPr id="34" name="Demo step title 6"/>
          <p:cNvSpPr txBox="1"/>
          <p:nvPr/>
        </p:nvSpPr>
        <p:spPr>
          <a:xfrm>
            <a:off x="4128516" y="3950208"/>
            <a:ext cx="1737360" cy="585216"/>
          </a:xfrm>
          <a:prstGeom prst="rect">
            <a:avLst/>
          </a:prstGeom>
          <a:noFill/>
          <a:ln/>
        </p:spPr>
        <p:txBody>
          <a:bodyPr wrap="square" lIns="0" tIns="0" rIns="0" bIns="0" rtlCol="0" anchor="ctr"/>
          <a:lstStyle/>
          <a:p>
            <a:pPr indent="0" marL="0">
              <a:buNone/>
            </a:pPr>
            <a:r>
              <a:rPr lang="en-US" sz="1400" b="1" dirty="0">
                <a:solidFill>
                  <a:schemeClr val="bg1"/>
                </a:solidFill>
              </a:rPr>
              <a:t>Registry &amp; multi-field search</a:t>
            </a:r>
            <a:endParaRPr lang="en-US" sz="1400" dirty="0"/>
          </a:p>
        </p:txBody>
      </p:sp>
      <p:sp>
        <p:nvSpPr>
          <p:cNvPr id="35" name="Demo step details 6"/>
          <p:cNvSpPr txBox="1"/>
          <p:nvPr/>
        </p:nvSpPr>
        <p:spPr>
          <a:xfrm>
            <a:off x="3561588" y="4617720"/>
            <a:ext cx="228600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Ticket, plate, driver queries</a:t>
            </a:r>
            <a:endParaRPr lang="en-US" sz="1400" dirty="0"/>
          </a:p>
          <a:p>
            <a:pPr marL="177800" indent="-177800">
              <a:spcAft>
                <a:spcPts val="600"/>
              </a:spcAft>
              <a:buSzPct val="100000"/>
              <a:buChar char="•"/>
            </a:pPr>
            <a:r>
              <a:rPr lang="en-US" sz="1400" dirty="0">
                <a:solidFill>
                  <a:schemeClr val="bg2"/>
                </a:solidFill>
              </a:rPr>
              <a:t>Chips: Today, Active Shift, Flagged Alarms, Unsettled</a:t>
            </a:r>
            <a:endParaRPr lang="en-US" sz="1400" dirty="0"/>
          </a:p>
        </p:txBody>
      </p:sp>
      <p:sp>
        <p:nvSpPr>
          <p:cNvPr id="36" name="Demo step card 7"/>
          <p:cNvSpPr/>
          <p:nvPr/>
        </p:nvSpPr>
        <p:spPr>
          <a:xfrm>
            <a:off x="6208776" y="3840480"/>
            <a:ext cx="2601468" cy="2331720"/>
          </a:xfrm>
          <a:prstGeom prst="roundRect">
            <a:avLst>
              <a:gd name="adj" fmla="val 3922"/>
            </a:avLst>
          </a:prstGeom>
          <a:solidFill>
            <a:schemeClr val="tx2"/>
          </a:solidFill>
          <a:ln/>
        </p:spPr>
      </p:sp>
      <p:sp>
        <p:nvSpPr>
          <p:cNvPr id="37" name="Demo number background 7"/>
          <p:cNvSpPr/>
          <p:nvPr/>
        </p:nvSpPr>
        <p:spPr>
          <a:xfrm>
            <a:off x="6391656" y="4023360"/>
            <a:ext cx="438912" cy="438912"/>
          </a:xfrm>
          <a:prstGeom prst="ellipse">
            <a:avLst/>
          </a:prstGeom>
          <a:solidFill>
            <a:schemeClr val="accent1"/>
          </a:solidFill>
          <a:ln/>
        </p:spPr>
      </p:sp>
      <p:sp>
        <p:nvSpPr>
          <p:cNvPr id="38" name="Demo number 7"/>
          <p:cNvSpPr txBox="1"/>
          <p:nvPr/>
        </p:nvSpPr>
        <p:spPr>
          <a:xfrm>
            <a:off x="6391656" y="402336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rPr>
              <a:t>7</a:t>
            </a:r>
            <a:endParaRPr lang="en-US" sz="1700" dirty="0"/>
          </a:p>
        </p:txBody>
      </p:sp>
      <p:sp>
        <p:nvSpPr>
          <p:cNvPr id="39" name="Demo step title 7"/>
          <p:cNvSpPr txBox="1"/>
          <p:nvPr/>
        </p:nvSpPr>
        <p:spPr>
          <a:xfrm>
            <a:off x="6958584" y="3950208"/>
            <a:ext cx="1737360" cy="585216"/>
          </a:xfrm>
          <a:prstGeom prst="rect">
            <a:avLst/>
          </a:prstGeom>
          <a:noFill/>
          <a:ln/>
        </p:spPr>
        <p:txBody>
          <a:bodyPr wrap="square" lIns="0" tIns="0" rIns="0" bIns="0" rtlCol="0" anchor="ctr"/>
          <a:lstStyle/>
          <a:p>
            <a:pPr indent="0" marL="0">
              <a:buNone/>
            </a:pPr>
            <a:r>
              <a:rPr lang="en-US" sz="1400" b="1" dirty="0">
                <a:solidFill>
                  <a:schemeClr val="bg1"/>
                </a:solidFill>
              </a:rPr>
              <a:t>Dossier &amp; treasury settlement</a:t>
            </a:r>
            <a:endParaRPr lang="en-US" sz="1400" dirty="0"/>
          </a:p>
        </p:txBody>
      </p:sp>
      <p:sp>
        <p:nvSpPr>
          <p:cNvPr id="40" name="Demo step details 7"/>
          <p:cNvSpPr txBox="1"/>
          <p:nvPr/>
        </p:nvSpPr>
        <p:spPr>
          <a:xfrm>
            <a:off x="6391656" y="4617720"/>
            <a:ext cx="228600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Open dossier with photo</a:t>
            </a:r>
            <a:endParaRPr lang="en-US" sz="1400" dirty="0"/>
          </a:p>
          <a:p>
            <a:pPr marL="177800" indent="-177800">
              <a:spcAft>
                <a:spcPts val="600"/>
              </a:spcAft>
              <a:buSzPct val="100000"/>
              <a:buChar char="•"/>
            </a:pPr>
            <a:r>
              <a:rPr lang="en-US" sz="1400" dirty="0">
                <a:solidFill>
                  <a:schemeClr val="bg2"/>
                </a:solidFill>
              </a:rPr>
              <a:t>Mark Settled / Paid</a:t>
            </a:r>
            <a:endParaRPr lang="en-US" sz="1400" dirty="0"/>
          </a:p>
          <a:p>
            <a:pPr marL="177800" indent="-177800">
              <a:spcAft>
                <a:spcPts val="600"/>
              </a:spcAft>
              <a:buSzPct val="100000"/>
              <a:buChar char="•"/>
            </a:pPr>
            <a:r>
              <a:rPr lang="en-US" sz="1400" dirty="0">
                <a:solidFill>
                  <a:schemeClr val="bg2"/>
                </a:solidFill>
              </a:rPr>
              <a:t>Record OR number; state updates</a:t>
            </a:r>
            <a:endParaRPr lang="en-US" sz="1400" dirty="0"/>
          </a:p>
        </p:txBody>
      </p:sp>
      <p:sp>
        <p:nvSpPr>
          <p:cNvPr id="41" name="Demo step card 8"/>
          <p:cNvSpPr/>
          <p:nvPr/>
        </p:nvSpPr>
        <p:spPr>
          <a:xfrm>
            <a:off x="9038844" y="3840480"/>
            <a:ext cx="2601468" cy="2331720"/>
          </a:xfrm>
          <a:prstGeom prst="roundRect">
            <a:avLst>
              <a:gd name="adj" fmla="val 3922"/>
            </a:avLst>
          </a:prstGeom>
          <a:solidFill>
            <a:schemeClr val="tx2"/>
          </a:solidFill>
          <a:ln/>
        </p:spPr>
      </p:sp>
      <p:sp>
        <p:nvSpPr>
          <p:cNvPr id="42" name="Demo number background 8"/>
          <p:cNvSpPr/>
          <p:nvPr/>
        </p:nvSpPr>
        <p:spPr>
          <a:xfrm>
            <a:off x="9221724" y="4023360"/>
            <a:ext cx="438912" cy="438912"/>
          </a:xfrm>
          <a:prstGeom prst="ellipse">
            <a:avLst/>
          </a:prstGeom>
          <a:solidFill>
            <a:schemeClr val="accent1"/>
          </a:solidFill>
          <a:ln/>
        </p:spPr>
      </p:sp>
      <p:sp>
        <p:nvSpPr>
          <p:cNvPr id="43" name="Demo number 8"/>
          <p:cNvSpPr txBox="1"/>
          <p:nvPr/>
        </p:nvSpPr>
        <p:spPr>
          <a:xfrm>
            <a:off x="9221724" y="402336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rPr>
              <a:t>8</a:t>
            </a:r>
            <a:endParaRPr lang="en-US" sz="1700" dirty="0"/>
          </a:p>
        </p:txBody>
      </p:sp>
      <p:sp>
        <p:nvSpPr>
          <p:cNvPr id="44" name="Demo step title 8"/>
          <p:cNvSpPr txBox="1"/>
          <p:nvPr/>
        </p:nvSpPr>
        <p:spPr>
          <a:xfrm>
            <a:off x="9788652" y="3950208"/>
            <a:ext cx="1737360" cy="585216"/>
          </a:xfrm>
          <a:prstGeom prst="rect">
            <a:avLst/>
          </a:prstGeom>
          <a:noFill/>
          <a:ln/>
        </p:spPr>
        <p:txBody>
          <a:bodyPr wrap="square" lIns="0" tIns="0" rIns="0" bIns="0" rtlCol="0" anchor="ctr"/>
          <a:lstStyle/>
          <a:p>
            <a:pPr indent="0" marL="0">
              <a:buNone/>
            </a:pPr>
            <a:r>
              <a:rPr lang="en-US" sz="1400" b="1" dirty="0">
                <a:solidFill>
                  <a:schemeClr val="bg1"/>
                </a:solidFill>
              </a:rPr>
              <a:t>CSV export &amp; live KPIs</a:t>
            </a:r>
            <a:endParaRPr lang="en-US" sz="1400" dirty="0"/>
          </a:p>
        </p:txBody>
      </p:sp>
      <p:sp>
        <p:nvSpPr>
          <p:cNvPr id="45" name="Demo step details 8"/>
          <p:cNvSpPr txBox="1"/>
          <p:nvPr/>
        </p:nvSpPr>
        <p:spPr>
          <a:xfrm>
            <a:off x="9221724" y="4617720"/>
            <a:ext cx="228600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Excel CSV shows ₱ correctly</a:t>
            </a:r>
            <a:endParaRPr lang="en-US" sz="1400" dirty="0"/>
          </a:p>
          <a:p>
            <a:pPr marL="177800" indent="-177800">
              <a:spcAft>
                <a:spcPts val="600"/>
              </a:spcAft>
              <a:buSzPct val="100000"/>
              <a:buChar char="•"/>
            </a:pPr>
            <a:r>
              <a:rPr lang="en-US" sz="1400" dirty="0">
                <a:solidFill>
                  <a:schemeClr val="bg2"/>
                </a:solidFill>
              </a:rPr>
              <a:t>Header KPIs update in real time</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tx1"/>
                </a:solidFill>
              </a:rPr>
              <a:t>Operational Analytics &amp; KPI Dashboard</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TECHNICAL CONTENT &amp; LIVE DEMO  |  KPI ANALYTICS</a:t>
            </a:r>
            <a:endParaRPr lang="en-US" sz="1100" dirty="0"/>
          </a:p>
        </p:txBody>
      </p:sp>
      <p:sp>
        <p:nvSpPr>
          <p:cNvPr id="4" name="Speaker chip"/>
          <p:cNvSpPr/>
          <p:nvPr/>
        </p:nvSpPr>
        <p:spPr>
          <a:xfrm>
            <a:off x="9185148" y="384048"/>
            <a:ext cx="2455164" cy="365760"/>
          </a:xfrm>
          <a:prstGeom prst="roundRect">
            <a:avLst>
              <a:gd name="adj" fmla="val 50000"/>
            </a:avLst>
          </a:prstGeom>
          <a:solidFill>
            <a:schemeClr val="tx2"/>
          </a:solidFill>
          <a:ln/>
        </p:spPr>
      </p:sp>
      <p:sp>
        <p:nvSpPr>
          <p:cNvPr id="5" name="Speaker label"/>
          <p:cNvSpPr txBox="1"/>
          <p:nvPr/>
        </p:nvSpPr>
        <p:spPr>
          <a:xfrm>
            <a:off x="9185148" y="384048"/>
            <a:ext cx="2455164" cy="365760"/>
          </a:xfrm>
          <a:prstGeom prst="rect">
            <a:avLst/>
          </a:prstGeom>
          <a:noFill/>
          <a:ln/>
        </p:spPr>
        <p:txBody>
          <a:bodyPr wrap="square" lIns="0" tIns="0" rIns="0" bIns="0" rtlCol="0" anchor="ctr"/>
          <a:lstStyle/>
          <a:p>
            <a:pPr algn="ctr" indent="0" marL="0">
              <a:buNone/>
            </a:pPr>
            <a:r>
              <a:rPr lang="en-US" sz="1200" b="1" dirty="0">
                <a:solidFill>
                  <a:schemeClr val="bg1"/>
                </a:solidFill>
              </a:rPr>
              <a:t>Casey Freud  |  1.5 min</a:t>
            </a:r>
            <a:endParaRPr lang="en-US" sz="1200" dirty="0"/>
          </a:p>
        </p:txBody>
      </p:sp>
      <p:sp>
        <p:nvSpPr>
          <p:cNvPr id="6" name="KPI stat card 1"/>
          <p:cNvSpPr/>
          <p:nvPr/>
        </p:nvSpPr>
        <p:spPr>
          <a:xfrm>
            <a:off x="548640" y="1371600"/>
            <a:ext cx="2601468" cy="1188720"/>
          </a:xfrm>
          <a:prstGeom prst="roundRect">
            <a:avLst>
              <a:gd name="adj" fmla="val 7692"/>
            </a:avLst>
          </a:prstGeom>
          <a:solidFill>
            <a:schemeClr val="tx2"/>
          </a:solidFill>
          <a:ln/>
        </p:spPr>
      </p:sp>
      <p:sp>
        <p:nvSpPr>
          <p:cNvPr id="7" name="KPI stat value 1"/>
          <p:cNvSpPr txBox="1"/>
          <p:nvPr/>
        </p:nvSpPr>
        <p:spPr>
          <a:xfrm>
            <a:off x="731520" y="1444752"/>
            <a:ext cx="2286000" cy="548640"/>
          </a:xfrm>
          <a:prstGeom prst="rect">
            <a:avLst/>
          </a:prstGeom>
          <a:noFill/>
          <a:ln/>
        </p:spPr>
        <p:txBody>
          <a:bodyPr wrap="square" lIns="0" tIns="0" rIns="0" bIns="0" rtlCol="0" anchor="ctr"/>
          <a:lstStyle/>
          <a:p>
            <a:pPr indent="0" marL="0">
              <a:buNone/>
            </a:pPr>
            <a:r>
              <a:rPr lang="en-US" sz="3000" b="1" dirty="0">
                <a:solidFill>
                  <a:schemeClr val="bg1"/>
                </a:solidFill>
                <a:latin typeface="+mj-lt" pitchFamily="34" charset="0"/>
                <a:ea typeface="+mj-lt" pitchFamily="34" charset="-122"/>
                <a:cs typeface="+mj-lt" pitchFamily="34" charset="-120"/>
              </a:rPr>
              <a:t>284</a:t>
            </a:r>
            <a:endParaRPr lang="en-US" sz="3000" dirty="0"/>
          </a:p>
        </p:txBody>
      </p:sp>
      <p:sp>
        <p:nvSpPr>
          <p:cNvPr id="8" name="KPI stat label 1"/>
          <p:cNvSpPr txBox="1"/>
          <p:nvPr/>
        </p:nvSpPr>
        <p:spPr>
          <a:xfrm>
            <a:off x="731520" y="1993392"/>
            <a:ext cx="2286000" cy="530352"/>
          </a:xfrm>
          <a:prstGeom prst="rect">
            <a:avLst/>
          </a:prstGeom>
          <a:noFill/>
          <a:ln/>
        </p:spPr>
        <p:txBody>
          <a:bodyPr wrap="square" lIns="0" tIns="0" rIns="0" bIns="0" rtlCol="0" anchor="t"/>
          <a:lstStyle/>
          <a:p>
            <a:pPr indent="0" marL="0">
              <a:buNone/>
            </a:pPr>
            <a:r>
              <a:rPr lang="en-US" sz="1300" b="1" dirty="0">
                <a:solidFill>
                  <a:schemeClr val="accent1"/>
                </a:solidFill>
              </a:rPr>
              <a:t>Total apprehensions</a:t>
            </a:r>
            <a:endParaRPr lang="en-US" sz="1400" dirty="0"/>
          </a:p>
          <a:p>
            <a:pPr indent="0" marL="0">
              <a:buNone/>
            </a:pPr>
            <a:r>
              <a:rPr lang="en-US" sz="1100" dirty="0">
                <a:solidFill>
                  <a:schemeClr val="bg2"/>
                </a:solidFill>
              </a:rPr>
              <a:t>Citations issued across shifts</a:t>
            </a:r>
            <a:endParaRPr lang="en-US" sz="1400" dirty="0"/>
          </a:p>
        </p:txBody>
      </p:sp>
      <p:sp>
        <p:nvSpPr>
          <p:cNvPr id="9" name="KPI stat card 2"/>
          <p:cNvSpPr/>
          <p:nvPr/>
        </p:nvSpPr>
        <p:spPr>
          <a:xfrm>
            <a:off x="3378708" y="1371600"/>
            <a:ext cx="2601468" cy="1188720"/>
          </a:xfrm>
          <a:prstGeom prst="roundRect">
            <a:avLst>
              <a:gd name="adj" fmla="val 7692"/>
            </a:avLst>
          </a:prstGeom>
          <a:solidFill>
            <a:schemeClr val="tx2"/>
          </a:solidFill>
          <a:ln/>
        </p:spPr>
      </p:sp>
      <p:sp>
        <p:nvSpPr>
          <p:cNvPr id="10" name="KPI stat value 2"/>
          <p:cNvSpPr txBox="1"/>
          <p:nvPr/>
        </p:nvSpPr>
        <p:spPr>
          <a:xfrm>
            <a:off x="3561588" y="1444752"/>
            <a:ext cx="2286000" cy="548640"/>
          </a:xfrm>
          <a:prstGeom prst="rect">
            <a:avLst/>
          </a:prstGeom>
          <a:noFill/>
          <a:ln/>
        </p:spPr>
        <p:txBody>
          <a:bodyPr wrap="square" lIns="0" tIns="0" rIns="0" bIns="0" rtlCol="0" anchor="ctr"/>
          <a:lstStyle/>
          <a:p>
            <a:pPr indent="0" marL="0">
              <a:buNone/>
            </a:pPr>
            <a:r>
              <a:rPr lang="en-US" sz="3000" b="1" dirty="0">
                <a:solidFill>
                  <a:schemeClr val="bg1"/>
                </a:solidFill>
                <a:latin typeface="+mj-lt" pitchFamily="34" charset="0"/>
                <a:ea typeface="+mj-lt" pitchFamily="34" charset="-122"/>
                <a:cs typeface="+mj-lt" pitchFamily="34" charset="-120"/>
              </a:rPr>
              <a:t>₱440,000</a:t>
            </a:r>
            <a:endParaRPr lang="en-US" sz="3000" dirty="0"/>
          </a:p>
        </p:txBody>
      </p:sp>
      <p:sp>
        <p:nvSpPr>
          <p:cNvPr id="11" name="KPI stat label 2"/>
          <p:cNvSpPr txBox="1"/>
          <p:nvPr/>
        </p:nvSpPr>
        <p:spPr>
          <a:xfrm>
            <a:off x="3561588" y="1993392"/>
            <a:ext cx="2286000" cy="530352"/>
          </a:xfrm>
          <a:prstGeom prst="rect">
            <a:avLst/>
          </a:prstGeom>
          <a:noFill/>
          <a:ln/>
        </p:spPr>
        <p:txBody>
          <a:bodyPr wrap="square" lIns="0" tIns="0" rIns="0" bIns="0" rtlCol="0" anchor="t"/>
          <a:lstStyle/>
          <a:p>
            <a:pPr indent="0" marL="0">
              <a:buNone/>
            </a:pPr>
            <a:r>
              <a:rPr lang="en-US" sz="1300" b="1" dirty="0">
                <a:solidFill>
                  <a:schemeClr val="accent1"/>
                </a:solidFill>
              </a:rPr>
              <a:t>Total fines levied</a:t>
            </a:r>
            <a:endParaRPr lang="en-US" sz="1400" dirty="0"/>
          </a:p>
          <a:p>
            <a:pPr indent="0" marL="0">
              <a:buNone/>
            </a:pPr>
            <a:r>
              <a:rPr lang="en-US" sz="1100" dirty="0">
                <a:solidFill>
                  <a:schemeClr val="bg2"/>
                </a:solidFill>
              </a:rPr>
              <a:t>Cumulative JAO-schedule penalties</a:t>
            </a:r>
            <a:endParaRPr lang="en-US" sz="1400" dirty="0"/>
          </a:p>
        </p:txBody>
      </p:sp>
      <p:sp>
        <p:nvSpPr>
          <p:cNvPr id="12" name="KPI stat card 3"/>
          <p:cNvSpPr/>
          <p:nvPr/>
        </p:nvSpPr>
        <p:spPr>
          <a:xfrm>
            <a:off x="6208776" y="1371600"/>
            <a:ext cx="2601468" cy="1188720"/>
          </a:xfrm>
          <a:prstGeom prst="roundRect">
            <a:avLst>
              <a:gd name="adj" fmla="val 7692"/>
            </a:avLst>
          </a:prstGeom>
          <a:solidFill>
            <a:schemeClr val="tx2"/>
          </a:solidFill>
          <a:ln/>
        </p:spPr>
      </p:sp>
      <p:sp>
        <p:nvSpPr>
          <p:cNvPr id="13" name="KPI stat value 3"/>
          <p:cNvSpPr txBox="1"/>
          <p:nvPr/>
        </p:nvSpPr>
        <p:spPr>
          <a:xfrm>
            <a:off x="6391656" y="1444752"/>
            <a:ext cx="2286000" cy="548640"/>
          </a:xfrm>
          <a:prstGeom prst="rect">
            <a:avLst/>
          </a:prstGeom>
          <a:noFill/>
          <a:ln/>
        </p:spPr>
        <p:txBody>
          <a:bodyPr wrap="square" lIns="0" tIns="0" rIns="0" bIns="0" rtlCol="0" anchor="ctr"/>
          <a:lstStyle/>
          <a:p>
            <a:pPr indent="0" marL="0">
              <a:buNone/>
            </a:pPr>
            <a:r>
              <a:rPr lang="en-US" sz="3000" b="1" dirty="0">
                <a:solidFill>
                  <a:schemeClr val="bg1"/>
                </a:solidFill>
                <a:latin typeface="+mj-lt" pitchFamily="34" charset="0"/>
                <a:ea typeface="+mj-lt" pitchFamily="34" charset="-122"/>
                <a:cs typeface="+mj-lt" pitchFamily="34" charset="-120"/>
              </a:rPr>
              <a:t>62</a:t>
            </a:r>
            <a:endParaRPr lang="en-US" sz="3000" dirty="0"/>
          </a:p>
        </p:txBody>
      </p:sp>
      <p:sp>
        <p:nvSpPr>
          <p:cNvPr id="14" name="KPI stat label 3"/>
          <p:cNvSpPr txBox="1"/>
          <p:nvPr/>
        </p:nvSpPr>
        <p:spPr>
          <a:xfrm>
            <a:off x="6391656" y="1993392"/>
            <a:ext cx="2286000" cy="530352"/>
          </a:xfrm>
          <a:prstGeom prst="rect">
            <a:avLst/>
          </a:prstGeom>
          <a:noFill/>
          <a:ln/>
        </p:spPr>
        <p:txBody>
          <a:bodyPr wrap="square" lIns="0" tIns="0" rIns="0" bIns="0" rtlCol="0" anchor="t"/>
          <a:lstStyle/>
          <a:p>
            <a:pPr indent="0" marL="0">
              <a:buNone/>
            </a:pPr>
            <a:r>
              <a:rPr lang="en-US" sz="1300" b="1" dirty="0">
                <a:solidFill>
                  <a:schemeClr val="accent1"/>
                </a:solidFill>
              </a:rPr>
              <a:t>Flagged alerts (22%)</a:t>
            </a:r>
            <a:endParaRPr lang="en-US" sz="1400" dirty="0"/>
          </a:p>
          <a:p>
            <a:pPr indent="0" marL="0">
              <a:buNone/>
            </a:pPr>
            <a:r>
              <a:rPr lang="en-US" sz="1100" dirty="0">
                <a:solidFill>
                  <a:schemeClr val="bg2"/>
                </a:solidFill>
              </a:rPr>
              <a:t>HPG stolen vehicles &amp; warrant matches</a:t>
            </a:r>
            <a:endParaRPr lang="en-US" sz="1400" dirty="0"/>
          </a:p>
        </p:txBody>
      </p:sp>
      <p:sp>
        <p:nvSpPr>
          <p:cNvPr id="15" name="KPI stat card 4"/>
          <p:cNvSpPr/>
          <p:nvPr/>
        </p:nvSpPr>
        <p:spPr>
          <a:xfrm>
            <a:off x="9038844" y="1371600"/>
            <a:ext cx="2601468" cy="1188720"/>
          </a:xfrm>
          <a:prstGeom prst="roundRect">
            <a:avLst>
              <a:gd name="adj" fmla="val 7692"/>
            </a:avLst>
          </a:prstGeom>
          <a:solidFill>
            <a:schemeClr val="tx2"/>
          </a:solidFill>
          <a:ln/>
        </p:spPr>
      </p:sp>
      <p:sp>
        <p:nvSpPr>
          <p:cNvPr id="16" name="KPI stat value 4"/>
          <p:cNvSpPr txBox="1"/>
          <p:nvPr/>
        </p:nvSpPr>
        <p:spPr>
          <a:xfrm>
            <a:off x="9221724" y="1444752"/>
            <a:ext cx="2286000" cy="548640"/>
          </a:xfrm>
          <a:prstGeom prst="rect">
            <a:avLst/>
          </a:prstGeom>
          <a:noFill/>
          <a:ln/>
        </p:spPr>
        <p:txBody>
          <a:bodyPr wrap="square" lIns="0" tIns="0" rIns="0" bIns="0" rtlCol="0" anchor="ctr"/>
          <a:lstStyle/>
          <a:p>
            <a:pPr indent="0" marL="0">
              <a:buNone/>
            </a:pPr>
            <a:r>
              <a:rPr lang="en-US" sz="3000" b="1" dirty="0">
                <a:solidFill>
                  <a:schemeClr val="bg1"/>
                </a:solidFill>
                <a:latin typeface="+mj-lt" pitchFamily="34" charset="0"/>
                <a:ea typeface="+mj-lt" pitchFamily="34" charset="-122"/>
                <a:cs typeface="+mj-lt" pitchFamily="34" charset="-120"/>
              </a:rPr>
              <a:t>189</a:t>
            </a:r>
            <a:endParaRPr lang="en-US" sz="3000" dirty="0"/>
          </a:p>
        </p:txBody>
      </p:sp>
      <p:sp>
        <p:nvSpPr>
          <p:cNvPr id="17" name="KPI stat label 4"/>
          <p:cNvSpPr txBox="1"/>
          <p:nvPr/>
        </p:nvSpPr>
        <p:spPr>
          <a:xfrm>
            <a:off x="9221724" y="1993392"/>
            <a:ext cx="2286000" cy="530352"/>
          </a:xfrm>
          <a:prstGeom prst="rect">
            <a:avLst/>
          </a:prstGeom>
          <a:noFill/>
          <a:ln/>
        </p:spPr>
        <p:txBody>
          <a:bodyPr wrap="square" lIns="0" tIns="0" rIns="0" bIns="0" rtlCol="0" anchor="t"/>
          <a:lstStyle/>
          <a:p>
            <a:pPr indent="0" marL="0">
              <a:buNone/>
            </a:pPr>
            <a:r>
              <a:rPr lang="en-US" sz="1300" b="1" dirty="0">
                <a:solidFill>
                  <a:schemeClr val="accent1"/>
                </a:solidFill>
              </a:rPr>
              <a:t>Unsettled (66%)</a:t>
            </a:r>
            <a:endParaRPr lang="en-US" sz="1400" dirty="0"/>
          </a:p>
          <a:p>
            <a:pPr indent="0" marL="0">
              <a:buNone/>
            </a:pPr>
            <a:r>
              <a:rPr lang="en-US" sz="1100" dirty="0">
                <a:solidFill>
                  <a:schemeClr val="bg2"/>
                </a:solidFill>
              </a:rPr>
              <a:t>Balances still due at Treasury</a:t>
            </a:r>
            <a:endParaRPr lang="en-US" sz="1400" dirty="0"/>
          </a:p>
        </p:txBody>
      </p:sp>
      <p:sp>
        <p:nvSpPr>
          <p:cNvPr id="18" name="Infraction chart title"/>
          <p:cNvSpPr txBox="1"/>
          <p:nvPr/>
        </p:nvSpPr>
        <p:spPr>
          <a:xfrm>
            <a:off x="548640" y="2743200"/>
            <a:ext cx="5760720" cy="274320"/>
          </a:xfrm>
          <a:prstGeom prst="rect">
            <a:avLst/>
          </a:prstGeom>
          <a:noFill/>
          <a:ln/>
        </p:spPr>
        <p:txBody>
          <a:bodyPr wrap="square" lIns="0" tIns="0" rIns="0" bIns="0" rtlCol="0" anchor="t"/>
          <a:lstStyle/>
          <a:p>
            <a:pPr indent="0" marL="0">
              <a:buNone/>
            </a:pPr>
            <a:r>
              <a:rPr lang="en-US" sz="1400" b="1" dirty="0">
                <a:solidFill>
                  <a:schemeClr val="tx1"/>
                </a:solidFill>
              </a:rPr>
              <a:t>Infraction distribution: top offenses (cases, JAO 2014-01)</a:t>
            </a:r>
            <a:endParaRPr lang="en-US" sz="1400" dirty="0"/>
          </a:p>
        </p:txBody>
      </p:sp>
      <p:graphicFrame>
        <p:nvGraphicFramePr>
          <p:cNvPr id="19" name="Chart 0" descr=""/>
          <p:cNvGraphicFramePr/>
          <p:nvPr/>
        </p:nvGraphicFramePr>
        <p:xfrm>
          <a:off x="548640" y="3017520"/>
          <a:ext cx="5760720" cy="2423160"/>
        </p:xfrm>
        <a:graphic xmlns:a="http://schemas.openxmlformats.org/drawingml/2006/main">
          <a:graphicData uri="http://schemas.openxmlformats.org/drawingml/2006/chart">
            <c:chart xmlns:c="http://schemas.openxmlformats.org/drawingml/2006/chart" r:id="rId1"/>
          </a:graphicData>
        </a:graphic>
      </p:graphicFrame>
      <p:sp>
        <p:nvSpPr>
          <p:cNvPr id="20" name="Tactical insight"/>
          <p:cNvSpPr/>
          <p:nvPr/>
        </p:nvSpPr>
        <p:spPr>
          <a:xfrm>
            <a:off x="548640" y="5532120"/>
            <a:ext cx="5760720" cy="685800"/>
          </a:xfrm>
          <a:prstGeom prst="roundRect">
            <a:avLst>
              <a:gd name="adj" fmla="val 13333"/>
            </a:avLst>
          </a:prstGeom>
          <a:solidFill>
            <a:schemeClr val="accent1"/>
          </a:solidFill>
          <a:ln/>
        </p:spPr>
      </p:sp>
      <p:sp>
        <p:nvSpPr>
          <p:cNvPr id="21" name="Tactical insight text"/>
          <p:cNvSpPr txBox="1"/>
          <p:nvPr/>
        </p:nvSpPr>
        <p:spPr>
          <a:xfrm>
            <a:off x="731520" y="5532120"/>
            <a:ext cx="5394960" cy="685800"/>
          </a:xfrm>
          <a:prstGeom prst="rect">
            <a:avLst/>
          </a:prstGeom>
          <a:noFill/>
          <a:ln/>
        </p:spPr>
        <p:txBody>
          <a:bodyPr wrap="square" lIns="0" tIns="0" rIns="0" bIns="0" rtlCol="0" anchor="ctr"/>
          <a:lstStyle/>
          <a:p>
            <a:pPr indent="0" marL="0">
              <a:buNone/>
            </a:pPr>
            <a:r>
              <a:rPr lang="en-US" sz="1300" b="1" dirty="0">
                <a:solidFill>
                  <a:schemeClr val="tx1"/>
                </a:solidFill>
              </a:rPr>
              <a:t>Tactical insight: </a:t>
            </a:r>
            <a:pPr indent="0" marL="0">
              <a:buNone/>
            </a:pPr>
            <a:r>
              <a:rPr lang="en-US" sz="1300" dirty="0">
                <a:solidFill>
                  <a:schemeClr val="tx1"/>
                </a:solidFill>
              </a:rPr>
              <a:t>unlicensed driving and helmet violations (51% of cases) justify prioritized motorcycle checkpoint interdiction.</a:t>
            </a:r>
            <a:endParaRPr lang="en-US" sz="1300" dirty="0"/>
          </a:p>
        </p:txBody>
      </p:sp>
      <p:sp>
        <p:nvSpPr>
          <p:cNvPr id="22" name="Shift chart title"/>
          <p:cNvSpPr txBox="1"/>
          <p:nvPr/>
        </p:nvSpPr>
        <p:spPr>
          <a:xfrm>
            <a:off x="6583680" y="2743200"/>
            <a:ext cx="5029200" cy="274320"/>
          </a:xfrm>
          <a:prstGeom prst="rect">
            <a:avLst/>
          </a:prstGeom>
          <a:noFill/>
          <a:ln/>
        </p:spPr>
        <p:txBody>
          <a:bodyPr wrap="square" lIns="0" tIns="0" rIns="0" bIns="0" rtlCol="0" anchor="t"/>
          <a:lstStyle/>
          <a:p>
            <a:pPr indent="0" marL="0">
              <a:buNone/>
            </a:pPr>
            <a:r>
              <a:rPr lang="en-US" sz="1400" b="1" dirty="0">
                <a:solidFill>
                  <a:schemeClr val="tx1"/>
                </a:solidFill>
              </a:rPr>
              <a:t>Fines by shift (₱ thousands)</a:t>
            </a:r>
            <a:endParaRPr lang="en-US" sz="1400" dirty="0"/>
          </a:p>
        </p:txBody>
      </p:sp>
      <p:graphicFrame>
        <p:nvGraphicFramePr>
          <p:cNvPr id="23" name="Chart 1" descr=""/>
          <p:cNvGraphicFramePr/>
          <p:nvPr/>
        </p:nvGraphicFramePr>
        <p:xfrm>
          <a:off x="6583680" y="3017520"/>
          <a:ext cx="5056632" cy="1463040"/>
        </p:xfrm>
        <a:graphic xmlns:a="http://schemas.openxmlformats.org/drawingml/2006/main">
          <a:graphicData uri="http://schemas.openxmlformats.org/drawingml/2006/chart">
            <c:chart xmlns:c="http://schemas.openxmlformats.org/drawingml/2006/chart" r:id="rId2"/>
          </a:graphicData>
        </a:graphic>
      </p:graphicFrame>
      <p:sp>
        <p:nvSpPr>
          <p:cNvPr id="24" name="Post chart title"/>
          <p:cNvSpPr txBox="1"/>
          <p:nvPr/>
        </p:nvSpPr>
        <p:spPr>
          <a:xfrm>
            <a:off x="6583680" y="4572000"/>
            <a:ext cx="5029200" cy="274320"/>
          </a:xfrm>
          <a:prstGeom prst="rect">
            <a:avLst/>
          </a:prstGeom>
          <a:noFill/>
          <a:ln/>
        </p:spPr>
        <p:txBody>
          <a:bodyPr wrap="square" lIns="0" tIns="0" rIns="0" bIns="0" rtlCol="0" anchor="t"/>
          <a:lstStyle/>
          <a:p>
            <a:pPr indent="0" marL="0">
              <a:buNone/>
            </a:pPr>
            <a:r>
              <a:rPr lang="en-US" sz="1400" b="1" dirty="0">
                <a:solidFill>
                  <a:schemeClr val="tx1"/>
                </a:solidFill>
              </a:rPr>
              <a:t>Citations by checkpoint post</a:t>
            </a:r>
            <a:endParaRPr lang="en-US" sz="1400" dirty="0"/>
          </a:p>
        </p:txBody>
      </p:sp>
      <p:graphicFrame>
        <p:nvGraphicFramePr>
          <p:cNvPr id="25" name="Chart 2" descr=""/>
          <p:cNvGraphicFramePr/>
          <p:nvPr/>
        </p:nvGraphicFramePr>
        <p:xfrm>
          <a:off x="6583680" y="4846320"/>
          <a:ext cx="5056632" cy="137160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30352"/>
            <a:ext cx="8321040" cy="731520"/>
          </a:xfrm>
          <a:prstGeom prst="rect">
            <a:avLst/>
          </a:prstGeom>
          <a:noFill/>
          <a:ln/>
        </p:spPr>
        <p:txBody>
          <a:bodyPr wrap="square" lIns="0" tIns="0" rIns="0" bIns="0" rtlCol="0" anchor="ctr"/>
          <a:lstStyle/>
          <a:p>
            <a:pPr algn="l" indent="0" marL="0">
              <a:buNone/>
            </a:pPr>
            <a:r>
              <a:rPr lang="en-US" sz="3200" b="1" dirty="0">
                <a:solidFill>
                  <a:schemeClr val="bg1"/>
                </a:solidFill>
              </a:rPr>
              <a:t>Summary, Lessons &amp; Roadmap</a:t>
            </a:r>
            <a:endParaRPr lang="en-US" sz="3200" dirty="0"/>
          </a:p>
        </p:txBody>
      </p:sp>
      <p:sp>
        <p:nvSpPr>
          <p:cNvPr id="3" name="Kicker"/>
          <p:cNvSpPr txBox="1"/>
          <p:nvPr/>
        </p:nvSpPr>
        <p:spPr>
          <a:xfrm>
            <a:off x="548640" y="274320"/>
            <a:ext cx="841248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DELIVERY, ROADMAP &amp; Q&amp;A  |  RUBRIC CATEGORY C</a:t>
            </a:r>
            <a:endParaRPr lang="en-US" sz="1100" dirty="0"/>
          </a:p>
        </p:txBody>
      </p:sp>
      <p:sp>
        <p:nvSpPr>
          <p:cNvPr id="4" name="Speaker chip"/>
          <p:cNvSpPr/>
          <p:nvPr/>
        </p:nvSpPr>
        <p:spPr>
          <a:xfrm>
            <a:off x="8403336" y="384048"/>
            <a:ext cx="3236976" cy="365760"/>
          </a:xfrm>
          <a:prstGeom prst="roundRect">
            <a:avLst>
              <a:gd name="adj" fmla="val 50000"/>
            </a:avLst>
          </a:prstGeom>
          <a:solidFill>
            <a:schemeClr val="accent1"/>
          </a:solidFill>
          <a:ln/>
        </p:spPr>
      </p:sp>
      <p:sp>
        <p:nvSpPr>
          <p:cNvPr id="5" name="Speaker label"/>
          <p:cNvSpPr txBox="1"/>
          <p:nvPr/>
        </p:nvSpPr>
        <p:spPr>
          <a:xfrm>
            <a:off x="8403336" y="384048"/>
            <a:ext cx="3236976" cy="365760"/>
          </a:xfrm>
          <a:prstGeom prst="rect">
            <a:avLst/>
          </a:prstGeom>
          <a:noFill/>
          <a:ln/>
        </p:spPr>
        <p:txBody>
          <a:bodyPr wrap="square" lIns="0" tIns="0" rIns="0" bIns="0" rtlCol="0" anchor="ctr"/>
          <a:lstStyle/>
          <a:p>
            <a:pPr algn="ctr" indent="0" marL="0">
              <a:buNone/>
            </a:pPr>
            <a:r>
              <a:rPr lang="en-US" sz="1200" b="1" dirty="0">
                <a:solidFill>
                  <a:schemeClr val="tx1"/>
                </a:solidFill>
              </a:rPr>
              <a:t>Casey Freud &amp; Ranier  |  3.0 min</a:t>
            </a:r>
            <a:endParaRPr lang="en-US" sz="1200" dirty="0"/>
          </a:p>
        </p:txBody>
      </p:sp>
      <p:sp>
        <p:nvSpPr>
          <p:cNvPr id="6" name="Closing card 1"/>
          <p:cNvSpPr/>
          <p:nvPr/>
        </p:nvSpPr>
        <p:spPr>
          <a:xfrm>
            <a:off x="548640" y="1371600"/>
            <a:ext cx="3575304" cy="3840480"/>
          </a:xfrm>
          <a:prstGeom prst="roundRect">
            <a:avLst>
              <a:gd name="adj" fmla="val 2558"/>
            </a:avLst>
          </a:prstGeom>
          <a:solidFill>
            <a:schemeClr val="tx2"/>
          </a:solidFill>
          <a:ln/>
        </p:spPr>
      </p:sp>
      <p:sp>
        <p:nvSpPr>
          <p:cNvPr id="7" name="Closing label 1"/>
          <p:cNvSpPr txBox="1"/>
          <p:nvPr/>
        </p:nvSpPr>
        <p:spPr>
          <a:xfrm>
            <a:off x="777240" y="1554480"/>
            <a:ext cx="310896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WHAT WE DELIVERED</a:t>
            </a:r>
            <a:endParaRPr lang="en-US" sz="1200" dirty="0"/>
          </a:p>
        </p:txBody>
      </p:sp>
      <p:sp>
        <p:nvSpPr>
          <p:cNvPr id="8" name="Closing details 1"/>
          <p:cNvSpPr txBox="1"/>
          <p:nvPr/>
        </p:nvSpPr>
        <p:spPr>
          <a:xfrm>
            <a:off x="777240" y="1920240"/>
            <a:ext cx="3154680" cy="3200400"/>
          </a:xfrm>
          <a:prstGeom prst="rect">
            <a:avLst/>
          </a:prstGeom>
          <a:noFill/>
          <a:ln/>
        </p:spPr>
        <p:txBody>
          <a:bodyPr wrap="square" lIns="0" tIns="0" rIns="0" bIns="0" rtlCol="0" anchor="t"/>
          <a:lstStyle/>
          <a:p>
            <a:pPr marL="177800" indent="-177800">
              <a:spcAft>
                <a:spcPts val="900"/>
              </a:spcAft>
              <a:buSzPct val="100000"/>
              <a:buChar char="•"/>
            </a:pPr>
            <a:r>
              <a:rPr lang="en-US" sz="1500" b="1" dirty="0">
                <a:solidFill>
                  <a:schemeClr val="bg1"/>
                </a:solidFill>
              </a:rPr>
              <a:t>Working v2.0-PRO prototype: </a:t>
            </a:r>
            <a:pPr indent="0" marL="0">
              <a:buNone/>
            </a:pPr>
            <a:r>
              <a:rPr lang="en-US" sz="1500" dirty="0">
                <a:solidFill>
                  <a:schemeClr val="bg1"/>
                </a:solidFill>
              </a:rPr>
              <a:t>Node.js/Express + SQLite3 edge app for Agoo MPS</a:t>
            </a:r>
            <a:endParaRPr lang="en-US" sz="1400" dirty="0"/>
          </a:p>
          <a:p>
            <a:pPr marL="177800" indent="-177800">
              <a:spcAft>
                <a:spcPts val="900"/>
              </a:spcAft>
              <a:buSzPct val="100000"/>
              <a:buChar char="•"/>
            </a:pPr>
            <a:r>
              <a:rPr lang="en-US" sz="1500" b="1" dirty="0">
                <a:solidFill>
                  <a:schemeClr val="bg1"/>
                </a:solidFill>
              </a:rPr>
              <a:t>Full traceability: </a:t>
            </a:r>
            <a:pPr indent="0" marL="0">
              <a:buNone/>
            </a:pPr>
            <a:r>
              <a:rPr lang="en-US" sz="1500" dirty="0">
                <a:solidFill>
                  <a:schemeClr val="bg1"/>
                </a:solidFill>
              </a:rPr>
              <a:t>requirements to code, schema and 14 passing tests</a:t>
            </a:r>
            <a:endParaRPr lang="en-US" sz="1400" dirty="0"/>
          </a:p>
          <a:p>
            <a:pPr marL="177800" indent="-177800">
              <a:spcAft>
                <a:spcPts val="900"/>
              </a:spcAft>
              <a:buSzPct val="100000"/>
              <a:buChar char="•"/>
            </a:pPr>
            <a:r>
              <a:rPr lang="en-US" sz="1500" b="1" dirty="0">
                <a:solidFill>
                  <a:schemeClr val="bg1"/>
                </a:solidFill>
              </a:rPr>
              <a:t>Field-ready: </a:t>
            </a:r>
            <a:pPr indent="0" marL="0">
              <a:buNone/>
            </a:pPr>
            <a:r>
              <a:rPr lang="en-US" sz="1500" dirty="0">
                <a:solidFill>
                  <a:schemeClr val="bg1"/>
                </a:solidFill>
              </a:rPr>
              <a:t>sub-minute citations, photo compression, thermal print</a:t>
            </a:r>
            <a:endParaRPr lang="en-US" sz="1400" dirty="0"/>
          </a:p>
          <a:p>
            <a:pPr marL="177800" indent="-177800">
              <a:spcAft>
                <a:spcPts val="900"/>
              </a:spcAft>
              <a:buSzPct val="100000"/>
              <a:buChar char="•"/>
            </a:pPr>
            <a:r>
              <a:rPr lang="en-US" sz="1500" b="1" dirty="0">
                <a:solidFill>
                  <a:schemeClr val="bg1"/>
                </a:solidFill>
              </a:rPr>
              <a:t>Complete documentation: </a:t>
            </a:r>
            <a:pPr indent="0" marL="0">
              <a:buNone/>
            </a:pPr>
            <a:r>
              <a:rPr lang="en-US" sz="1500" dirty="0">
                <a:solidFill>
                  <a:schemeClr val="bg1"/>
                </a:solidFill>
              </a:rPr>
              <a:t>DFDs, 3NF ERD, HIPO, data dictionary, SCM plan</a:t>
            </a:r>
            <a:endParaRPr lang="en-US" sz="1400" dirty="0"/>
          </a:p>
        </p:txBody>
      </p:sp>
      <p:sp>
        <p:nvSpPr>
          <p:cNvPr id="9" name="Closing card 2"/>
          <p:cNvSpPr/>
          <p:nvPr/>
        </p:nvSpPr>
        <p:spPr>
          <a:xfrm>
            <a:off x="4306824" y="1371600"/>
            <a:ext cx="3575304" cy="3840480"/>
          </a:xfrm>
          <a:prstGeom prst="roundRect">
            <a:avLst>
              <a:gd name="adj" fmla="val 2558"/>
            </a:avLst>
          </a:prstGeom>
          <a:solidFill>
            <a:schemeClr val="tx2"/>
          </a:solidFill>
          <a:ln/>
        </p:spPr>
      </p:sp>
      <p:sp>
        <p:nvSpPr>
          <p:cNvPr id="10" name="Closing label 2"/>
          <p:cNvSpPr txBox="1"/>
          <p:nvPr/>
        </p:nvSpPr>
        <p:spPr>
          <a:xfrm>
            <a:off x="4535424" y="1554480"/>
            <a:ext cx="310896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LESSONS LEARNED</a:t>
            </a:r>
            <a:endParaRPr lang="en-US" sz="1200" dirty="0"/>
          </a:p>
        </p:txBody>
      </p:sp>
      <p:sp>
        <p:nvSpPr>
          <p:cNvPr id="11" name="Closing details 2"/>
          <p:cNvSpPr txBox="1"/>
          <p:nvPr/>
        </p:nvSpPr>
        <p:spPr>
          <a:xfrm>
            <a:off x="4535424" y="1920240"/>
            <a:ext cx="3154680" cy="3200400"/>
          </a:xfrm>
          <a:prstGeom prst="rect">
            <a:avLst/>
          </a:prstGeom>
          <a:noFill/>
          <a:ln/>
        </p:spPr>
        <p:txBody>
          <a:bodyPr wrap="square" lIns="0" tIns="0" rIns="0" bIns="0" rtlCol="0" anchor="t"/>
          <a:lstStyle/>
          <a:p>
            <a:pPr marL="177800" indent="-177800">
              <a:spcAft>
                <a:spcPts val="900"/>
              </a:spcAft>
              <a:buSzPct val="100000"/>
              <a:buChar char="•"/>
            </a:pPr>
            <a:r>
              <a:rPr lang="en-US" sz="1500" b="1" dirty="0">
                <a:solidFill>
                  <a:schemeClr val="bg1"/>
                </a:solidFill>
              </a:rPr>
              <a:t>SCM early: </a:t>
            </a:r>
            <a:pPr indent="0" marL="0">
              <a:buNone/>
            </a:pPr>
            <a:r>
              <a:rPr lang="en-US" sz="1500" dirty="0">
                <a:solidFill>
                  <a:schemeClr val="bg1"/>
                </a:solidFill>
              </a:rPr>
              <a:t>ownership and test gates prevented merge conflicts across 8 members</a:t>
            </a:r>
            <a:endParaRPr lang="en-US" sz="1400" dirty="0"/>
          </a:p>
          <a:p>
            <a:pPr marL="177800" indent="-177800">
              <a:spcAft>
                <a:spcPts val="900"/>
              </a:spcAft>
              <a:buSzPct val="100000"/>
              <a:buChar char="•"/>
            </a:pPr>
            <a:r>
              <a:rPr lang="en-US" sz="1500" b="1" dirty="0">
                <a:solidFill>
                  <a:schemeClr val="bg1"/>
                </a:solidFill>
              </a:rPr>
              <a:t>Validate on the server: </a:t>
            </a:r>
            <a:pPr indent="0" marL="0">
              <a:buNone/>
            </a:pPr>
            <a:r>
              <a:rPr lang="en-US" sz="1500" dirty="0">
                <a:solidFill>
                  <a:schemeClr val="bg1"/>
                </a:solidFill>
              </a:rPr>
              <a:t>client checks are easily bypassed</a:t>
            </a:r>
            <a:endParaRPr lang="en-US" sz="1400" dirty="0"/>
          </a:p>
          <a:p>
            <a:pPr marL="177800" indent="-177800">
              <a:spcAft>
                <a:spcPts val="900"/>
              </a:spcAft>
              <a:buSzPct val="100000"/>
              <a:buChar char="•"/>
            </a:pPr>
            <a:r>
              <a:rPr lang="en-US" sz="1500" b="1" dirty="0">
                <a:solidFill>
                  <a:schemeClr val="bg1"/>
                </a:solidFill>
              </a:rPr>
              <a:t>Design for real hardware: </a:t>
            </a:r>
            <a:pPr indent="0" marL="0">
              <a:buNone/>
            </a:pPr>
            <a:r>
              <a:rPr lang="en-US" sz="1500" dirty="0">
                <a:solidFill>
                  <a:schemeClr val="bg1"/>
                </a:solidFill>
              </a:rPr>
              <a:t>phone photos and narrow thermal rolls</a:t>
            </a:r>
            <a:endParaRPr lang="en-US" sz="1400" dirty="0"/>
          </a:p>
          <a:p>
            <a:pPr marL="177800" indent="-177800">
              <a:spcAft>
                <a:spcPts val="900"/>
              </a:spcAft>
              <a:buSzPct val="100000"/>
              <a:buChar char="•"/>
            </a:pPr>
            <a:r>
              <a:rPr lang="en-US" sz="1500" b="1" dirty="0">
                <a:solidFill>
                  <a:schemeClr val="bg1"/>
                </a:solidFill>
              </a:rPr>
              <a:t>Edge-first reliability: </a:t>
            </a:r>
            <a:pPr indent="0" marL="0">
              <a:buNone/>
            </a:pPr>
            <a:r>
              <a:rPr lang="en-US" sz="1500" dirty="0">
                <a:solidFill>
                  <a:schemeClr val="bg1"/>
                </a:solidFill>
              </a:rPr>
              <a:t>zero-latency local operation eases cloud migration</a:t>
            </a:r>
            <a:endParaRPr lang="en-US" sz="1400" dirty="0"/>
          </a:p>
        </p:txBody>
      </p:sp>
      <p:sp>
        <p:nvSpPr>
          <p:cNvPr id="12" name="Closing card 3"/>
          <p:cNvSpPr/>
          <p:nvPr/>
        </p:nvSpPr>
        <p:spPr>
          <a:xfrm>
            <a:off x="8065008" y="1371600"/>
            <a:ext cx="3575304" cy="3840480"/>
          </a:xfrm>
          <a:prstGeom prst="roundRect">
            <a:avLst>
              <a:gd name="adj" fmla="val 2558"/>
            </a:avLst>
          </a:prstGeom>
          <a:solidFill>
            <a:schemeClr val="tx2"/>
          </a:solidFill>
          <a:ln/>
        </p:spPr>
      </p:sp>
      <p:sp>
        <p:nvSpPr>
          <p:cNvPr id="13" name="Closing label 3"/>
          <p:cNvSpPr txBox="1"/>
          <p:nvPr/>
        </p:nvSpPr>
        <p:spPr>
          <a:xfrm>
            <a:off x="8293608" y="1554480"/>
            <a:ext cx="310896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CLOUD ROADMAP</a:t>
            </a:r>
            <a:endParaRPr lang="en-US" sz="1200" dirty="0"/>
          </a:p>
        </p:txBody>
      </p:sp>
      <p:sp>
        <p:nvSpPr>
          <p:cNvPr id="14" name="Closing details 3"/>
          <p:cNvSpPr txBox="1"/>
          <p:nvPr/>
        </p:nvSpPr>
        <p:spPr>
          <a:xfrm>
            <a:off x="8293608" y="1920240"/>
            <a:ext cx="3154680" cy="3200400"/>
          </a:xfrm>
          <a:prstGeom prst="rect">
            <a:avLst/>
          </a:prstGeom>
          <a:noFill/>
          <a:ln/>
        </p:spPr>
        <p:txBody>
          <a:bodyPr wrap="square" lIns="0" tIns="0" rIns="0" bIns="0" rtlCol="0" anchor="t"/>
          <a:lstStyle/>
          <a:p>
            <a:pPr marL="177800" indent="-177800">
              <a:spcAft>
                <a:spcPts val="900"/>
              </a:spcAft>
              <a:buSzPct val="100000"/>
              <a:buChar char="•"/>
            </a:pPr>
            <a:r>
              <a:rPr lang="en-US" sz="1500" b="1" dirty="0">
                <a:solidFill>
                  <a:schemeClr val="bg1"/>
                </a:solidFill>
              </a:rPr>
              <a:t>Cloud migration: </a:t>
            </a:r>
            <a:pPr indent="0" marL="0">
              <a:buNone/>
            </a:pPr>
            <a:r>
              <a:rPr lang="en-US" sz="1500" dirty="0">
                <a:solidFill>
                  <a:schemeClr val="bg1"/>
                </a:solidFill>
              </a:rPr>
              <a:t>PostgreSQL on AWS / Google Cloud with read replicas</a:t>
            </a:r>
            <a:endParaRPr lang="en-US" sz="1400" dirty="0"/>
          </a:p>
          <a:p>
            <a:pPr marL="177800" indent="-177800">
              <a:spcAft>
                <a:spcPts val="900"/>
              </a:spcAft>
              <a:buSzPct val="100000"/>
              <a:buChar char="•"/>
            </a:pPr>
            <a:r>
              <a:rPr lang="en-US" sz="1500" b="1" dirty="0">
                <a:solidFill>
                  <a:schemeClr val="bg1"/>
                </a:solidFill>
              </a:rPr>
              <a:t>WebSockets / SSE: </a:t>
            </a:r>
            <a:pPr indent="0" marL="0">
              <a:buNone/>
            </a:pPr>
            <a:r>
              <a:rPr lang="en-US" sz="1500" dirty="0">
                <a:solidFill>
                  <a:schemeClr val="bg1"/>
                </a:solidFill>
              </a:rPr>
              <a:t>broadcast stolen-vehicle and warrant flags</a:t>
            </a:r>
            <a:endParaRPr lang="en-US" sz="1400" dirty="0"/>
          </a:p>
          <a:p>
            <a:pPr marL="177800" indent="-177800">
              <a:spcAft>
                <a:spcPts val="900"/>
              </a:spcAft>
              <a:buSzPct val="100000"/>
              <a:buChar char="•"/>
            </a:pPr>
            <a:r>
              <a:rPr lang="en-US" sz="1500" b="1" dirty="0">
                <a:solidFill>
                  <a:schemeClr val="bg1"/>
                </a:solidFill>
              </a:rPr>
              <a:t>Gateways: </a:t>
            </a:r>
            <a:pPr indent="0" marL="0">
              <a:buNone/>
            </a:pPr>
            <a:r>
              <a:rPr lang="en-US" sz="1500" dirty="0">
                <a:solidFill>
                  <a:schemeClr val="bg1"/>
                </a:solidFill>
              </a:rPr>
              <a:t>LTO LTMS and PNP Directorate for Intelligence</a:t>
            </a:r>
            <a:endParaRPr lang="en-US" sz="1400" dirty="0"/>
          </a:p>
          <a:p>
            <a:pPr marL="177800" indent="-177800">
              <a:spcAft>
                <a:spcPts val="900"/>
              </a:spcAft>
              <a:buSzPct val="100000"/>
              <a:buChar char="•"/>
            </a:pPr>
            <a:r>
              <a:rPr lang="en-US" sz="1500" b="1" dirty="0">
                <a:solidFill>
                  <a:schemeClr val="bg1"/>
                </a:solidFill>
              </a:rPr>
              <a:t>Online payments: </a:t>
            </a:r>
            <a:pPr indent="0" marL="0">
              <a:buNone/>
            </a:pPr>
            <a:r>
              <a:rPr lang="en-US" sz="1500" dirty="0">
                <a:solidFill>
                  <a:schemeClr val="bg1"/>
                </a:solidFill>
              </a:rPr>
              <a:t>Landbank Link.BizPortal, GCash, Maya</a:t>
            </a:r>
            <a:endParaRPr lang="en-US" sz="1400" dirty="0"/>
          </a:p>
          <a:p>
            <a:pPr marL="177800" indent="-177800">
              <a:spcAft>
                <a:spcPts val="900"/>
              </a:spcAft>
              <a:buSzPct val="100000"/>
              <a:buChar char="•"/>
            </a:pPr>
            <a:r>
              <a:rPr lang="en-US" sz="1500" b="1" dirty="0">
                <a:solidFill>
                  <a:schemeClr val="bg1"/>
                </a:solidFill>
              </a:rPr>
              <a:t>Mobile patrol PWA: </a:t>
            </a:r>
            <a:pPr indent="0" marL="0">
              <a:buNone/>
            </a:pPr>
            <a:r>
              <a:rPr lang="en-US" sz="1500" dirty="0">
                <a:solidFill>
                  <a:schemeClr val="bg1"/>
                </a:solidFill>
              </a:rPr>
              <a:t>offline-first for rugged handhelds</a:t>
            </a:r>
            <a:endParaRPr lang="en-US" sz="1400" dirty="0"/>
          </a:p>
        </p:txBody>
      </p:sp>
      <p:sp>
        <p:nvSpPr>
          <p:cNvPr id="15" name="Thank you band"/>
          <p:cNvSpPr/>
          <p:nvPr/>
        </p:nvSpPr>
        <p:spPr>
          <a:xfrm>
            <a:off x="548640" y="5394960"/>
            <a:ext cx="11091672" cy="822960"/>
          </a:xfrm>
          <a:prstGeom prst="roundRect">
            <a:avLst>
              <a:gd name="adj" fmla="val 11111"/>
            </a:avLst>
          </a:prstGeom>
          <a:solidFill>
            <a:schemeClr val="accent1"/>
          </a:solidFill>
          <a:ln/>
        </p:spPr>
      </p:sp>
      <p:sp>
        <p:nvSpPr>
          <p:cNvPr id="16" name="Thank you text"/>
          <p:cNvSpPr txBox="1"/>
          <p:nvPr/>
        </p:nvSpPr>
        <p:spPr>
          <a:xfrm>
            <a:off x="822960" y="5394960"/>
            <a:ext cx="6583680" cy="82296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Thank you. We are ready for the panel Q&amp;A.</a:t>
            </a:r>
            <a:endParaRPr lang="en-US" sz="2400" dirty="0"/>
          </a:p>
        </p:txBody>
      </p:sp>
      <p:sp>
        <p:nvSpPr>
          <p:cNvPr id="17" name="Q&amp;amp;A readiness text"/>
          <p:cNvSpPr txBox="1"/>
          <p:nvPr/>
        </p:nvSpPr>
        <p:spPr>
          <a:xfrm>
            <a:off x="7589520" y="5394960"/>
            <a:ext cx="3840480" cy="822960"/>
          </a:xfrm>
          <a:prstGeom prst="rect">
            <a:avLst/>
          </a:prstGeom>
          <a:noFill/>
          <a:ln/>
        </p:spPr>
        <p:txBody>
          <a:bodyPr wrap="square" lIns="0" tIns="0" rIns="0" bIns="0" rtlCol="0" anchor="ctr"/>
          <a:lstStyle/>
          <a:p>
            <a:pPr algn="r" indent="0" marL="0">
              <a:buNone/>
            </a:pPr>
            <a:r>
              <a:rPr lang="en-US" sz="1400" dirty="0">
                <a:solidFill>
                  <a:schemeClr val="tx1"/>
                </a:solidFill>
              </a:rPr>
              <a:t>Every team member is prepared to answer questions.</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PNP CVPRMS">
  <a:themeElements>
    <a:clrScheme name="PNP CVPRMS">
      <a:dk1>
        <a:srgbClr val="0F172A"/>
      </a:dk1>
      <a:lt1>
        <a:srgbClr val="FFFFFF"/>
      </a:lt1>
      <a:dk2>
        <a:srgbClr val="162E5C"/>
      </a:dk2>
      <a:lt2>
        <a:srgbClr val="EEF2F8"/>
      </a:lt2>
      <a:accent1>
        <a:srgbClr val="C9962B"/>
      </a:accent1>
      <a:accent2>
        <a:srgbClr val="2057B8"/>
      </a:accent2>
      <a:accent3>
        <a:srgbClr val="C62F3E"/>
      </a:accent3>
      <a:accent4>
        <a:srgbClr val="E89B20"/>
      </a:accent4>
      <a:accent5>
        <a:srgbClr val="23915F"/>
      </a:accent5>
      <a:accent6>
        <a:srgbClr val="5B6B82"/>
      </a:accent6>
      <a:hlink>
        <a:srgbClr val="2057B8"/>
      </a:hlink>
      <a:folHlink>
        <a:srgbClr val="5B6B82"/>
      </a:folHlink>
    </a:clrScheme>
    <a:fontScheme name="PNP CVPR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PNP-CVPRMS Final Group Presentation</dc:title>
  <dc:subject>Software Engineering 2 - Final Capstone Defense</dc:subject>
  <dc:creator>PNP-CVPRMS Team</dc:creator>
  <cp:lastModifiedBy>PNP-CVPRMS Team</cp:lastModifiedBy>
  <cp:revision>1</cp:revision>
  <dcterms:created xsi:type="dcterms:W3CDTF">2026-10-06T11:13:23Z</dcterms:created>
  <dcterms:modified xsi:type="dcterms:W3CDTF">2026-10-06T11:13:23Z</dcterms:modified>
</cp:coreProperties>
</file>