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BC74BC6-4BBC-7147-D875-21B9D7C244DA}">
          <p14:sldIdLst>
            <p14:sldId id="256"/>
            <p14:sldId id="257"/>
            <p14:sldId id="258"/>
          </p14:sldIdLst>
        </p14:section>
        <p14:section name="Requirements &amp; Scope" id="{F8138633-75AC-AD2D-0213-C7F64EDBEA3A}">
          <p14:sldIdLst>
            <p14:sldId id="259"/>
            <p14:sldId id="260"/>
            <p14:sldId id="261"/>
          </p14:sldIdLst>
        </p14:section>
        <p14:section name="Design" id="{658036EB-202D-A53F-ACCE-4AB1192C4C86}">
          <p14:sldIdLst>
            <p14:sldId id="262"/>
            <p14:sldId id="263"/>
            <p14:sldId id="264"/>
            <p14:sldId id="265"/>
            <p14:sldId id="266"/>
          </p14:sldIdLst>
        </p14:section>
        <p14:section name="Build &amp; Quality" id="{D3A43F71-6CD9-C053-EA66-8AEC0C9B0F81}">
          <p14:sldIdLst>
            <p14:sldId id="267"/>
            <p14:sldId id="268"/>
            <p14:sldId id="269"/>
          </p14:sldIdLst>
        </p14:section>
        <p14:section name="Demo &amp; Close" id="{486F5A2E-1262-0B3C-63BD-0657326E1952}">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248" autoAdjust="0"/>
  </p:normalViewPr>
  <p:slideViewPr>
    <p:cSldViewPr snapToGrid="0" snapToObjects="1">
      <p:cViewPr varScale="1">
        <p:scale>
          <a:sx n="50" d="100"/>
          <a:sy n="50" d="100"/>
        </p:scale>
        <p:origin x="126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72A"/>
                </a:solidFill>
                <a:latin typeface="+mn-lt"/>
              </a:defRPr>
            </a:pPr>
            <a:r>
              <a:rPr lang="en-PH" sz="1400" b="0" i="0" u="none" strike="noStrike">
                <a:solidFill>
                  <a:srgbClr val="0F172A"/>
                </a:solidFill>
                <a:latin typeface="+mn-lt"/>
              </a:rPr>
              <a:t>Top offenses (cases)</a:t>
            </a:r>
          </a:p>
        </c:rich>
      </c:tx>
      <c:overlay val="0"/>
    </c:title>
    <c:autoTitleDeleted val="0"/>
    <c:plotArea>
      <c:layout/>
      <c:barChart>
        <c:barDir val="bar"/>
        <c:grouping val="clustered"/>
        <c:varyColors val="0"/>
        <c:ser>
          <c:idx val="0"/>
          <c:order val="0"/>
          <c:tx>
            <c:strRef>
              <c:f>Sheet1!$B$1</c:f>
              <c:strCache>
                <c:ptCount val="1"/>
                <c:pt idx="0">
                  <c:v>Cases</c:v>
                </c:pt>
              </c:strCache>
            </c:strRef>
          </c:tx>
          <c:spPr>
            <a:solidFill>
              <a:srgbClr val="162E5C"/>
            </a:solidFill>
            <a:effectLst/>
          </c:spPr>
          <c:invertIfNegative val="0"/>
          <c:dLbls>
            <c:numFmt formatCode="#,##0" sourceLinked="0"/>
            <c:spPr>
              <a:noFill/>
              <a:ln>
                <a:noFill/>
              </a:ln>
              <a:effectLst/>
            </c:spPr>
            <c:txPr>
              <a:bodyPr/>
              <a:lstStyle/>
              <a:p>
                <a:pPr>
                  <a:defRPr sz="1200" b="0" i="0" u="none" strike="noStrike">
                    <a:solidFill>
                      <a:srgbClr val="0F17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No driver's license</c:v>
                </c:pt>
                <c:pt idx="1">
                  <c:v>No helmet / seatbelt</c:v>
                </c:pt>
                <c:pt idx="2">
                  <c:v>Disregarding signs</c:v>
                </c:pt>
                <c:pt idx="3">
                  <c:v>Expired registration</c:v>
                </c:pt>
                <c:pt idx="4">
                  <c:v>Reckless / counterflow</c:v>
                </c:pt>
                <c:pt idx="5">
                  <c:v>Defective equip. / smoke</c:v>
                </c:pt>
                <c:pt idx="6">
                  <c:v>DUI</c:v>
                </c:pt>
              </c:strCache>
            </c:strRef>
          </c:cat>
          <c:val>
            <c:numRef>
              <c:f>Sheet1!$B$2:$B$8</c:f>
              <c:numCache>
                <c:formatCode>General</c:formatCode>
                <c:ptCount val="7"/>
                <c:pt idx="0">
                  <c:v>84</c:v>
                </c:pt>
                <c:pt idx="1">
                  <c:v>62</c:v>
                </c:pt>
                <c:pt idx="2">
                  <c:v>48</c:v>
                </c:pt>
                <c:pt idx="3">
                  <c:v>39</c:v>
                </c:pt>
                <c:pt idx="4">
                  <c:v>27</c:v>
                </c:pt>
                <c:pt idx="5">
                  <c:v>18</c:v>
                </c:pt>
                <c:pt idx="6">
                  <c:v>9</c:v>
                </c:pt>
              </c:numCache>
            </c:numRef>
          </c:val>
          <c:extLst>
            <c:ext xmlns:c16="http://schemas.microsoft.com/office/drawing/2014/chart" uri="{C3380CC4-5D6E-409C-BE32-E72D297353CC}">
              <c16:uniqueId val="{00000000-2430-4B59-A530-C7690FD8EE09}"/>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72A"/>
                </a:solidFill>
                <a:latin typeface="+mn-lt"/>
              </a:defRPr>
            </a:pPr>
            <a:r>
              <a:rPr lang="en-PH" sz="1400" b="0" i="0" u="none" strike="noStrike">
                <a:solidFill>
                  <a:srgbClr val="0F172A"/>
                </a:solidFill>
                <a:latin typeface="+mn-lt"/>
              </a:rPr>
              <a:t>Fines by shift (₱ thousands)</a:t>
            </a:r>
          </a:p>
        </c:rich>
      </c:tx>
      <c:overlay val="0"/>
    </c:title>
    <c:autoTitleDeleted val="0"/>
    <c:plotArea>
      <c:layout/>
      <c:barChart>
        <c:barDir val="col"/>
        <c:grouping val="clustered"/>
        <c:varyColors val="0"/>
        <c:ser>
          <c:idx val="0"/>
          <c:order val="0"/>
          <c:tx>
            <c:strRef>
              <c:f>Sheet1!$B$1</c:f>
              <c:strCache>
                <c:ptCount val="1"/>
                <c:pt idx="0">
                  <c:v>Fines (PHP thousands)</c:v>
                </c:pt>
              </c:strCache>
            </c:strRef>
          </c:tx>
          <c:spPr>
            <a:solidFill>
              <a:srgbClr val="C9962B"/>
            </a:solidFill>
            <a:effectLst/>
          </c:spPr>
          <c:invertIfNegative val="0"/>
          <c:dLbls>
            <c:numFmt formatCode="#,##0" sourceLinked="0"/>
            <c:spPr>
              <a:noFill/>
              <a:ln>
                <a:noFill/>
              </a:ln>
              <a:effectLst/>
            </c:spPr>
            <c:txPr>
              <a:bodyPr/>
              <a:lstStyle/>
              <a:p>
                <a:pPr>
                  <a:defRPr sz="1200" b="0" i="0" u="none" strike="noStrike">
                    <a:solidFill>
                      <a:srgbClr val="0F17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Day 6–14</c:v>
                </c:pt>
                <c:pt idx="1">
                  <c:v>Afternoon 14–22</c:v>
                </c:pt>
                <c:pt idx="2">
                  <c:v>Night 22–6</c:v>
                </c:pt>
              </c:strCache>
            </c:strRef>
          </c:cat>
          <c:val>
            <c:numRef>
              <c:f>Sheet1!$B$2:$B$4</c:f>
              <c:numCache>
                <c:formatCode>General</c:formatCode>
                <c:ptCount val="3"/>
                <c:pt idx="0">
                  <c:v>145</c:v>
                </c:pt>
                <c:pt idx="1">
                  <c:v>210</c:v>
                </c:pt>
                <c:pt idx="2">
                  <c:v>85</c:v>
                </c:pt>
              </c:numCache>
            </c:numRef>
          </c:val>
          <c:extLst>
            <c:ext xmlns:c16="http://schemas.microsoft.com/office/drawing/2014/chart" uri="{C3380CC4-5D6E-409C-BE32-E72D297353CC}">
              <c16:uniqueId val="{00000000-E630-457A-948E-D845EF246FED}"/>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2771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CASEY FREUD | about 45 seconds
Good day to our respected panel and professors. Today, our team proudly presents PNP-CVPRMS, the Computerized Violation Processing and Records Management System.
We built it for the Philippine National Police, with the Agoo Municipal Police Station as our pilot site. The idea is simple: a roadside checkpoint should not run on handwritten paper tickets. Our system screens a plate, a license, and a driver against watchlists in real time, calculates the fine automatically, prints a thermal citation, and syncs with the Municipal Treasury.
All eight of us are here, and every member will present a part of the system and answer your questions. Let's begin with our roadmap.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CASEY FREUD | about 35 seconds
We have thirty minutes in total: twenty for the presentation and live demo, and ten for your questions.
To keep everyone accountable, we divided the content by what each member owns in our configuration management plan. I will cover the problem and the analytics. Angelo takes objectives and scope. Augusto Manuel and Emmanuel John walk you through the data flow diagrams. Antonio covers the data model, Benjie the tech stack and algorithms, Ranier the structure chart and our process, and Genuflect our testing. Then we demo together.
Every member will answer at least one question in the Q&amp;A. So let me start with why we built this.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CASEY FREUD | about 1 minute 10 seconds
Picture a checkpoint on MacArthur Highway in Agoo. Hundreds of vehicles pass through every shift, and today the officer works on paper.
That creates four problems. First, a handwritten ticket takes eight to twelve minutes per motorist, so traffic backs up. Illegible entries also mean wrong plates and contested citations.
Second, there is no real-time screening. An officer cannot instantly tell if a motorcycle is on the HPG stolen vehicle list, or if a driver has a court warrant.
Third, a record at one post is invisible to the other posts, so repeat offenders slip through.
And fourth, reconciling paper slips with the Municipal Treasury takes days or even weeks, so fines go uncollected.
At the bottom are the four groups we designed for: officers who need speed, the station commander who needs visibility, the Treasury that needs instant reconciliation, and motorists who deserve a clear, itemized receipt.
Next, Angelo will show how we measured success.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ANGELO | about 1 minute
Thank you, Casey. We did not want vague goals, so we set five measurable targets and tested against each one.
One: speed. We cut roadside processing from eight to twelve minutes down to under sixty seconds, about ninety percent faster. In practice, issuing a citation and printing the receipt takes under forty-five seconds.
Two: screening in under half a second against plates, licenses, and warrants.
Three: zero fine discrepancies. Every fine follows the LTO JAO 2014-01 schedule, and any manual override is logged.
Four: full offline resilience. Because we use an embedded SQLite database, the checkpoint keeps working even when cellular signal drops.
Five: complete auditability. Every citation can be traced to a treasury receipt, and all fourteen of our automated tests pass.
Now let me explain the boundary of what we built.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ANGELO | about 55 seconds
Our system has two faces, and we want to be clear about both.
On the left is the target vision: a multi-station cloud platform. One API would connect stations, regional headquarters, and mobile patrols, backed by a PostgreSQL cluster. Alerts would be pushed live, and the system would connect to LTO, HPG, and online payment gateways.
On the right is what we actually built for this defense: a self-contained edge app. A Node.js and Express server runs at the checkpoint, with an embedded SQLite database, rule-based screening data, thermal receipt printing, and a one-click launcher.
Time was limited, so we could not build the web platform with real-time collaboration, live alerts and a real-time database. We chose the edge design because it gives us zero downtime, no dependence on classroom Wi-Fi or police VPNs, and a fully predictable demo. An offline tool is not our long-term goal. The cloud platform is.
Next, Augusto Manuel will show how every requirement is traced.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AUGUSTO MANUEL | about 1 minute
In software engineering, every feature should trace back to a requirement and be proven by a test. This is our traceability matrix.
Each row follows one requirement through the whole system. For example, FR-01, live screening, is implemented by the assessScreening function, and a test confirms it raises ALARM and WARNING correctly.
FR-02 handles unlicensed drivers. The system demands an alternative government ID, and our tests check both the failure when it is missing and the success with a valid National ID.
FR-03 totals multiple statutory fines. FR-04 refuses to save an impounded vehicle without a receipt slip. And FR-05 manages settlement status and the Excel-ready CSV export.
So every critical requirement maps to a backend function, a UI element, and an automated regression test. Now let's look at the design, starting with the data flow diagrams.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AUGUSTO MANUEL, then EMMANUEL JOHN | about 1 minute 30 seconds
[AUGUSTO MANUEL, left diagram]
Here is the system boundary, our Stage 0 context diagram. At the center is one process, PNP-CVPRMS, and it talks to four external entities.
The officer sends session details and evidence photos, and gets back a screening badge, fines, and a ticket ID. The motorist receives the printed thermal citation. The Municipal Treasury confirms official receipts and receives outstanding balances. External registries supply stolen vehicle alarms and court warrants. And the station commander gets KPIs, audit trails, and CSV exports.
Emmanuel John will now go one level deeper.
[EMMANUEL JOHN, right diagram]
Thank you, Augusto. On the right is our Level 1 diagram, which breaks the system into six subsystems and three data stores.
Process 1 sets up the checkpoint session. Process 2 screens against the blacklists in data store D3. Process 3 validates the violation, calculates the fine from the D2 schedule, and saves it to D1. Process 4 prints the thermal slip. Processes 5 to 7 handle search, payment settlement, and KPI export. And Process 8 writes every action to an append-only audit log.
Antonio will now show how we store this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ANTONIO | about 1 minute
Our data design has two tiers. For the running prototype we use one edge-optimized SQLite table with twenty columns: ticket, driver, vehicle, itemized violations, overrides, and evidence. That gives sub-millisecond local reads and writes, and it keeps working offline.
For the cloud target, we documented a normalized Third Normal Form model with six to eight core entities, plus an audit log: officers, checkpoints, violators, vehicles, offenses, tickets, ticket offenses, and payments.</a:t>
            </a:r>
            <a:br>
              <a:rPr lang="en-US" dirty="0"/>
            </a:br>
            <a:r>
              <a:rPr lang="en-US" dirty="0"/>
              <a:t>
So at a remote roadside checkpoint during rush hour, our priority is zero join latency, atomic single-row writes, and zero corruption risk if power is cut. We proved 3NF in our conceptual design, but engineered our edge runtime for maximum durability</a:t>
            </a:r>
          </a:p>
          <a:p>
            <a:r>
              <a:rPr lang="en-US" dirty="0"/>
              <a:t>
Ranier will cover how the code is organized.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RANIER | about 45 seconds
Thank you, Antonio. This is our structure chart, built by top-down decomposition. The browser side has controllers for session, screening, the apprehension form, search, payment, and thermal print. The server side has an Express dispatcher that calls validation, the screening engine, the fine calculator, the ticket ID generator, and the SQLite data layer.
The modules pass sanitized JSON as data couples, and HTTP status codes as control couples. That keeps coupling loose and lets us test every routine in isolation.
Benjie will now explain our technology choices.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BENJIE, then ANTONIO | about 1 minute 10 seconds
[BENJIE, top row]
Our stack favors simplicity. The backend is Node.js with Express for lightweight asynchronous REST routing, with parameterized queries that stop SQL injection. Data lives in an embedded SQLite file that needs no setup and can be carried on a USB drive. The front end is plain HTML5, CSS, and modern JavaScript, with print styles for thermal rolls. And our batch launchers check dependencies and start everything in one click.
[ANTONIO, trade-offs]
Thanks, Benjie. Good engineering means defensible trade-offs, and we accepted three.
SQLite instead of a cloud database gives us full offline uptime, but not multi-writer concurrency, so PostgreSQL is on our roadmap.
Vanilla JavaScript instead of a framework gives instant load with no build step, at the cost of manual DOM updates, which is fine for a single-screen workflow.
And a local blacklist instead of live APIs gives a reliable demo without VPNs, but it uses curated prototype data.
Benjie will now show the core algorithms.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BENJIE | about 1 minute
Here are the three core algorithms in our server code.
Algorithm one is the screening engine. It checks in priority order. A stolen plate or a driver with a court warrant raises a red ALARM. A suspended license or an expired registration raises an amber WARNING. If nothing matches, the officer sees a green CLEAR.
Algorithm two is the unlicensed driver workflow. When the officer picks No Driver's License, the system locks the license field and skips license checks, so there are no false alarms. It then requires an alternative ID, such as PhilID, SSS, or a passport, and rejects the submission without it.
Algorithm three is the fine calculator. It reads the offense schedule and adds up multiple violations. In our example, no license, expired registration, and no helmet total three thousand seven hundred pesos. A supervisor can override the amount, but the original statutory total is always logged for audit.
Emmanuel John will share the problems we hit along the way.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EMMANUEL JOHN | about 1 minute
Real projects are defined by problems, and we solved four.
First, HTTP 413 errors. Phone photos of five to ten megabytes crashed our uploads. We now compress images in the browser before sending, to under 150 kilobytes, which is about ninety-five percent smaller.
Second, garbled peso signs. When the Treasury opened our CSV in Excel, the symbols were corrupted. We fixed it by adding a UTF-8 byte order mark to the export.
Third, printing. Thermal rolls overflowed and A4 pages printed blank. Custom print styles with a fixed 76-millimeter container now fit both.
Fourth, chain of custody. Impounded vehicles were sometimes saved without a slip number. Validation on both the client and the server now blocks that.
Genuflect will show how we verify all of this.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GENUFLECT | about 1 minute 15 seconds
We tested at three levels, and the result is fourteen out of fourteen passing, in under six seconds.
Level one is unit testing: fine totals, ticket number format, and the screening logic for alarm, warning, and clear.
Level two is defensive validation: an alternative ID is required for unlicensed drivers, overrides must be authorized, and an impound slip is mandatory.
Level three is integration: our REST endpoints and SQLite database, including status updates, search, report KPIs, and photo uploads over a hundred kilobytes with no payload errors.
We used Node's built-in test runner, so there are no heavy third-party dependencies, and every test uses an isolated local database, so none of them are flaky. For example, we verify that multiple violations add up to exactly fourteen thousand two hundred pesos, and that unlicensed drivers never trigger a false license alarm.
I will open the terminal and run node --test to verify all fourteen results.
Ranier will explain how we managed the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RANIER | about 1 minute
We managed the project with Agile Scrum across four sprints. Sprint one was discovery, including stakeholder interviews at Agoo MPS, and a configuration baseline. Sprint two built the backend and schema. Sprint three delivered the interface and thermal printing. Sprint four was hardening: the test suite, the CSV export, and a configuration audit that produced the v2.0-PRO tag.
Behind this is a formal Software Configuration Management plan. It controls twenty configuration items in five classes: code, schema, dependencies, tests, and documentation. We follow strict semantic versioning from v1.0.0 to v2.0-PRO, and we have zero direct pushes, because tests gate every merge.
Every change follows five steps: a change request, the reason for it, development and testing, a pull request review, and approval to merge. That discipline let eight people work at the same time without overwriting each other.
Now Casey and the team will show the system running.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CASEY FREUD and TEAM | about 6 minutes
[ACTION: Switch to the browser at http://localhost:3000]
Now for the live demo of our v2.0-PRO system.
STEP 1: SESSION
[Point to the session banner]
Our banner shows the station, Agoo MPS, the post, San Nicolas Norte, Shift 2, and a synchronized clock. The officer is now bound to this checkpoint.
STEP 2: SCREENING
[Run the valid driver test case] A green CLEAR badge. [Run the expired registration test case] An amber WARNING. [Enter plate ABC-1234] A red ALARM: an HPG stolen vehicle match. All of this happens in under a second.
STEP 3: UNLICENSED FLOW
[Select No Driver's License] Notice the license field locks, and the system now asks for a PhilID. [Add Expired Registration and No Helmet] The total updates instantly to three thousand seven hundred pesos.
STEP 4: IMPOUND RULE
[Set the disposition to Impounded, then try to submit] The system blocks the submission until a slip number is entered.
STEP 5: EVIDENCE AND RECEIPT
[Attach a photo] It is compressed instantly. [Click Submit] A unique ticket ID is created. [Open the print preview] Here is the 58 and 80 millimeter thermal receipt.
STEP 6: REGISTRY SEARCH
[Scroll to the registry and search for the new ticket] We can search by ticket, plate, or driver. [Toggle Unsettled Only and Flagged Alarms] Filter chips narrow the list instantly.
STEP 7: SETTLEMENT
[Open the dossier] [Change the status to Settled and enter an OR number] This simulates the Municipal Treasury confirming payment.
STEP 8: EXPORT AND KPIs
[Click Export CSV] The peso signs display correctly in Excel. [Point to the header counters] And the KPIs have updated in real time.
[ACTION: Return to the slides]
That is the system end to end. Casey will now show the analytics behind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CASEY FREUD | about 45 seconds
Please note that these figures are sample data seeded into our prototype database to demonstrate the reporting feature. They are not real Agoo MPS records. Beyond citations, the system gives commanders analytics through a single reports endpoint. On our dashboard we see 287 apprehensions, 440,000 pesos in fines levied, 62 flagged alerts, which is 22 percent, and 189 unsettled cases, 66 percent, still owed at the Treasury.
On the left are the top offenses. No driver's license and no helmet or seatbelt together make up about fifty-one percent of all cases. That justifies focused motorcycle checkpoint interdiction.
On the right, the afternoon shift, 2 to 10 PM, produces the most fine revenue, about 210,000 pesos. And by post, San Nicolas Norte is the busiest, with 98 citations.
This is how the data turns into decisions.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CASEY FREUD and RANIER | about 1 minute, then Q&amp;A
To wrap up. We delivered a working v2.0-PRO prototype: a Node.js and SQLite edge app that issues a citation in under a minute, screens in real time, and prints thermal receipts. Every requirement is traced to a function and a passing test, and the full lifecycle is documented: DFDs, ERD, HIPO, data dictionary, and the SCM plan.
[RANIER]
We also learned three lessons. Set up configuration management early, because ownership and test gates kept eight people from overwriting each other. Always validate on the server, because client checks are easy to bypass. And design for real hardware, like phone photos and narrow thermal rolls, because that is what separates a toy demo from a field-ready tool.
[CASEY]
Our roadmap is cloud migration with PostgreSQL, live alerts, LTO and PNP gateways, online payments, and an offline-first mobile app.
Thank you, panel, for your time and guidance. We are ready for your questions, and every member will answer at least 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a:spLocks noGrp="1"/>
          </p:cNvSpPr>
          <p:nvPr>
            <p:ph type="title" idx="101" hasCustomPrompt="1"/>
          </p:nvPr>
        </p:nvSpPr>
        <p:spPr>
          <a:xfrm>
            <a:off x="640080" y="1234440"/>
            <a:ext cx="6949440" cy="21945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PNP-CVPRMS  |  Software Engineering 2 Final Capstone Defense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a:spLocks noGrp="1"/>
          </p:cNvSpPr>
          <p:nvPr>
            <p:ph type="title" idx="101" hasCustomPrompt="1"/>
          </p:nvPr>
        </p:nvSpPr>
        <p:spPr>
          <a:xfrm>
            <a:off x="548640" y="320040"/>
            <a:ext cx="11064240" cy="7772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4" name="Text 1"/>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bg2"/>
                </a:solidFill>
              </a:rPr>
              <a:t>PNP-CVPRMS  |  Software Engineering 2 Final Capstone Defense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640080" y="640080"/>
            <a:ext cx="7315200" cy="320040"/>
          </a:xfrm>
          <a:prstGeom prst="rect">
            <a:avLst/>
          </a:prstGeom>
          <a:noFill/>
          <a:ln/>
        </p:spPr>
        <p:txBody>
          <a:bodyPr wrap="square" lIns="0" tIns="0" rIns="0" bIns="0" rtlCol="0" anchor="t"/>
          <a:lstStyle/>
          <a:p>
            <a:pPr marL="0" indent="0">
              <a:buNone/>
            </a:pPr>
            <a:r>
              <a:rPr lang="en-US" sz="1400" b="1" kern="0" spc="100" dirty="0">
                <a:solidFill>
                  <a:schemeClr val="accent1"/>
                </a:solidFill>
              </a:rPr>
              <a:t>PHILIPPINE NATIONAL POLICE  |  LA UNION POLICE PROVINCIAL OFFICE</a:t>
            </a:r>
            <a:endParaRPr lang="en-US" sz="1400" dirty="0"/>
          </a:p>
        </p:txBody>
      </p:sp>
      <p:sp>
        <p:nvSpPr>
          <p:cNvPr id="3" name="Text 1"/>
          <p:cNvSpPr>
            <a:spLocks noGrp="1"/>
          </p:cNvSpPr>
          <p:nvPr>
            <p:ph type="title" idx="101" hasCustomPrompt="1"/>
          </p:nvPr>
        </p:nvSpPr>
        <p:spPr>
          <a:xfrm>
            <a:off x="640080" y="1234440"/>
            <a:ext cx="6949440" cy="2194560"/>
          </a:xfrm>
          <a:prstGeom prst="rect">
            <a:avLst/>
          </a:prstGeom>
          <a:noFill/>
          <a:ln/>
        </p:spPr>
        <p:txBody>
          <a:bodyPr wrap="square" lIns="0" tIns="0" rIns="0" bIns="0" rtlCol="0" anchor="t"/>
          <a:lstStyle/>
          <a:p>
            <a:pPr marL="0" indent="0" algn="l">
              <a:buNone/>
            </a:pPr>
            <a:r>
              <a:rPr lang="en-US" sz="4000" b="1" dirty="0">
                <a:solidFill>
                  <a:schemeClr val="bg1"/>
                </a:solidFill>
              </a:rPr>
              <a:t>Computerized Violation Processing &amp; Records Management System</a:t>
            </a:r>
            <a:endParaRPr lang="en-US" sz="4000" dirty="0"/>
          </a:p>
        </p:txBody>
      </p:sp>
      <p:sp>
        <p:nvSpPr>
          <p:cNvPr id="4" name="text-2"/>
          <p:cNvSpPr txBox="1"/>
          <p:nvPr/>
        </p:nvSpPr>
        <p:spPr>
          <a:xfrm>
            <a:off x="640080" y="3520440"/>
            <a:ext cx="6949440" cy="548640"/>
          </a:xfrm>
          <a:prstGeom prst="rect">
            <a:avLst/>
          </a:prstGeom>
          <a:noFill/>
          <a:ln/>
        </p:spPr>
        <p:txBody>
          <a:bodyPr wrap="square" lIns="0" tIns="0" rIns="0" bIns="0" rtlCol="0" anchor="t"/>
          <a:lstStyle/>
          <a:p>
            <a:pPr marL="0" indent="0">
              <a:buNone/>
            </a:pPr>
            <a:r>
              <a:rPr lang="en-US" sz="3000" b="1" dirty="0">
                <a:solidFill>
                  <a:schemeClr val="accent1"/>
                </a:solidFill>
              </a:rPr>
              <a:t>PNP-CVPRMS</a:t>
            </a:r>
            <a:endParaRPr lang="en-US" sz="3000" dirty="0"/>
          </a:p>
        </p:txBody>
      </p:sp>
      <p:sp>
        <p:nvSpPr>
          <p:cNvPr id="5" name="text-3"/>
          <p:cNvSpPr txBox="1"/>
          <p:nvPr/>
        </p:nvSpPr>
        <p:spPr>
          <a:xfrm>
            <a:off x="640080" y="4206240"/>
            <a:ext cx="6583680" cy="822960"/>
          </a:xfrm>
          <a:prstGeom prst="rect">
            <a:avLst/>
          </a:prstGeom>
          <a:noFill/>
          <a:ln/>
        </p:spPr>
        <p:txBody>
          <a:bodyPr wrap="square" lIns="0" tIns="0" rIns="0" bIns="0" rtlCol="0" anchor="t"/>
          <a:lstStyle/>
          <a:p>
            <a:pPr marL="0" indent="0">
              <a:buNone/>
            </a:pPr>
            <a:r>
              <a:rPr lang="en-US" sz="1800" dirty="0">
                <a:solidFill>
                  <a:schemeClr val="bg2"/>
                </a:solidFill>
              </a:rPr>
              <a:t>Real-time checkpoint screening, automatic fines, thermal citations and treasury sync.</a:t>
            </a:r>
            <a:endParaRPr lang="en-US" sz="1800" dirty="0"/>
          </a:p>
        </p:txBody>
      </p:sp>
      <p:sp>
        <p:nvSpPr>
          <p:cNvPr id="6" name="text-4"/>
          <p:cNvSpPr txBox="1"/>
          <p:nvPr/>
        </p:nvSpPr>
        <p:spPr>
          <a:xfrm>
            <a:off x="640080" y="5257800"/>
            <a:ext cx="6949440" cy="320040"/>
          </a:xfrm>
          <a:prstGeom prst="rect">
            <a:avLst/>
          </a:prstGeom>
          <a:noFill/>
          <a:ln/>
        </p:spPr>
        <p:txBody>
          <a:bodyPr wrap="square" lIns="0" tIns="0" rIns="0" bIns="0" rtlCol="0" anchor="t"/>
          <a:lstStyle/>
          <a:p>
            <a:pPr marL="0" indent="0">
              <a:buNone/>
            </a:pPr>
            <a:r>
              <a:rPr lang="en-US" sz="1500" b="1" dirty="0">
                <a:solidFill>
                  <a:schemeClr val="bg1"/>
                </a:solidFill>
              </a:rPr>
              <a:t>Software Engineering 2  |  Final Capstone Defense</a:t>
            </a:r>
            <a:endParaRPr lang="en-US" sz="1500" dirty="0"/>
          </a:p>
        </p:txBody>
      </p:sp>
      <p:sp>
        <p:nvSpPr>
          <p:cNvPr id="7" name="text-5"/>
          <p:cNvSpPr txBox="1"/>
          <p:nvPr/>
        </p:nvSpPr>
        <p:spPr>
          <a:xfrm>
            <a:off x="640080" y="5577840"/>
            <a:ext cx="6949440" cy="320040"/>
          </a:xfrm>
          <a:prstGeom prst="rect">
            <a:avLst/>
          </a:prstGeom>
          <a:noFill/>
          <a:ln/>
        </p:spPr>
        <p:txBody>
          <a:bodyPr wrap="square" lIns="0" tIns="0" rIns="0" bIns="0" rtlCol="0" anchor="t"/>
          <a:lstStyle/>
          <a:p>
            <a:pPr marL="0" indent="0">
              <a:buNone/>
            </a:pPr>
            <a:r>
              <a:rPr lang="en-US" sz="1400" dirty="0">
                <a:solidFill>
                  <a:schemeClr val="bg2"/>
                </a:solidFill>
              </a:rPr>
              <a:t>Agoo Municipal Police Station, Region 1  |  Release v2.0-PRO</a:t>
            </a:r>
            <a:endParaRPr lang="en-US" sz="1400" dirty="0"/>
          </a:p>
        </p:txBody>
      </p:sp>
      <p:sp>
        <p:nvSpPr>
          <p:cNvPr id="8" name="text-6"/>
          <p:cNvSpPr txBox="1"/>
          <p:nvPr/>
        </p:nvSpPr>
        <p:spPr>
          <a:xfrm>
            <a:off x="640080" y="6126480"/>
            <a:ext cx="10972800" cy="274320"/>
          </a:xfrm>
          <a:prstGeom prst="rect">
            <a:avLst/>
          </a:prstGeom>
          <a:noFill/>
          <a:ln/>
        </p:spPr>
        <p:txBody>
          <a:bodyPr wrap="square" lIns="0" tIns="0" rIns="0" bIns="0" rtlCol="0" anchor="t"/>
          <a:lstStyle/>
          <a:p>
            <a:pPr marL="0" indent="0">
              <a:buNone/>
            </a:pPr>
            <a:r>
              <a:rPr lang="en-US" sz="1300" dirty="0">
                <a:solidFill>
                  <a:schemeClr val="bg2"/>
                </a:solidFill>
              </a:rPr>
              <a:t>Casey Freud (Lead)  ·  Angelo  ·  Antonio  ·  Augusto Manuel  ·  Benjie  ·  Emmanuel John  ·  Genuflect  ·  Ranier</a:t>
            </a:r>
            <a:endParaRPr lang="en-US" sz="1300" dirty="0"/>
          </a:p>
        </p:txBody>
      </p:sp>
      <p:sp>
        <p:nvSpPr>
          <p:cNvPr id="9" name="text-7"/>
          <p:cNvSpPr txBox="1"/>
          <p:nvPr/>
        </p:nvSpPr>
        <p:spPr>
          <a:xfrm>
            <a:off x="8046720" y="960120"/>
            <a:ext cx="35661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LIVE CHECKPOINT SCREENING</a:t>
            </a:r>
            <a:endParaRPr lang="en-US" sz="1200" dirty="0"/>
          </a:p>
        </p:txBody>
      </p:sp>
      <p:sp>
        <p:nvSpPr>
          <p:cNvPr id="10" name="shape-8"/>
          <p:cNvSpPr/>
          <p:nvPr/>
        </p:nvSpPr>
        <p:spPr>
          <a:xfrm>
            <a:off x="8046720" y="1371600"/>
            <a:ext cx="3566160" cy="1280160"/>
          </a:xfrm>
          <a:prstGeom prst="roundRect">
            <a:avLst>
              <a:gd name="adj" fmla="val 7143"/>
            </a:avLst>
          </a:prstGeom>
          <a:solidFill>
            <a:schemeClr val="tx2"/>
          </a:solidFill>
          <a:ln/>
        </p:spPr>
      </p:sp>
      <p:sp>
        <p:nvSpPr>
          <p:cNvPr id="11" name="pill-9"/>
          <p:cNvSpPr txBox="1"/>
          <p:nvPr/>
        </p:nvSpPr>
        <p:spPr>
          <a:xfrm>
            <a:off x="8275320" y="1572768"/>
            <a:ext cx="1188720" cy="347472"/>
          </a:xfrm>
          <a:prstGeom prst="roundRect">
            <a:avLst>
              <a:gd name="adj" fmla="val 21053"/>
            </a:avLst>
          </a:prstGeom>
          <a:solidFill>
            <a:schemeClr val="accent3"/>
          </a:solidFill>
          <a:ln/>
        </p:spPr>
        <p:txBody>
          <a:bodyPr wrap="square" lIns="0" tIns="0" rIns="0" bIns="0" rtlCol="0" anchor="ctr"/>
          <a:lstStyle/>
          <a:p>
            <a:pPr marL="0" indent="0" algn="ctr">
              <a:buNone/>
            </a:pPr>
            <a:r>
              <a:rPr lang="en-US" sz="1300" b="1" dirty="0">
                <a:solidFill>
                  <a:schemeClr val="bg1"/>
                </a:solidFill>
              </a:rPr>
              <a:t>ALARM</a:t>
            </a:r>
            <a:endParaRPr lang="en-US" sz="1300" dirty="0"/>
          </a:p>
        </p:txBody>
      </p:sp>
      <p:sp>
        <p:nvSpPr>
          <p:cNvPr id="12" name="text-10"/>
          <p:cNvSpPr txBox="1"/>
          <p:nvPr/>
        </p:nvSpPr>
        <p:spPr>
          <a:xfrm>
            <a:off x="8275320" y="2057400"/>
            <a:ext cx="3154680" cy="502920"/>
          </a:xfrm>
          <a:prstGeom prst="rect">
            <a:avLst/>
          </a:prstGeom>
          <a:noFill/>
          <a:ln/>
        </p:spPr>
        <p:txBody>
          <a:bodyPr wrap="square" lIns="0" tIns="0" rIns="0" bIns="0" rtlCol="0" anchor="t"/>
          <a:lstStyle/>
          <a:p>
            <a:pPr marL="0" indent="0">
              <a:buNone/>
            </a:pPr>
            <a:r>
              <a:rPr lang="en-US" sz="1500" dirty="0">
                <a:solidFill>
                  <a:schemeClr val="bg1"/>
                </a:solidFill>
              </a:rPr>
              <a:t>Plate ABC-1234: stolen vehicle match</a:t>
            </a:r>
            <a:endParaRPr lang="en-US" sz="1500" dirty="0"/>
          </a:p>
        </p:txBody>
      </p:sp>
      <p:sp>
        <p:nvSpPr>
          <p:cNvPr id="13" name="shape-11"/>
          <p:cNvSpPr/>
          <p:nvPr/>
        </p:nvSpPr>
        <p:spPr>
          <a:xfrm>
            <a:off x="8046720" y="2834640"/>
            <a:ext cx="3566160" cy="1280160"/>
          </a:xfrm>
          <a:prstGeom prst="roundRect">
            <a:avLst>
              <a:gd name="adj" fmla="val 7143"/>
            </a:avLst>
          </a:prstGeom>
          <a:solidFill>
            <a:schemeClr val="tx2"/>
          </a:solidFill>
          <a:ln/>
        </p:spPr>
      </p:sp>
      <p:sp>
        <p:nvSpPr>
          <p:cNvPr id="14" name="pill-12"/>
          <p:cNvSpPr txBox="1"/>
          <p:nvPr/>
        </p:nvSpPr>
        <p:spPr>
          <a:xfrm>
            <a:off x="8275320" y="3035808"/>
            <a:ext cx="1188720" cy="347472"/>
          </a:xfrm>
          <a:prstGeom prst="roundRect">
            <a:avLst>
              <a:gd name="adj" fmla="val 21053"/>
            </a:avLst>
          </a:prstGeom>
          <a:solidFill>
            <a:schemeClr val="accent4"/>
          </a:solidFill>
          <a:ln/>
        </p:spPr>
        <p:txBody>
          <a:bodyPr wrap="square" lIns="0" tIns="0" rIns="0" bIns="0" rtlCol="0" anchor="ctr"/>
          <a:lstStyle/>
          <a:p>
            <a:pPr marL="0" indent="0" algn="ctr">
              <a:buNone/>
            </a:pPr>
            <a:r>
              <a:rPr lang="en-US" sz="1300" b="1" dirty="0">
                <a:solidFill>
                  <a:schemeClr val="tx1"/>
                </a:solidFill>
              </a:rPr>
              <a:t>WARNING</a:t>
            </a:r>
            <a:endParaRPr lang="en-US" sz="1300" dirty="0"/>
          </a:p>
        </p:txBody>
      </p:sp>
      <p:sp>
        <p:nvSpPr>
          <p:cNvPr id="15" name="text-13"/>
          <p:cNvSpPr txBox="1"/>
          <p:nvPr/>
        </p:nvSpPr>
        <p:spPr>
          <a:xfrm>
            <a:off x="8275320" y="3520440"/>
            <a:ext cx="3154680" cy="502920"/>
          </a:xfrm>
          <a:prstGeom prst="rect">
            <a:avLst/>
          </a:prstGeom>
          <a:noFill/>
          <a:ln/>
        </p:spPr>
        <p:txBody>
          <a:bodyPr wrap="square" lIns="0" tIns="0" rIns="0" bIns="0" rtlCol="0" anchor="t"/>
          <a:lstStyle/>
          <a:p>
            <a:pPr marL="0" indent="0">
              <a:buNone/>
            </a:pPr>
            <a:r>
              <a:rPr lang="en-US" sz="1500" dirty="0">
                <a:solidFill>
                  <a:schemeClr val="bg1"/>
                </a:solidFill>
              </a:rPr>
              <a:t>Expired registration or suspended license</a:t>
            </a:r>
            <a:endParaRPr lang="en-US" sz="1500" dirty="0"/>
          </a:p>
        </p:txBody>
      </p:sp>
      <p:sp>
        <p:nvSpPr>
          <p:cNvPr id="16" name="shape-14"/>
          <p:cNvSpPr/>
          <p:nvPr/>
        </p:nvSpPr>
        <p:spPr>
          <a:xfrm>
            <a:off x="8046720" y="4297680"/>
            <a:ext cx="3566160" cy="1280160"/>
          </a:xfrm>
          <a:prstGeom prst="roundRect">
            <a:avLst>
              <a:gd name="adj" fmla="val 7143"/>
            </a:avLst>
          </a:prstGeom>
          <a:solidFill>
            <a:schemeClr val="tx2"/>
          </a:solidFill>
          <a:ln/>
        </p:spPr>
      </p:sp>
      <p:sp>
        <p:nvSpPr>
          <p:cNvPr id="17" name="pill-15"/>
          <p:cNvSpPr txBox="1"/>
          <p:nvPr/>
        </p:nvSpPr>
        <p:spPr>
          <a:xfrm>
            <a:off x="8275320" y="4498848"/>
            <a:ext cx="1188720" cy="347472"/>
          </a:xfrm>
          <a:prstGeom prst="roundRect">
            <a:avLst>
              <a:gd name="adj" fmla="val 21053"/>
            </a:avLst>
          </a:prstGeom>
          <a:solidFill>
            <a:schemeClr val="accent5"/>
          </a:solidFill>
          <a:ln/>
        </p:spPr>
        <p:txBody>
          <a:bodyPr wrap="square" lIns="0" tIns="0" rIns="0" bIns="0" rtlCol="0" anchor="ctr"/>
          <a:lstStyle/>
          <a:p>
            <a:pPr marL="0" indent="0" algn="ctr">
              <a:buNone/>
            </a:pPr>
            <a:r>
              <a:rPr lang="en-US" sz="1300" b="1" dirty="0">
                <a:solidFill>
                  <a:schemeClr val="bg1"/>
                </a:solidFill>
              </a:rPr>
              <a:t>CLEAR</a:t>
            </a:r>
            <a:endParaRPr lang="en-US" sz="1300" dirty="0"/>
          </a:p>
        </p:txBody>
      </p:sp>
      <p:sp>
        <p:nvSpPr>
          <p:cNvPr id="18" name="text-16"/>
          <p:cNvSpPr txBox="1"/>
          <p:nvPr/>
        </p:nvSpPr>
        <p:spPr>
          <a:xfrm>
            <a:off x="8275320" y="4983480"/>
            <a:ext cx="3154680" cy="502920"/>
          </a:xfrm>
          <a:prstGeom prst="rect">
            <a:avLst/>
          </a:prstGeom>
          <a:noFill/>
          <a:ln/>
        </p:spPr>
        <p:txBody>
          <a:bodyPr wrap="square" lIns="0" tIns="0" rIns="0" bIns="0" rtlCol="0" anchor="t"/>
          <a:lstStyle/>
          <a:p>
            <a:pPr marL="0" indent="0">
              <a:buNone/>
            </a:pPr>
            <a:r>
              <a:rPr lang="en-US" sz="1500" dirty="0">
                <a:solidFill>
                  <a:schemeClr val="bg1"/>
                </a:solidFill>
              </a:rPr>
              <a:t>Valid driver, no flags on any watchlist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Who Presents What</a:t>
            </a:r>
            <a:endParaRPr lang="en-US" sz="3400" dirty="0"/>
          </a:p>
        </p:txBody>
      </p:sp>
      <p:sp>
        <p:nvSpPr>
          <p:cNvPr id="3" name="shape-17"/>
          <p:cNvSpPr/>
          <p:nvPr/>
        </p:nvSpPr>
        <p:spPr>
          <a:xfrm>
            <a:off x="548640" y="1325880"/>
            <a:ext cx="2560320" cy="1417320"/>
          </a:xfrm>
          <a:prstGeom prst="roundRect">
            <a:avLst>
              <a:gd name="adj" fmla="val 6452"/>
            </a:avLst>
          </a:prstGeom>
          <a:solidFill>
            <a:schemeClr val="bg2"/>
          </a:solidFill>
          <a:ln/>
        </p:spPr>
      </p:sp>
      <p:sp>
        <p:nvSpPr>
          <p:cNvPr id="4" name="badge-18"/>
          <p:cNvSpPr txBox="1"/>
          <p:nvPr/>
        </p:nvSpPr>
        <p:spPr>
          <a:xfrm>
            <a:off x="731520" y="1508760"/>
            <a:ext cx="502920" cy="502920"/>
          </a:xfrm>
          <a:prstGeom prst="ellipse">
            <a:avLst/>
          </a:prstGeom>
          <a:solidFill>
            <a:schemeClr val="tx2"/>
          </a:solidFill>
          <a:ln/>
        </p:spPr>
        <p:txBody>
          <a:bodyPr wrap="square" lIns="0" tIns="0" rIns="0" bIns="0" rtlCol="0" anchor="ctr"/>
          <a:lstStyle/>
          <a:p>
            <a:pPr marL="0" indent="0" algn="ctr">
              <a:buNone/>
            </a:pPr>
            <a:r>
              <a:rPr lang="en-US" sz="1800" b="1" dirty="0">
                <a:solidFill>
                  <a:schemeClr val="bg1"/>
                </a:solidFill>
              </a:rPr>
              <a:t>C</a:t>
            </a:r>
            <a:endParaRPr lang="en-US" sz="1800" dirty="0"/>
          </a:p>
        </p:txBody>
      </p:sp>
      <p:sp>
        <p:nvSpPr>
          <p:cNvPr id="5" name="text-19"/>
          <p:cNvSpPr txBox="1"/>
          <p:nvPr/>
        </p:nvSpPr>
        <p:spPr>
          <a:xfrm>
            <a:off x="1371600" y="1508760"/>
            <a:ext cx="1645920" cy="502920"/>
          </a:xfrm>
          <a:prstGeom prst="rect">
            <a:avLst/>
          </a:prstGeom>
          <a:noFill/>
          <a:ln/>
        </p:spPr>
        <p:txBody>
          <a:bodyPr wrap="square" lIns="0" tIns="0" rIns="0" bIns="0" rtlCol="0" anchor="ctr"/>
          <a:lstStyle/>
          <a:p>
            <a:pPr marL="0" indent="0">
              <a:buNone/>
            </a:pPr>
            <a:r>
              <a:rPr lang="en-US" sz="1500" b="1" dirty="0">
                <a:solidFill>
                  <a:schemeClr val="tx2"/>
                </a:solidFill>
              </a:rPr>
              <a:t>Casey Freud (Lead)</a:t>
            </a:r>
            <a:endParaRPr lang="en-US" sz="1500" dirty="0"/>
          </a:p>
        </p:txBody>
      </p:sp>
      <p:sp>
        <p:nvSpPr>
          <p:cNvPr id="6" name="text-20"/>
          <p:cNvSpPr txBox="1"/>
          <p:nvPr/>
        </p:nvSpPr>
        <p:spPr>
          <a:xfrm>
            <a:off x="731520" y="2148840"/>
            <a:ext cx="2240280" cy="457200"/>
          </a:xfrm>
          <a:prstGeom prst="rect">
            <a:avLst/>
          </a:prstGeom>
          <a:noFill/>
          <a:ln/>
        </p:spPr>
        <p:txBody>
          <a:bodyPr wrap="square" lIns="0" tIns="0" rIns="0" bIns="0" rtlCol="0" anchor="t"/>
          <a:lstStyle/>
          <a:p>
            <a:pPr marL="0" indent="0">
              <a:buNone/>
            </a:pPr>
            <a:r>
              <a:rPr lang="en-US" sz="1400" dirty="0">
                <a:solidFill>
                  <a:schemeClr val="tx1"/>
                </a:solidFill>
              </a:rPr>
              <a:t>Opening, problem, analytics</a:t>
            </a:r>
            <a:endParaRPr lang="en-US" sz="1400" dirty="0"/>
          </a:p>
        </p:txBody>
      </p:sp>
      <p:sp>
        <p:nvSpPr>
          <p:cNvPr id="7" name="shape-21"/>
          <p:cNvSpPr/>
          <p:nvPr/>
        </p:nvSpPr>
        <p:spPr>
          <a:xfrm>
            <a:off x="3383280" y="1325880"/>
            <a:ext cx="2560320" cy="1417320"/>
          </a:xfrm>
          <a:prstGeom prst="roundRect">
            <a:avLst>
              <a:gd name="adj" fmla="val 6452"/>
            </a:avLst>
          </a:prstGeom>
          <a:solidFill>
            <a:schemeClr val="bg2"/>
          </a:solidFill>
          <a:ln/>
        </p:spPr>
      </p:sp>
      <p:sp>
        <p:nvSpPr>
          <p:cNvPr id="8" name="badge-22"/>
          <p:cNvSpPr txBox="1"/>
          <p:nvPr/>
        </p:nvSpPr>
        <p:spPr>
          <a:xfrm>
            <a:off x="3566160" y="1508760"/>
            <a:ext cx="502920" cy="502920"/>
          </a:xfrm>
          <a:prstGeom prst="ellipse">
            <a:avLst/>
          </a:prstGeom>
          <a:solidFill>
            <a:schemeClr val="tx2"/>
          </a:solidFill>
          <a:ln/>
        </p:spPr>
        <p:txBody>
          <a:bodyPr wrap="square" lIns="0" tIns="0" rIns="0" bIns="0" rtlCol="0" anchor="ctr"/>
          <a:lstStyle/>
          <a:p>
            <a:pPr marL="0" indent="0" algn="ctr">
              <a:buNone/>
            </a:pPr>
            <a:r>
              <a:rPr lang="en-US" sz="1800" b="1" dirty="0">
                <a:solidFill>
                  <a:schemeClr val="bg1"/>
                </a:solidFill>
              </a:rPr>
              <a:t>A</a:t>
            </a:r>
            <a:endParaRPr lang="en-US" sz="1800" dirty="0"/>
          </a:p>
        </p:txBody>
      </p:sp>
      <p:sp>
        <p:nvSpPr>
          <p:cNvPr id="9" name="text-23"/>
          <p:cNvSpPr txBox="1"/>
          <p:nvPr/>
        </p:nvSpPr>
        <p:spPr>
          <a:xfrm>
            <a:off x="4206240" y="1508760"/>
            <a:ext cx="1645920" cy="502920"/>
          </a:xfrm>
          <a:prstGeom prst="rect">
            <a:avLst/>
          </a:prstGeom>
          <a:noFill/>
          <a:ln/>
        </p:spPr>
        <p:txBody>
          <a:bodyPr wrap="square" lIns="0" tIns="0" rIns="0" bIns="0" rtlCol="0" anchor="ctr"/>
          <a:lstStyle/>
          <a:p>
            <a:pPr marL="0" indent="0">
              <a:buNone/>
            </a:pPr>
            <a:r>
              <a:rPr lang="en-US" sz="1500" b="1" dirty="0">
                <a:solidFill>
                  <a:schemeClr val="tx2"/>
                </a:solidFill>
              </a:rPr>
              <a:t>Angelo</a:t>
            </a:r>
            <a:endParaRPr lang="en-US" sz="1500" dirty="0"/>
          </a:p>
        </p:txBody>
      </p:sp>
      <p:sp>
        <p:nvSpPr>
          <p:cNvPr id="10" name="text-24"/>
          <p:cNvSpPr txBox="1"/>
          <p:nvPr/>
        </p:nvSpPr>
        <p:spPr>
          <a:xfrm>
            <a:off x="3566160" y="2148840"/>
            <a:ext cx="2240280" cy="457200"/>
          </a:xfrm>
          <a:prstGeom prst="rect">
            <a:avLst/>
          </a:prstGeom>
          <a:noFill/>
          <a:ln/>
        </p:spPr>
        <p:txBody>
          <a:bodyPr wrap="square" lIns="0" tIns="0" rIns="0" bIns="0" rtlCol="0" anchor="t"/>
          <a:lstStyle/>
          <a:p>
            <a:pPr marL="0" indent="0">
              <a:buNone/>
            </a:pPr>
            <a:r>
              <a:rPr lang="en-US" sz="1400" dirty="0">
                <a:solidFill>
                  <a:schemeClr val="tx1"/>
                </a:solidFill>
              </a:rPr>
              <a:t>Objectives &amp; scope</a:t>
            </a:r>
            <a:endParaRPr lang="en-US" sz="1400" dirty="0"/>
          </a:p>
        </p:txBody>
      </p:sp>
      <p:sp>
        <p:nvSpPr>
          <p:cNvPr id="11" name="shape-25"/>
          <p:cNvSpPr/>
          <p:nvPr/>
        </p:nvSpPr>
        <p:spPr>
          <a:xfrm>
            <a:off x="6217920" y="1325880"/>
            <a:ext cx="2560320" cy="1417320"/>
          </a:xfrm>
          <a:prstGeom prst="roundRect">
            <a:avLst>
              <a:gd name="adj" fmla="val 6452"/>
            </a:avLst>
          </a:prstGeom>
          <a:solidFill>
            <a:schemeClr val="bg2"/>
          </a:solidFill>
          <a:ln/>
        </p:spPr>
      </p:sp>
      <p:sp>
        <p:nvSpPr>
          <p:cNvPr id="12" name="badge-26"/>
          <p:cNvSpPr txBox="1"/>
          <p:nvPr/>
        </p:nvSpPr>
        <p:spPr>
          <a:xfrm>
            <a:off x="6400800" y="1508760"/>
            <a:ext cx="502920" cy="502920"/>
          </a:xfrm>
          <a:prstGeom prst="ellipse">
            <a:avLst/>
          </a:prstGeom>
          <a:solidFill>
            <a:schemeClr val="tx2"/>
          </a:solidFill>
          <a:ln/>
        </p:spPr>
        <p:txBody>
          <a:bodyPr wrap="square" lIns="0" tIns="0" rIns="0" bIns="0" rtlCol="0" anchor="ctr"/>
          <a:lstStyle/>
          <a:p>
            <a:pPr marL="0" indent="0" algn="ctr">
              <a:buNone/>
            </a:pPr>
            <a:r>
              <a:rPr lang="en-US" sz="1800" b="1" dirty="0">
                <a:solidFill>
                  <a:schemeClr val="bg1"/>
                </a:solidFill>
              </a:rPr>
              <a:t>A</a:t>
            </a:r>
            <a:endParaRPr lang="en-US" sz="1800" dirty="0"/>
          </a:p>
        </p:txBody>
      </p:sp>
      <p:sp>
        <p:nvSpPr>
          <p:cNvPr id="13" name="text-27"/>
          <p:cNvSpPr txBox="1"/>
          <p:nvPr/>
        </p:nvSpPr>
        <p:spPr>
          <a:xfrm>
            <a:off x="7040880" y="1508760"/>
            <a:ext cx="1645920" cy="502920"/>
          </a:xfrm>
          <a:prstGeom prst="rect">
            <a:avLst/>
          </a:prstGeom>
          <a:noFill/>
          <a:ln/>
        </p:spPr>
        <p:txBody>
          <a:bodyPr wrap="square" lIns="0" tIns="0" rIns="0" bIns="0" rtlCol="0" anchor="ctr"/>
          <a:lstStyle/>
          <a:p>
            <a:pPr marL="0" indent="0">
              <a:buNone/>
            </a:pPr>
            <a:r>
              <a:rPr lang="en-US" sz="1500" b="1" dirty="0">
                <a:solidFill>
                  <a:schemeClr val="tx2"/>
                </a:solidFill>
              </a:rPr>
              <a:t>Augusto Manuel</a:t>
            </a:r>
            <a:endParaRPr lang="en-US" sz="1500" dirty="0"/>
          </a:p>
        </p:txBody>
      </p:sp>
      <p:sp>
        <p:nvSpPr>
          <p:cNvPr id="14" name="text-28"/>
          <p:cNvSpPr txBox="1"/>
          <p:nvPr/>
        </p:nvSpPr>
        <p:spPr>
          <a:xfrm>
            <a:off x="6400800" y="2148840"/>
            <a:ext cx="2240280" cy="457200"/>
          </a:xfrm>
          <a:prstGeom prst="rect">
            <a:avLst/>
          </a:prstGeom>
          <a:noFill/>
          <a:ln/>
        </p:spPr>
        <p:txBody>
          <a:bodyPr wrap="square" lIns="0" tIns="0" rIns="0" bIns="0" rtlCol="0" anchor="t"/>
          <a:lstStyle/>
          <a:p>
            <a:pPr marL="0" indent="0">
              <a:buNone/>
            </a:pPr>
            <a:r>
              <a:rPr lang="en-US" sz="1400" dirty="0">
                <a:solidFill>
                  <a:schemeClr val="tx1"/>
                </a:solidFill>
              </a:rPr>
              <a:t>Requirements, context DFD</a:t>
            </a:r>
            <a:endParaRPr lang="en-US" sz="1400" dirty="0"/>
          </a:p>
        </p:txBody>
      </p:sp>
      <p:sp>
        <p:nvSpPr>
          <p:cNvPr id="15" name="shape-29"/>
          <p:cNvSpPr/>
          <p:nvPr/>
        </p:nvSpPr>
        <p:spPr>
          <a:xfrm>
            <a:off x="9052560" y="1325880"/>
            <a:ext cx="2560320" cy="1417320"/>
          </a:xfrm>
          <a:prstGeom prst="roundRect">
            <a:avLst>
              <a:gd name="adj" fmla="val 6452"/>
            </a:avLst>
          </a:prstGeom>
          <a:solidFill>
            <a:schemeClr val="bg2"/>
          </a:solidFill>
          <a:ln/>
        </p:spPr>
      </p:sp>
      <p:sp>
        <p:nvSpPr>
          <p:cNvPr id="16" name="badge-30"/>
          <p:cNvSpPr txBox="1"/>
          <p:nvPr/>
        </p:nvSpPr>
        <p:spPr>
          <a:xfrm>
            <a:off x="9235440" y="1508760"/>
            <a:ext cx="502920" cy="502920"/>
          </a:xfrm>
          <a:prstGeom prst="ellipse">
            <a:avLst/>
          </a:prstGeom>
          <a:solidFill>
            <a:schemeClr val="tx2"/>
          </a:solidFill>
          <a:ln/>
        </p:spPr>
        <p:txBody>
          <a:bodyPr wrap="square" lIns="0" tIns="0" rIns="0" bIns="0" rtlCol="0" anchor="ctr"/>
          <a:lstStyle/>
          <a:p>
            <a:pPr marL="0" indent="0" algn="ctr">
              <a:buNone/>
            </a:pPr>
            <a:r>
              <a:rPr lang="en-US" sz="1800" b="1" dirty="0">
                <a:solidFill>
                  <a:schemeClr val="bg1"/>
                </a:solidFill>
              </a:rPr>
              <a:t>E</a:t>
            </a:r>
            <a:endParaRPr lang="en-US" sz="1800" dirty="0"/>
          </a:p>
        </p:txBody>
      </p:sp>
      <p:sp>
        <p:nvSpPr>
          <p:cNvPr id="17" name="text-31"/>
          <p:cNvSpPr txBox="1"/>
          <p:nvPr/>
        </p:nvSpPr>
        <p:spPr>
          <a:xfrm>
            <a:off x="9875520" y="1508760"/>
            <a:ext cx="1645920" cy="502920"/>
          </a:xfrm>
          <a:prstGeom prst="rect">
            <a:avLst/>
          </a:prstGeom>
          <a:noFill/>
          <a:ln/>
        </p:spPr>
        <p:txBody>
          <a:bodyPr wrap="square" lIns="0" tIns="0" rIns="0" bIns="0" rtlCol="0" anchor="ctr"/>
          <a:lstStyle/>
          <a:p>
            <a:pPr marL="0" indent="0">
              <a:buNone/>
            </a:pPr>
            <a:r>
              <a:rPr lang="en-US" sz="1500" b="1" dirty="0">
                <a:solidFill>
                  <a:schemeClr val="tx2"/>
                </a:solidFill>
              </a:rPr>
              <a:t>Emmanuel John</a:t>
            </a:r>
            <a:endParaRPr lang="en-US" sz="1500" dirty="0"/>
          </a:p>
        </p:txBody>
      </p:sp>
      <p:sp>
        <p:nvSpPr>
          <p:cNvPr id="18" name="text-32"/>
          <p:cNvSpPr txBox="1"/>
          <p:nvPr/>
        </p:nvSpPr>
        <p:spPr>
          <a:xfrm>
            <a:off x="9235440" y="2148840"/>
            <a:ext cx="2240280" cy="457200"/>
          </a:xfrm>
          <a:prstGeom prst="rect">
            <a:avLst/>
          </a:prstGeom>
          <a:noFill/>
          <a:ln/>
        </p:spPr>
        <p:txBody>
          <a:bodyPr wrap="square" lIns="0" tIns="0" rIns="0" bIns="0" rtlCol="0" anchor="t"/>
          <a:lstStyle/>
          <a:p>
            <a:pPr marL="0" indent="0">
              <a:buNone/>
            </a:pPr>
            <a:r>
              <a:rPr lang="en-US" sz="1400" dirty="0">
                <a:solidFill>
                  <a:schemeClr val="tx1"/>
                </a:solidFill>
              </a:rPr>
              <a:t>Level 1 DFD, challenges</a:t>
            </a:r>
            <a:endParaRPr lang="en-US" sz="1400" dirty="0"/>
          </a:p>
        </p:txBody>
      </p:sp>
      <p:sp>
        <p:nvSpPr>
          <p:cNvPr id="19" name="shape-33"/>
          <p:cNvSpPr/>
          <p:nvPr/>
        </p:nvSpPr>
        <p:spPr>
          <a:xfrm>
            <a:off x="548640" y="3017520"/>
            <a:ext cx="2560320" cy="1417320"/>
          </a:xfrm>
          <a:prstGeom prst="roundRect">
            <a:avLst>
              <a:gd name="adj" fmla="val 6452"/>
            </a:avLst>
          </a:prstGeom>
          <a:solidFill>
            <a:schemeClr val="bg2"/>
          </a:solidFill>
          <a:ln/>
        </p:spPr>
      </p:sp>
      <p:sp>
        <p:nvSpPr>
          <p:cNvPr id="20" name="badge-34"/>
          <p:cNvSpPr txBox="1"/>
          <p:nvPr/>
        </p:nvSpPr>
        <p:spPr>
          <a:xfrm>
            <a:off x="731520" y="3200400"/>
            <a:ext cx="502920" cy="502920"/>
          </a:xfrm>
          <a:prstGeom prst="ellipse">
            <a:avLst/>
          </a:prstGeom>
          <a:solidFill>
            <a:schemeClr val="tx2"/>
          </a:solidFill>
          <a:ln/>
        </p:spPr>
        <p:txBody>
          <a:bodyPr wrap="square" lIns="0" tIns="0" rIns="0" bIns="0" rtlCol="0" anchor="ctr"/>
          <a:lstStyle/>
          <a:p>
            <a:pPr marL="0" indent="0" algn="ctr">
              <a:buNone/>
            </a:pPr>
            <a:r>
              <a:rPr lang="en-US" sz="1800" b="1" dirty="0">
                <a:solidFill>
                  <a:schemeClr val="bg1"/>
                </a:solidFill>
              </a:rPr>
              <a:t>A</a:t>
            </a:r>
            <a:endParaRPr lang="en-US" sz="1800" dirty="0"/>
          </a:p>
        </p:txBody>
      </p:sp>
      <p:sp>
        <p:nvSpPr>
          <p:cNvPr id="21" name="text-35"/>
          <p:cNvSpPr txBox="1"/>
          <p:nvPr/>
        </p:nvSpPr>
        <p:spPr>
          <a:xfrm>
            <a:off x="1371600" y="3200400"/>
            <a:ext cx="1645920" cy="502920"/>
          </a:xfrm>
          <a:prstGeom prst="rect">
            <a:avLst/>
          </a:prstGeom>
          <a:noFill/>
          <a:ln/>
        </p:spPr>
        <p:txBody>
          <a:bodyPr wrap="square" lIns="0" tIns="0" rIns="0" bIns="0" rtlCol="0" anchor="ctr"/>
          <a:lstStyle/>
          <a:p>
            <a:pPr marL="0" indent="0">
              <a:buNone/>
            </a:pPr>
            <a:r>
              <a:rPr lang="en-US" sz="1500" b="1" dirty="0">
                <a:solidFill>
                  <a:schemeClr val="tx2"/>
                </a:solidFill>
              </a:rPr>
              <a:t>Antonio</a:t>
            </a:r>
            <a:endParaRPr lang="en-US" sz="1500" dirty="0"/>
          </a:p>
        </p:txBody>
      </p:sp>
      <p:sp>
        <p:nvSpPr>
          <p:cNvPr id="22" name="text-36"/>
          <p:cNvSpPr txBox="1"/>
          <p:nvPr/>
        </p:nvSpPr>
        <p:spPr>
          <a:xfrm>
            <a:off x="731520" y="3840480"/>
            <a:ext cx="2240280" cy="457200"/>
          </a:xfrm>
          <a:prstGeom prst="rect">
            <a:avLst/>
          </a:prstGeom>
          <a:noFill/>
          <a:ln/>
        </p:spPr>
        <p:txBody>
          <a:bodyPr wrap="square" lIns="0" tIns="0" rIns="0" bIns="0" rtlCol="0" anchor="t"/>
          <a:lstStyle/>
          <a:p>
            <a:pPr marL="0" indent="0">
              <a:buNone/>
            </a:pPr>
            <a:r>
              <a:rPr lang="en-US" sz="1400" dirty="0">
                <a:solidFill>
                  <a:schemeClr val="tx1"/>
                </a:solidFill>
              </a:rPr>
              <a:t>ERD &amp; trade-offs</a:t>
            </a:r>
            <a:endParaRPr lang="en-US" sz="1400" dirty="0"/>
          </a:p>
        </p:txBody>
      </p:sp>
      <p:sp>
        <p:nvSpPr>
          <p:cNvPr id="23" name="shape-37"/>
          <p:cNvSpPr/>
          <p:nvPr/>
        </p:nvSpPr>
        <p:spPr>
          <a:xfrm>
            <a:off x="3383280" y="3017520"/>
            <a:ext cx="2560320" cy="1417320"/>
          </a:xfrm>
          <a:prstGeom prst="roundRect">
            <a:avLst>
              <a:gd name="adj" fmla="val 6452"/>
            </a:avLst>
          </a:prstGeom>
          <a:solidFill>
            <a:schemeClr val="bg2"/>
          </a:solidFill>
          <a:ln/>
        </p:spPr>
      </p:sp>
      <p:sp>
        <p:nvSpPr>
          <p:cNvPr id="24" name="badge-38"/>
          <p:cNvSpPr txBox="1"/>
          <p:nvPr/>
        </p:nvSpPr>
        <p:spPr>
          <a:xfrm>
            <a:off x="3566160" y="3200400"/>
            <a:ext cx="502920" cy="502920"/>
          </a:xfrm>
          <a:prstGeom prst="ellipse">
            <a:avLst/>
          </a:prstGeom>
          <a:solidFill>
            <a:schemeClr val="tx2"/>
          </a:solidFill>
          <a:ln/>
        </p:spPr>
        <p:txBody>
          <a:bodyPr wrap="square" lIns="0" tIns="0" rIns="0" bIns="0" rtlCol="0" anchor="ctr"/>
          <a:lstStyle/>
          <a:p>
            <a:pPr marL="0" indent="0" algn="ctr">
              <a:buNone/>
            </a:pPr>
            <a:r>
              <a:rPr lang="en-US" sz="1800" b="1" dirty="0">
                <a:solidFill>
                  <a:schemeClr val="bg1"/>
                </a:solidFill>
              </a:rPr>
              <a:t>R</a:t>
            </a:r>
            <a:endParaRPr lang="en-US" sz="1800" dirty="0"/>
          </a:p>
        </p:txBody>
      </p:sp>
      <p:sp>
        <p:nvSpPr>
          <p:cNvPr id="25" name="text-39"/>
          <p:cNvSpPr txBox="1"/>
          <p:nvPr/>
        </p:nvSpPr>
        <p:spPr>
          <a:xfrm>
            <a:off x="4206240" y="3200400"/>
            <a:ext cx="1645920" cy="502920"/>
          </a:xfrm>
          <a:prstGeom prst="rect">
            <a:avLst/>
          </a:prstGeom>
          <a:noFill/>
          <a:ln/>
        </p:spPr>
        <p:txBody>
          <a:bodyPr wrap="square" lIns="0" tIns="0" rIns="0" bIns="0" rtlCol="0" anchor="ctr"/>
          <a:lstStyle/>
          <a:p>
            <a:pPr marL="0" indent="0">
              <a:buNone/>
            </a:pPr>
            <a:r>
              <a:rPr lang="en-US" sz="1500" b="1" dirty="0">
                <a:solidFill>
                  <a:schemeClr val="tx2"/>
                </a:solidFill>
              </a:rPr>
              <a:t>Ranier</a:t>
            </a:r>
            <a:endParaRPr lang="en-US" sz="1500" dirty="0"/>
          </a:p>
        </p:txBody>
      </p:sp>
      <p:sp>
        <p:nvSpPr>
          <p:cNvPr id="26" name="text-40"/>
          <p:cNvSpPr txBox="1"/>
          <p:nvPr/>
        </p:nvSpPr>
        <p:spPr>
          <a:xfrm>
            <a:off x="3566160" y="3840480"/>
            <a:ext cx="2240280" cy="457200"/>
          </a:xfrm>
          <a:prstGeom prst="rect">
            <a:avLst/>
          </a:prstGeom>
          <a:noFill/>
          <a:ln/>
        </p:spPr>
        <p:txBody>
          <a:bodyPr wrap="square" lIns="0" tIns="0" rIns="0" bIns="0" rtlCol="0" anchor="t"/>
          <a:lstStyle/>
          <a:p>
            <a:pPr marL="0" indent="0">
              <a:buNone/>
            </a:pPr>
            <a:r>
              <a:rPr lang="en-US" sz="1400" dirty="0">
                <a:solidFill>
                  <a:schemeClr val="tx1"/>
                </a:solidFill>
              </a:rPr>
              <a:t>Structure chart, SCM</a:t>
            </a:r>
            <a:endParaRPr lang="en-US" sz="1400" dirty="0"/>
          </a:p>
        </p:txBody>
      </p:sp>
      <p:sp>
        <p:nvSpPr>
          <p:cNvPr id="27" name="shape-41"/>
          <p:cNvSpPr/>
          <p:nvPr/>
        </p:nvSpPr>
        <p:spPr>
          <a:xfrm>
            <a:off x="6217920" y="3017520"/>
            <a:ext cx="2560320" cy="1417320"/>
          </a:xfrm>
          <a:prstGeom prst="roundRect">
            <a:avLst>
              <a:gd name="adj" fmla="val 6452"/>
            </a:avLst>
          </a:prstGeom>
          <a:solidFill>
            <a:schemeClr val="bg2"/>
          </a:solidFill>
          <a:ln/>
        </p:spPr>
      </p:sp>
      <p:sp>
        <p:nvSpPr>
          <p:cNvPr id="28" name="badge-42"/>
          <p:cNvSpPr txBox="1"/>
          <p:nvPr/>
        </p:nvSpPr>
        <p:spPr>
          <a:xfrm>
            <a:off x="6400800" y="3200400"/>
            <a:ext cx="502920" cy="502920"/>
          </a:xfrm>
          <a:prstGeom prst="ellipse">
            <a:avLst/>
          </a:prstGeom>
          <a:solidFill>
            <a:schemeClr val="tx2"/>
          </a:solidFill>
          <a:ln/>
        </p:spPr>
        <p:txBody>
          <a:bodyPr wrap="square" lIns="0" tIns="0" rIns="0" bIns="0" rtlCol="0" anchor="ctr"/>
          <a:lstStyle/>
          <a:p>
            <a:pPr marL="0" indent="0" algn="ctr">
              <a:buNone/>
            </a:pPr>
            <a:r>
              <a:rPr lang="en-US" sz="1800" b="1" dirty="0">
                <a:solidFill>
                  <a:schemeClr val="bg1"/>
                </a:solidFill>
              </a:rPr>
              <a:t>B</a:t>
            </a:r>
            <a:endParaRPr lang="en-US" sz="1800" dirty="0"/>
          </a:p>
        </p:txBody>
      </p:sp>
      <p:sp>
        <p:nvSpPr>
          <p:cNvPr id="29" name="text-43"/>
          <p:cNvSpPr txBox="1"/>
          <p:nvPr/>
        </p:nvSpPr>
        <p:spPr>
          <a:xfrm>
            <a:off x="7040880" y="3200400"/>
            <a:ext cx="1645920" cy="502920"/>
          </a:xfrm>
          <a:prstGeom prst="rect">
            <a:avLst/>
          </a:prstGeom>
          <a:noFill/>
          <a:ln/>
        </p:spPr>
        <p:txBody>
          <a:bodyPr wrap="square" lIns="0" tIns="0" rIns="0" bIns="0" rtlCol="0" anchor="ctr"/>
          <a:lstStyle/>
          <a:p>
            <a:pPr marL="0" indent="0">
              <a:buNone/>
            </a:pPr>
            <a:r>
              <a:rPr lang="en-US" sz="1500" b="1" dirty="0">
                <a:solidFill>
                  <a:schemeClr val="tx2"/>
                </a:solidFill>
              </a:rPr>
              <a:t>Benjie</a:t>
            </a:r>
            <a:endParaRPr lang="en-US" sz="1500" dirty="0"/>
          </a:p>
        </p:txBody>
      </p:sp>
      <p:sp>
        <p:nvSpPr>
          <p:cNvPr id="30" name="text-44"/>
          <p:cNvSpPr txBox="1"/>
          <p:nvPr/>
        </p:nvSpPr>
        <p:spPr>
          <a:xfrm>
            <a:off x="6400800" y="3840480"/>
            <a:ext cx="2240280" cy="457200"/>
          </a:xfrm>
          <a:prstGeom prst="rect">
            <a:avLst/>
          </a:prstGeom>
          <a:noFill/>
          <a:ln/>
        </p:spPr>
        <p:txBody>
          <a:bodyPr wrap="square" lIns="0" tIns="0" rIns="0" bIns="0" rtlCol="0" anchor="t"/>
          <a:lstStyle/>
          <a:p>
            <a:pPr marL="0" indent="0">
              <a:buNone/>
            </a:pPr>
            <a:r>
              <a:rPr lang="en-US" sz="1400" dirty="0">
                <a:solidFill>
                  <a:schemeClr val="tx1"/>
                </a:solidFill>
              </a:rPr>
              <a:t>Tech stack &amp; algorithms</a:t>
            </a:r>
            <a:endParaRPr lang="en-US" sz="1400" dirty="0"/>
          </a:p>
        </p:txBody>
      </p:sp>
      <p:sp>
        <p:nvSpPr>
          <p:cNvPr id="31" name="shape-45"/>
          <p:cNvSpPr/>
          <p:nvPr/>
        </p:nvSpPr>
        <p:spPr>
          <a:xfrm>
            <a:off x="9052560" y="3017520"/>
            <a:ext cx="2560320" cy="1417320"/>
          </a:xfrm>
          <a:prstGeom prst="roundRect">
            <a:avLst>
              <a:gd name="adj" fmla="val 6452"/>
            </a:avLst>
          </a:prstGeom>
          <a:solidFill>
            <a:schemeClr val="bg2"/>
          </a:solidFill>
          <a:ln/>
        </p:spPr>
      </p:sp>
      <p:sp>
        <p:nvSpPr>
          <p:cNvPr id="32" name="badge-46"/>
          <p:cNvSpPr txBox="1"/>
          <p:nvPr/>
        </p:nvSpPr>
        <p:spPr>
          <a:xfrm>
            <a:off x="9235440" y="3200400"/>
            <a:ext cx="502920" cy="502920"/>
          </a:xfrm>
          <a:prstGeom prst="ellipse">
            <a:avLst/>
          </a:prstGeom>
          <a:solidFill>
            <a:schemeClr val="tx2"/>
          </a:solidFill>
          <a:ln/>
        </p:spPr>
        <p:txBody>
          <a:bodyPr wrap="square" lIns="0" tIns="0" rIns="0" bIns="0" rtlCol="0" anchor="ctr"/>
          <a:lstStyle/>
          <a:p>
            <a:pPr marL="0" indent="0" algn="ctr">
              <a:buNone/>
            </a:pPr>
            <a:r>
              <a:rPr lang="en-US" sz="1800" b="1" dirty="0">
                <a:solidFill>
                  <a:schemeClr val="bg1"/>
                </a:solidFill>
              </a:rPr>
              <a:t>G</a:t>
            </a:r>
            <a:endParaRPr lang="en-US" sz="1800" dirty="0"/>
          </a:p>
        </p:txBody>
      </p:sp>
      <p:sp>
        <p:nvSpPr>
          <p:cNvPr id="33" name="text-47"/>
          <p:cNvSpPr txBox="1"/>
          <p:nvPr/>
        </p:nvSpPr>
        <p:spPr>
          <a:xfrm>
            <a:off x="9875520" y="3200400"/>
            <a:ext cx="1645920" cy="502920"/>
          </a:xfrm>
          <a:prstGeom prst="rect">
            <a:avLst/>
          </a:prstGeom>
          <a:noFill/>
          <a:ln/>
        </p:spPr>
        <p:txBody>
          <a:bodyPr wrap="square" lIns="0" tIns="0" rIns="0" bIns="0" rtlCol="0" anchor="ctr"/>
          <a:lstStyle/>
          <a:p>
            <a:pPr marL="0" indent="0">
              <a:buNone/>
            </a:pPr>
            <a:r>
              <a:rPr lang="en-US" sz="1500" b="1" dirty="0">
                <a:solidFill>
                  <a:schemeClr val="tx2"/>
                </a:solidFill>
              </a:rPr>
              <a:t>Genuflect</a:t>
            </a:r>
            <a:endParaRPr lang="en-US" sz="1500" dirty="0"/>
          </a:p>
        </p:txBody>
      </p:sp>
      <p:sp>
        <p:nvSpPr>
          <p:cNvPr id="34" name="text-48"/>
          <p:cNvSpPr txBox="1"/>
          <p:nvPr/>
        </p:nvSpPr>
        <p:spPr>
          <a:xfrm>
            <a:off x="9235440" y="3840480"/>
            <a:ext cx="2240280" cy="457200"/>
          </a:xfrm>
          <a:prstGeom prst="rect">
            <a:avLst/>
          </a:prstGeom>
          <a:noFill/>
          <a:ln/>
        </p:spPr>
        <p:txBody>
          <a:bodyPr wrap="square" lIns="0" tIns="0" rIns="0" bIns="0" rtlCol="0" anchor="t"/>
          <a:lstStyle/>
          <a:p>
            <a:pPr marL="0" indent="0">
              <a:buNone/>
            </a:pPr>
            <a:r>
              <a:rPr lang="en-US" sz="1400" dirty="0">
                <a:solidFill>
                  <a:schemeClr val="tx1"/>
                </a:solidFill>
              </a:rPr>
              <a:t>Testing &amp; QA results</a:t>
            </a:r>
            <a:endParaRPr lang="en-US" sz="1400" dirty="0"/>
          </a:p>
        </p:txBody>
      </p:sp>
      <p:sp>
        <p:nvSpPr>
          <p:cNvPr id="35" name="shape-49"/>
          <p:cNvSpPr/>
          <p:nvPr/>
        </p:nvSpPr>
        <p:spPr>
          <a:xfrm>
            <a:off x="548640" y="4892040"/>
            <a:ext cx="7360920" cy="685800"/>
          </a:xfrm>
          <a:prstGeom prst="rect">
            <a:avLst/>
          </a:prstGeom>
          <a:solidFill>
            <a:schemeClr val="tx2"/>
          </a:solidFill>
          <a:ln/>
        </p:spPr>
      </p:sp>
      <p:sp>
        <p:nvSpPr>
          <p:cNvPr id="36" name="text-50"/>
          <p:cNvSpPr txBox="1"/>
          <p:nvPr/>
        </p:nvSpPr>
        <p:spPr>
          <a:xfrm>
            <a:off x="777240" y="4892040"/>
            <a:ext cx="6949440" cy="685800"/>
          </a:xfrm>
          <a:prstGeom prst="rect">
            <a:avLst/>
          </a:prstGeom>
          <a:noFill/>
          <a:ln/>
        </p:spPr>
        <p:txBody>
          <a:bodyPr wrap="square" lIns="0" tIns="0" rIns="0" bIns="0" rtlCol="0" anchor="ctr"/>
          <a:lstStyle/>
          <a:p>
            <a:pPr marL="0" indent="0">
              <a:buNone/>
            </a:pPr>
            <a:r>
              <a:rPr lang="en-US" sz="1800" b="1" dirty="0">
                <a:solidFill>
                  <a:schemeClr val="bg1"/>
                </a:solidFill>
              </a:rPr>
              <a:t>Presentation + live demo: 20 min</a:t>
            </a:r>
            <a:endParaRPr lang="en-US" sz="1800" dirty="0"/>
          </a:p>
        </p:txBody>
      </p:sp>
      <p:sp>
        <p:nvSpPr>
          <p:cNvPr id="37" name="shape-51"/>
          <p:cNvSpPr/>
          <p:nvPr/>
        </p:nvSpPr>
        <p:spPr>
          <a:xfrm>
            <a:off x="7909560" y="4892040"/>
            <a:ext cx="3703320" cy="685800"/>
          </a:xfrm>
          <a:prstGeom prst="rect">
            <a:avLst/>
          </a:prstGeom>
          <a:solidFill>
            <a:schemeClr val="accent1"/>
          </a:solidFill>
          <a:ln/>
        </p:spPr>
      </p:sp>
      <p:sp>
        <p:nvSpPr>
          <p:cNvPr id="38" name="text-52"/>
          <p:cNvSpPr txBox="1"/>
          <p:nvPr/>
        </p:nvSpPr>
        <p:spPr>
          <a:xfrm>
            <a:off x="8138160" y="4892040"/>
            <a:ext cx="3291840" cy="685800"/>
          </a:xfrm>
          <a:prstGeom prst="rect">
            <a:avLst/>
          </a:prstGeom>
          <a:noFill/>
          <a:ln/>
        </p:spPr>
        <p:txBody>
          <a:bodyPr wrap="square" lIns="0" tIns="0" rIns="0" bIns="0" rtlCol="0" anchor="ctr"/>
          <a:lstStyle/>
          <a:p>
            <a:pPr marL="0" indent="0">
              <a:buNone/>
            </a:pPr>
            <a:r>
              <a:rPr lang="en-US" sz="1800" b="1" dirty="0">
                <a:solidFill>
                  <a:schemeClr val="tx1"/>
                </a:solidFill>
              </a:rPr>
              <a:t>Panel Q&amp;A: 10 min</a:t>
            </a:r>
            <a:endParaRPr lang="en-US" sz="1800" dirty="0"/>
          </a:p>
        </p:txBody>
      </p:sp>
      <p:sp>
        <p:nvSpPr>
          <p:cNvPr id="39" name="text-53"/>
          <p:cNvSpPr txBox="1"/>
          <p:nvPr/>
        </p:nvSpPr>
        <p:spPr>
          <a:xfrm>
            <a:off x="548640" y="5760720"/>
            <a:ext cx="11064240" cy="320040"/>
          </a:xfrm>
          <a:prstGeom prst="rect">
            <a:avLst/>
          </a:prstGeom>
          <a:noFill/>
          <a:ln/>
        </p:spPr>
        <p:txBody>
          <a:bodyPr wrap="square" lIns="0" tIns="0" rIns="0" bIns="0" rtlCol="0" anchor="t"/>
          <a:lstStyle/>
          <a:p>
            <a:pPr marL="0" indent="0">
              <a:buNone/>
            </a:pPr>
            <a:r>
              <a:rPr lang="en-US" sz="1500" dirty="0">
                <a:solidFill>
                  <a:schemeClr val="accent6"/>
                </a:solidFill>
              </a:rPr>
              <a:t>Every member answers at least one question.</a:t>
            </a:r>
            <a:endParaRPr lang="en-US" sz="1500" dirty="0"/>
          </a:p>
        </p:txBody>
      </p:sp>
      <p:sp>
        <p:nvSpPr>
          <p:cNvPr id="40"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The Checkpoint Problem</a:t>
            </a:r>
            <a:endParaRPr lang="en-US" sz="3400" dirty="0"/>
          </a:p>
        </p:txBody>
      </p:sp>
      <p:sp>
        <p:nvSpPr>
          <p:cNvPr id="3" name="shape-54"/>
          <p:cNvSpPr/>
          <p:nvPr/>
        </p:nvSpPr>
        <p:spPr>
          <a:xfrm>
            <a:off x="548640" y="1280160"/>
            <a:ext cx="2560320" cy="2788920"/>
          </a:xfrm>
          <a:prstGeom prst="roundRect">
            <a:avLst>
              <a:gd name="adj" fmla="val 3571"/>
            </a:avLst>
          </a:prstGeom>
          <a:solidFill>
            <a:schemeClr val="bg2"/>
          </a:solidFill>
          <a:ln/>
        </p:spPr>
      </p:sp>
      <p:sp>
        <p:nvSpPr>
          <p:cNvPr id="4" name="iconbg-55"/>
          <p:cNvSpPr/>
          <p:nvPr/>
        </p:nvSpPr>
        <p:spPr>
          <a:xfrm>
            <a:off x="822960" y="1554480"/>
            <a:ext cx="822960" cy="822960"/>
          </a:xfrm>
          <a:prstGeom prst="ellipse">
            <a:avLst/>
          </a:prstGeom>
          <a:solidFill>
            <a:srgbClr val="C62F3E"/>
          </a:solidFill>
          <a:ln/>
        </p:spPr>
      </p:sp>
      <p:pic>
        <p:nvPicPr>
          <p:cNvPr id="5" name="icon-56" descr="preencoded.png"/>
          <p:cNvPicPr>
            <a:picLocks noChangeAspect="1"/>
          </p:cNvPicPr>
          <p:nvPr/>
        </p:nvPicPr>
        <p:blipFill>
          <a:blip r:embed="rId3"/>
          <a:stretch>
            <a:fillRect/>
          </a:stretch>
        </p:blipFill>
        <p:spPr>
          <a:xfrm>
            <a:off x="1028700" y="1760220"/>
            <a:ext cx="411480" cy="411480"/>
          </a:xfrm>
          <a:prstGeom prst="rect">
            <a:avLst/>
          </a:prstGeom>
        </p:spPr>
      </p:pic>
      <p:sp>
        <p:nvSpPr>
          <p:cNvPr id="6" name="text-57"/>
          <p:cNvSpPr txBox="1"/>
          <p:nvPr/>
        </p:nvSpPr>
        <p:spPr>
          <a:xfrm>
            <a:off x="822960" y="2560320"/>
            <a:ext cx="2103120" cy="640080"/>
          </a:xfrm>
          <a:prstGeom prst="rect">
            <a:avLst/>
          </a:prstGeom>
          <a:noFill/>
          <a:ln/>
        </p:spPr>
        <p:txBody>
          <a:bodyPr wrap="square" lIns="0" tIns="0" rIns="0" bIns="0" rtlCol="0" anchor="t"/>
          <a:lstStyle/>
          <a:p>
            <a:pPr marL="0" indent="0">
              <a:buNone/>
            </a:pPr>
            <a:r>
              <a:rPr lang="en-US" sz="1800" b="1" dirty="0">
                <a:solidFill>
                  <a:schemeClr val="tx2"/>
                </a:solidFill>
              </a:rPr>
              <a:t>Slow paper tickets</a:t>
            </a:r>
            <a:endParaRPr lang="en-US" sz="1800" dirty="0"/>
          </a:p>
        </p:txBody>
      </p:sp>
      <p:sp>
        <p:nvSpPr>
          <p:cNvPr id="7" name="text-58"/>
          <p:cNvSpPr txBox="1"/>
          <p:nvPr/>
        </p:nvSpPr>
        <p:spPr>
          <a:xfrm>
            <a:off x="822960" y="3246120"/>
            <a:ext cx="2103120" cy="731520"/>
          </a:xfrm>
          <a:prstGeom prst="rect">
            <a:avLst/>
          </a:prstGeom>
          <a:noFill/>
          <a:ln/>
        </p:spPr>
        <p:txBody>
          <a:bodyPr wrap="square" lIns="0" tIns="0" rIns="0" bIns="0" rtlCol="0" anchor="t"/>
          <a:lstStyle/>
          <a:p>
            <a:pPr marL="0" indent="0">
              <a:buNone/>
            </a:pPr>
            <a:r>
              <a:rPr lang="en-US" sz="1500" dirty="0">
                <a:solidFill>
                  <a:schemeClr val="tx1"/>
                </a:solidFill>
              </a:rPr>
              <a:t>8–12 minutes per stop, with illegible entries</a:t>
            </a:r>
            <a:endParaRPr lang="en-US" sz="1500" dirty="0"/>
          </a:p>
        </p:txBody>
      </p:sp>
      <p:sp>
        <p:nvSpPr>
          <p:cNvPr id="8" name="shape-59"/>
          <p:cNvSpPr/>
          <p:nvPr/>
        </p:nvSpPr>
        <p:spPr>
          <a:xfrm>
            <a:off x="3383280" y="1280160"/>
            <a:ext cx="2560320" cy="2788920"/>
          </a:xfrm>
          <a:prstGeom prst="roundRect">
            <a:avLst>
              <a:gd name="adj" fmla="val 3571"/>
            </a:avLst>
          </a:prstGeom>
          <a:solidFill>
            <a:schemeClr val="bg2"/>
          </a:solidFill>
          <a:ln/>
        </p:spPr>
      </p:sp>
      <p:sp>
        <p:nvSpPr>
          <p:cNvPr id="9" name="iconbg-60"/>
          <p:cNvSpPr/>
          <p:nvPr/>
        </p:nvSpPr>
        <p:spPr>
          <a:xfrm>
            <a:off x="3657600" y="1554480"/>
            <a:ext cx="822960" cy="822960"/>
          </a:xfrm>
          <a:prstGeom prst="ellipse">
            <a:avLst/>
          </a:prstGeom>
          <a:solidFill>
            <a:srgbClr val="C62F3E"/>
          </a:solidFill>
          <a:ln/>
        </p:spPr>
      </p:sp>
      <p:pic>
        <p:nvPicPr>
          <p:cNvPr id="10" name="icon-61" descr="preencoded.png"/>
          <p:cNvPicPr>
            <a:picLocks noChangeAspect="1"/>
          </p:cNvPicPr>
          <p:nvPr/>
        </p:nvPicPr>
        <p:blipFill>
          <a:blip r:embed="rId4"/>
          <a:stretch>
            <a:fillRect/>
          </a:stretch>
        </p:blipFill>
        <p:spPr>
          <a:xfrm>
            <a:off x="3863340" y="1760220"/>
            <a:ext cx="411480" cy="411480"/>
          </a:xfrm>
          <a:prstGeom prst="rect">
            <a:avLst/>
          </a:prstGeom>
        </p:spPr>
      </p:pic>
      <p:sp>
        <p:nvSpPr>
          <p:cNvPr id="11" name="text-62"/>
          <p:cNvSpPr txBox="1"/>
          <p:nvPr/>
        </p:nvSpPr>
        <p:spPr>
          <a:xfrm>
            <a:off x="3657600" y="2560320"/>
            <a:ext cx="2103120" cy="640080"/>
          </a:xfrm>
          <a:prstGeom prst="rect">
            <a:avLst/>
          </a:prstGeom>
          <a:noFill/>
          <a:ln/>
        </p:spPr>
        <p:txBody>
          <a:bodyPr wrap="square" lIns="0" tIns="0" rIns="0" bIns="0" rtlCol="0" anchor="t"/>
          <a:lstStyle/>
          <a:p>
            <a:pPr marL="0" indent="0">
              <a:buNone/>
            </a:pPr>
            <a:r>
              <a:rPr lang="en-US" sz="1800" b="1" dirty="0">
                <a:solidFill>
                  <a:schemeClr val="tx2"/>
                </a:solidFill>
              </a:rPr>
              <a:t>No live screening</a:t>
            </a:r>
            <a:endParaRPr lang="en-US" sz="1800" dirty="0"/>
          </a:p>
        </p:txBody>
      </p:sp>
      <p:sp>
        <p:nvSpPr>
          <p:cNvPr id="12" name="text-63"/>
          <p:cNvSpPr txBox="1"/>
          <p:nvPr/>
        </p:nvSpPr>
        <p:spPr>
          <a:xfrm>
            <a:off x="3657600" y="3246120"/>
            <a:ext cx="2103120" cy="731520"/>
          </a:xfrm>
          <a:prstGeom prst="rect">
            <a:avLst/>
          </a:prstGeom>
          <a:noFill/>
          <a:ln/>
        </p:spPr>
        <p:txBody>
          <a:bodyPr wrap="square" lIns="0" tIns="0" rIns="0" bIns="0" rtlCol="0" anchor="t"/>
          <a:lstStyle/>
          <a:p>
            <a:pPr marL="0" indent="0">
              <a:buNone/>
            </a:pPr>
            <a:r>
              <a:rPr lang="en-US" sz="1500" dirty="0">
                <a:solidFill>
                  <a:schemeClr val="tx1"/>
                </a:solidFill>
              </a:rPr>
              <a:t>Stolen vehicles and warrants go unchecked</a:t>
            </a:r>
            <a:endParaRPr lang="en-US" sz="1500" dirty="0"/>
          </a:p>
        </p:txBody>
      </p:sp>
      <p:sp>
        <p:nvSpPr>
          <p:cNvPr id="13" name="shape-64"/>
          <p:cNvSpPr/>
          <p:nvPr/>
        </p:nvSpPr>
        <p:spPr>
          <a:xfrm>
            <a:off x="6217920" y="1280160"/>
            <a:ext cx="2560320" cy="2788920"/>
          </a:xfrm>
          <a:prstGeom prst="roundRect">
            <a:avLst>
              <a:gd name="adj" fmla="val 3571"/>
            </a:avLst>
          </a:prstGeom>
          <a:solidFill>
            <a:schemeClr val="bg2"/>
          </a:solidFill>
          <a:ln/>
        </p:spPr>
      </p:sp>
      <p:sp>
        <p:nvSpPr>
          <p:cNvPr id="14" name="iconbg-65"/>
          <p:cNvSpPr/>
          <p:nvPr/>
        </p:nvSpPr>
        <p:spPr>
          <a:xfrm>
            <a:off x="6492240" y="1554480"/>
            <a:ext cx="822960" cy="822960"/>
          </a:xfrm>
          <a:prstGeom prst="ellipse">
            <a:avLst/>
          </a:prstGeom>
          <a:solidFill>
            <a:srgbClr val="C62F3E"/>
          </a:solidFill>
          <a:ln/>
        </p:spPr>
      </p:sp>
      <p:pic>
        <p:nvPicPr>
          <p:cNvPr id="15" name="icon-66" descr="preencoded.png"/>
          <p:cNvPicPr>
            <a:picLocks noChangeAspect="1"/>
          </p:cNvPicPr>
          <p:nvPr/>
        </p:nvPicPr>
        <p:blipFill>
          <a:blip r:embed="rId5"/>
          <a:stretch>
            <a:fillRect/>
          </a:stretch>
        </p:blipFill>
        <p:spPr>
          <a:xfrm>
            <a:off x="6697980" y="1760220"/>
            <a:ext cx="411480" cy="411480"/>
          </a:xfrm>
          <a:prstGeom prst="rect">
            <a:avLst/>
          </a:prstGeom>
        </p:spPr>
      </p:pic>
      <p:sp>
        <p:nvSpPr>
          <p:cNvPr id="16" name="text-67"/>
          <p:cNvSpPr txBox="1"/>
          <p:nvPr/>
        </p:nvSpPr>
        <p:spPr>
          <a:xfrm>
            <a:off x="6492240" y="2560320"/>
            <a:ext cx="2103120" cy="640080"/>
          </a:xfrm>
          <a:prstGeom prst="rect">
            <a:avLst/>
          </a:prstGeom>
          <a:noFill/>
          <a:ln/>
        </p:spPr>
        <p:txBody>
          <a:bodyPr wrap="square" lIns="0" tIns="0" rIns="0" bIns="0" rtlCol="0" anchor="t"/>
          <a:lstStyle/>
          <a:p>
            <a:pPr marL="0" indent="0">
              <a:buNone/>
            </a:pPr>
            <a:r>
              <a:rPr lang="en-US" sz="1800" b="1" dirty="0">
                <a:solidFill>
                  <a:schemeClr val="tx2"/>
                </a:solidFill>
              </a:rPr>
              <a:t>Repeat offenders slip through</a:t>
            </a:r>
            <a:endParaRPr lang="en-US" sz="1800" dirty="0"/>
          </a:p>
        </p:txBody>
      </p:sp>
      <p:sp>
        <p:nvSpPr>
          <p:cNvPr id="17" name="text-68"/>
          <p:cNvSpPr txBox="1"/>
          <p:nvPr/>
        </p:nvSpPr>
        <p:spPr>
          <a:xfrm>
            <a:off x="6492240" y="3246120"/>
            <a:ext cx="2103120" cy="731520"/>
          </a:xfrm>
          <a:prstGeom prst="rect">
            <a:avLst/>
          </a:prstGeom>
          <a:noFill/>
          <a:ln/>
        </p:spPr>
        <p:txBody>
          <a:bodyPr wrap="square" lIns="0" tIns="0" rIns="0" bIns="0" rtlCol="0" anchor="t"/>
          <a:lstStyle/>
          <a:p>
            <a:pPr marL="0" indent="0">
              <a:buNone/>
            </a:pPr>
            <a:r>
              <a:rPr lang="en-US" sz="1500" dirty="0">
                <a:solidFill>
                  <a:schemeClr val="tx1"/>
                </a:solidFill>
              </a:rPr>
              <a:t>Records at one post are invisible to the others</a:t>
            </a:r>
            <a:endParaRPr lang="en-US" sz="1500" dirty="0"/>
          </a:p>
        </p:txBody>
      </p:sp>
      <p:sp>
        <p:nvSpPr>
          <p:cNvPr id="18" name="shape-69"/>
          <p:cNvSpPr/>
          <p:nvPr/>
        </p:nvSpPr>
        <p:spPr>
          <a:xfrm>
            <a:off x="9052560" y="1280160"/>
            <a:ext cx="2560320" cy="2788920"/>
          </a:xfrm>
          <a:prstGeom prst="roundRect">
            <a:avLst>
              <a:gd name="adj" fmla="val 3571"/>
            </a:avLst>
          </a:prstGeom>
          <a:solidFill>
            <a:schemeClr val="bg2"/>
          </a:solidFill>
          <a:ln/>
        </p:spPr>
      </p:sp>
      <p:sp>
        <p:nvSpPr>
          <p:cNvPr id="19" name="iconbg-70"/>
          <p:cNvSpPr/>
          <p:nvPr/>
        </p:nvSpPr>
        <p:spPr>
          <a:xfrm>
            <a:off x="9326880" y="1554480"/>
            <a:ext cx="822960" cy="822960"/>
          </a:xfrm>
          <a:prstGeom prst="ellipse">
            <a:avLst/>
          </a:prstGeom>
          <a:solidFill>
            <a:srgbClr val="C62F3E"/>
          </a:solidFill>
          <a:ln/>
        </p:spPr>
      </p:sp>
      <p:pic>
        <p:nvPicPr>
          <p:cNvPr id="20" name="icon-71" descr="preencoded.png"/>
          <p:cNvPicPr>
            <a:picLocks noChangeAspect="1"/>
          </p:cNvPicPr>
          <p:nvPr/>
        </p:nvPicPr>
        <p:blipFill>
          <a:blip r:embed="rId6"/>
          <a:stretch>
            <a:fillRect/>
          </a:stretch>
        </p:blipFill>
        <p:spPr>
          <a:xfrm>
            <a:off x="9532620" y="1760220"/>
            <a:ext cx="411480" cy="411480"/>
          </a:xfrm>
          <a:prstGeom prst="rect">
            <a:avLst/>
          </a:prstGeom>
        </p:spPr>
      </p:pic>
      <p:sp>
        <p:nvSpPr>
          <p:cNvPr id="21" name="text-72"/>
          <p:cNvSpPr txBox="1"/>
          <p:nvPr/>
        </p:nvSpPr>
        <p:spPr>
          <a:xfrm>
            <a:off x="9326880" y="2560320"/>
            <a:ext cx="2103120" cy="640080"/>
          </a:xfrm>
          <a:prstGeom prst="rect">
            <a:avLst/>
          </a:prstGeom>
          <a:noFill/>
          <a:ln/>
        </p:spPr>
        <p:txBody>
          <a:bodyPr wrap="square" lIns="0" tIns="0" rIns="0" bIns="0" rtlCol="0" anchor="t"/>
          <a:lstStyle/>
          <a:p>
            <a:pPr marL="0" indent="0">
              <a:buNone/>
            </a:pPr>
            <a:r>
              <a:rPr lang="en-US" sz="1800" b="1" dirty="0">
                <a:solidFill>
                  <a:schemeClr val="tx2"/>
                </a:solidFill>
              </a:rPr>
              <a:t>Slow treasury sync</a:t>
            </a:r>
            <a:endParaRPr lang="en-US" sz="1800" dirty="0"/>
          </a:p>
        </p:txBody>
      </p:sp>
      <p:sp>
        <p:nvSpPr>
          <p:cNvPr id="22" name="text-73"/>
          <p:cNvSpPr txBox="1"/>
          <p:nvPr/>
        </p:nvSpPr>
        <p:spPr>
          <a:xfrm>
            <a:off x="9326880" y="3246120"/>
            <a:ext cx="2103120" cy="731520"/>
          </a:xfrm>
          <a:prstGeom prst="rect">
            <a:avLst/>
          </a:prstGeom>
          <a:noFill/>
          <a:ln/>
        </p:spPr>
        <p:txBody>
          <a:bodyPr wrap="square" lIns="0" tIns="0" rIns="0" bIns="0" rtlCol="0" anchor="t"/>
          <a:lstStyle/>
          <a:p>
            <a:pPr marL="0" indent="0">
              <a:buNone/>
            </a:pPr>
            <a:r>
              <a:rPr lang="en-US" sz="1500" dirty="0">
                <a:solidFill>
                  <a:schemeClr val="tx1"/>
                </a:solidFill>
              </a:rPr>
              <a:t>Reconciling slips takes days or weeks</a:t>
            </a:r>
            <a:endParaRPr lang="en-US" sz="1500" dirty="0"/>
          </a:p>
        </p:txBody>
      </p:sp>
      <p:sp>
        <p:nvSpPr>
          <p:cNvPr id="23" name="shape-74"/>
          <p:cNvSpPr/>
          <p:nvPr/>
        </p:nvSpPr>
        <p:spPr>
          <a:xfrm>
            <a:off x="548640" y="4343400"/>
            <a:ext cx="11064240" cy="1828800"/>
          </a:xfrm>
          <a:prstGeom prst="roundRect">
            <a:avLst>
              <a:gd name="adj" fmla="val 5000"/>
            </a:avLst>
          </a:prstGeom>
          <a:solidFill>
            <a:schemeClr val="tx2"/>
          </a:solidFill>
          <a:ln/>
        </p:spPr>
      </p:sp>
      <p:sp>
        <p:nvSpPr>
          <p:cNvPr id="24" name="text-75"/>
          <p:cNvSpPr txBox="1"/>
          <p:nvPr/>
        </p:nvSpPr>
        <p:spPr>
          <a:xfrm>
            <a:off x="822960" y="4480560"/>
            <a:ext cx="274320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BUILT FOR</a:t>
            </a:r>
            <a:endParaRPr lang="en-US" sz="1200" dirty="0"/>
          </a:p>
        </p:txBody>
      </p:sp>
      <p:pic>
        <p:nvPicPr>
          <p:cNvPr id="25" name="icon-76" descr="preencoded.png"/>
          <p:cNvPicPr>
            <a:picLocks noChangeAspect="1"/>
          </p:cNvPicPr>
          <p:nvPr/>
        </p:nvPicPr>
        <p:blipFill>
          <a:blip r:embed="rId7"/>
          <a:stretch>
            <a:fillRect/>
          </a:stretch>
        </p:blipFill>
        <p:spPr>
          <a:xfrm>
            <a:off x="822960" y="4937760"/>
            <a:ext cx="411480" cy="411480"/>
          </a:xfrm>
          <a:prstGeom prst="rect">
            <a:avLst/>
          </a:prstGeom>
        </p:spPr>
      </p:pic>
      <p:sp>
        <p:nvSpPr>
          <p:cNvPr id="26" name="text-77"/>
          <p:cNvSpPr txBox="1"/>
          <p:nvPr/>
        </p:nvSpPr>
        <p:spPr>
          <a:xfrm>
            <a:off x="1371600" y="4937760"/>
            <a:ext cx="1965960" cy="411480"/>
          </a:xfrm>
          <a:prstGeom prst="rect">
            <a:avLst/>
          </a:prstGeom>
          <a:noFill/>
          <a:ln/>
        </p:spPr>
        <p:txBody>
          <a:bodyPr wrap="square" lIns="0" tIns="0" rIns="0" bIns="0" rtlCol="0" anchor="ctr"/>
          <a:lstStyle/>
          <a:p>
            <a:pPr marL="0" indent="0">
              <a:buNone/>
            </a:pPr>
            <a:r>
              <a:rPr lang="en-US" sz="1600" b="1" dirty="0">
                <a:solidFill>
                  <a:schemeClr val="bg1"/>
                </a:solidFill>
              </a:rPr>
              <a:t>Officers</a:t>
            </a:r>
            <a:endParaRPr lang="en-US" sz="1600" dirty="0"/>
          </a:p>
        </p:txBody>
      </p:sp>
      <p:sp>
        <p:nvSpPr>
          <p:cNvPr id="27" name="text-78"/>
          <p:cNvSpPr txBox="1"/>
          <p:nvPr/>
        </p:nvSpPr>
        <p:spPr>
          <a:xfrm>
            <a:off x="822960" y="5486400"/>
            <a:ext cx="2468880" cy="594360"/>
          </a:xfrm>
          <a:prstGeom prst="rect">
            <a:avLst/>
          </a:prstGeom>
          <a:noFill/>
          <a:ln/>
        </p:spPr>
        <p:txBody>
          <a:bodyPr wrap="square" lIns="0" tIns="0" rIns="0" bIns="0" rtlCol="0" anchor="t"/>
          <a:lstStyle/>
          <a:p>
            <a:pPr marL="0" indent="0">
              <a:buNone/>
            </a:pPr>
            <a:r>
              <a:rPr lang="en-US" sz="1400" dirty="0">
                <a:solidFill>
                  <a:schemeClr val="bg2"/>
                </a:solidFill>
              </a:rPr>
              <a:t>Clear / Warning / Alarm in under 60 s</a:t>
            </a:r>
            <a:endParaRPr lang="en-US" sz="1400" dirty="0"/>
          </a:p>
        </p:txBody>
      </p:sp>
      <p:pic>
        <p:nvPicPr>
          <p:cNvPr id="28" name="icon-79" descr="preencoded.png"/>
          <p:cNvPicPr>
            <a:picLocks noChangeAspect="1"/>
          </p:cNvPicPr>
          <p:nvPr/>
        </p:nvPicPr>
        <p:blipFill>
          <a:blip r:embed="rId8"/>
          <a:stretch>
            <a:fillRect/>
          </a:stretch>
        </p:blipFill>
        <p:spPr>
          <a:xfrm>
            <a:off x="3520440" y="4937760"/>
            <a:ext cx="411480" cy="411480"/>
          </a:xfrm>
          <a:prstGeom prst="rect">
            <a:avLst/>
          </a:prstGeom>
        </p:spPr>
      </p:pic>
      <p:sp>
        <p:nvSpPr>
          <p:cNvPr id="29" name="text-80"/>
          <p:cNvSpPr txBox="1"/>
          <p:nvPr/>
        </p:nvSpPr>
        <p:spPr>
          <a:xfrm>
            <a:off x="4069080" y="4937760"/>
            <a:ext cx="1965960" cy="411480"/>
          </a:xfrm>
          <a:prstGeom prst="rect">
            <a:avLst/>
          </a:prstGeom>
          <a:noFill/>
          <a:ln/>
        </p:spPr>
        <p:txBody>
          <a:bodyPr wrap="square" lIns="0" tIns="0" rIns="0" bIns="0" rtlCol="0" anchor="ctr"/>
          <a:lstStyle/>
          <a:p>
            <a:pPr marL="0" indent="0">
              <a:buNone/>
            </a:pPr>
            <a:r>
              <a:rPr lang="en-US" sz="1600" b="1" dirty="0">
                <a:solidFill>
                  <a:schemeClr val="bg1"/>
                </a:solidFill>
              </a:rPr>
              <a:t>Station commander</a:t>
            </a:r>
            <a:endParaRPr lang="en-US" sz="1600" dirty="0"/>
          </a:p>
        </p:txBody>
      </p:sp>
      <p:sp>
        <p:nvSpPr>
          <p:cNvPr id="30" name="text-81"/>
          <p:cNvSpPr txBox="1"/>
          <p:nvPr/>
        </p:nvSpPr>
        <p:spPr>
          <a:xfrm>
            <a:off x="3520440" y="5486400"/>
            <a:ext cx="2468880" cy="594360"/>
          </a:xfrm>
          <a:prstGeom prst="rect">
            <a:avLst/>
          </a:prstGeom>
          <a:noFill/>
          <a:ln/>
        </p:spPr>
        <p:txBody>
          <a:bodyPr wrap="square" lIns="0" tIns="0" rIns="0" bIns="0" rtlCol="0" anchor="t"/>
          <a:lstStyle/>
          <a:p>
            <a:pPr marL="0" indent="0">
              <a:buNone/>
            </a:pPr>
            <a:r>
              <a:rPr lang="en-US" sz="1400" dirty="0">
                <a:solidFill>
                  <a:schemeClr val="bg2"/>
                </a:solidFill>
              </a:rPr>
              <a:t>Live dashboard of arrests, fines, alerts</a:t>
            </a:r>
            <a:endParaRPr lang="en-US" sz="1400" dirty="0"/>
          </a:p>
        </p:txBody>
      </p:sp>
      <p:pic>
        <p:nvPicPr>
          <p:cNvPr id="31" name="icon-82" descr="preencoded.png"/>
          <p:cNvPicPr>
            <a:picLocks noChangeAspect="1"/>
          </p:cNvPicPr>
          <p:nvPr/>
        </p:nvPicPr>
        <p:blipFill>
          <a:blip r:embed="rId9"/>
          <a:stretch>
            <a:fillRect/>
          </a:stretch>
        </p:blipFill>
        <p:spPr>
          <a:xfrm>
            <a:off x="6217920" y="4937760"/>
            <a:ext cx="411480" cy="411480"/>
          </a:xfrm>
          <a:prstGeom prst="rect">
            <a:avLst/>
          </a:prstGeom>
        </p:spPr>
      </p:pic>
      <p:sp>
        <p:nvSpPr>
          <p:cNvPr id="32" name="text-83"/>
          <p:cNvSpPr txBox="1"/>
          <p:nvPr/>
        </p:nvSpPr>
        <p:spPr>
          <a:xfrm>
            <a:off x="6766560" y="4937760"/>
            <a:ext cx="1965960" cy="411480"/>
          </a:xfrm>
          <a:prstGeom prst="rect">
            <a:avLst/>
          </a:prstGeom>
          <a:noFill/>
          <a:ln/>
        </p:spPr>
        <p:txBody>
          <a:bodyPr wrap="square" lIns="0" tIns="0" rIns="0" bIns="0" rtlCol="0" anchor="ctr"/>
          <a:lstStyle/>
          <a:p>
            <a:pPr marL="0" indent="0">
              <a:buNone/>
            </a:pPr>
            <a:r>
              <a:rPr lang="en-US" sz="1600" b="1" dirty="0">
                <a:solidFill>
                  <a:schemeClr val="bg1"/>
                </a:solidFill>
              </a:rPr>
              <a:t>Municipal Treasury</a:t>
            </a:r>
            <a:endParaRPr lang="en-US" sz="1600" dirty="0"/>
          </a:p>
        </p:txBody>
      </p:sp>
      <p:sp>
        <p:nvSpPr>
          <p:cNvPr id="33" name="text-84"/>
          <p:cNvSpPr txBox="1"/>
          <p:nvPr/>
        </p:nvSpPr>
        <p:spPr>
          <a:xfrm>
            <a:off x="6217920" y="5486400"/>
            <a:ext cx="2468880" cy="594360"/>
          </a:xfrm>
          <a:prstGeom prst="rect">
            <a:avLst/>
          </a:prstGeom>
          <a:noFill/>
          <a:ln/>
        </p:spPr>
        <p:txBody>
          <a:bodyPr wrap="square" lIns="0" tIns="0" rIns="0" bIns="0" rtlCol="0" anchor="t"/>
          <a:lstStyle/>
          <a:p>
            <a:pPr marL="0" indent="0">
              <a:buNone/>
            </a:pPr>
            <a:r>
              <a:rPr lang="en-US" sz="1400" dirty="0">
                <a:solidFill>
                  <a:schemeClr val="bg2"/>
                </a:solidFill>
              </a:rPr>
              <a:t>Auto-calculated statutory fines, instant settlement audit</a:t>
            </a:r>
            <a:endParaRPr lang="en-US" sz="1400" dirty="0"/>
          </a:p>
        </p:txBody>
      </p:sp>
      <p:pic>
        <p:nvPicPr>
          <p:cNvPr id="34" name="icon-85" descr="preencoded.png"/>
          <p:cNvPicPr>
            <a:picLocks noChangeAspect="1"/>
          </p:cNvPicPr>
          <p:nvPr/>
        </p:nvPicPr>
        <p:blipFill>
          <a:blip r:embed="rId10"/>
          <a:stretch>
            <a:fillRect/>
          </a:stretch>
        </p:blipFill>
        <p:spPr>
          <a:xfrm>
            <a:off x="8915400" y="4937760"/>
            <a:ext cx="411480" cy="411480"/>
          </a:xfrm>
          <a:prstGeom prst="rect">
            <a:avLst/>
          </a:prstGeom>
        </p:spPr>
      </p:pic>
      <p:sp>
        <p:nvSpPr>
          <p:cNvPr id="35" name="text-86"/>
          <p:cNvSpPr txBox="1"/>
          <p:nvPr/>
        </p:nvSpPr>
        <p:spPr>
          <a:xfrm>
            <a:off x="9464040" y="4937760"/>
            <a:ext cx="1965960" cy="411480"/>
          </a:xfrm>
          <a:prstGeom prst="rect">
            <a:avLst/>
          </a:prstGeom>
          <a:noFill/>
          <a:ln/>
        </p:spPr>
        <p:txBody>
          <a:bodyPr wrap="square" lIns="0" tIns="0" rIns="0" bIns="0" rtlCol="0" anchor="ctr"/>
          <a:lstStyle/>
          <a:p>
            <a:pPr marL="0" indent="0">
              <a:buNone/>
            </a:pPr>
            <a:r>
              <a:rPr lang="en-US" sz="1600" b="1" dirty="0">
                <a:solidFill>
                  <a:schemeClr val="bg1"/>
                </a:solidFill>
              </a:rPr>
              <a:t>Motorists</a:t>
            </a:r>
            <a:endParaRPr lang="en-US" sz="1600" dirty="0"/>
          </a:p>
        </p:txBody>
      </p:sp>
      <p:sp>
        <p:nvSpPr>
          <p:cNvPr id="36" name="text-87"/>
          <p:cNvSpPr txBox="1"/>
          <p:nvPr/>
        </p:nvSpPr>
        <p:spPr>
          <a:xfrm>
            <a:off x="8915400" y="5486400"/>
            <a:ext cx="2468880" cy="594360"/>
          </a:xfrm>
          <a:prstGeom prst="rect">
            <a:avLst/>
          </a:prstGeom>
          <a:noFill/>
          <a:ln/>
        </p:spPr>
        <p:txBody>
          <a:bodyPr wrap="square" lIns="0" tIns="0" rIns="0" bIns="0" rtlCol="0" anchor="t"/>
          <a:lstStyle/>
          <a:p>
            <a:pPr marL="0" indent="0">
              <a:buNone/>
            </a:pPr>
            <a:r>
              <a:rPr lang="en-US" sz="1400" dirty="0">
                <a:solidFill>
                  <a:schemeClr val="bg2"/>
                </a:solidFill>
              </a:rPr>
              <a:t>Itemized thermal receipt</a:t>
            </a:r>
            <a:endParaRPr lang="en-US" sz="1400" dirty="0"/>
          </a:p>
        </p:txBody>
      </p:sp>
      <p:sp>
        <p:nvSpPr>
          <p:cNvPr id="37"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Five Measurable Goals</a:t>
            </a:r>
            <a:endParaRPr lang="en-US" sz="3400" dirty="0"/>
          </a:p>
        </p:txBody>
      </p:sp>
      <p:sp>
        <p:nvSpPr>
          <p:cNvPr id="3" name="shape-88"/>
          <p:cNvSpPr/>
          <p:nvPr/>
        </p:nvSpPr>
        <p:spPr>
          <a:xfrm>
            <a:off x="548640" y="1325880"/>
            <a:ext cx="2029968" cy="3291840"/>
          </a:xfrm>
          <a:prstGeom prst="roundRect">
            <a:avLst>
              <a:gd name="adj" fmla="val 4505"/>
            </a:avLst>
          </a:prstGeom>
          <a:solidFill>
            <a:schemeClr val="bg2"/>
          </a:solidFill>
          <a:ln/>
        </p:spPr>
      </p:sp>
      <p:sp>
        <p:nvSpPr>
          <p:cNvPr id="4" name="text-89"/>
          <p:cNvSpPr txBox="1"/>
          <p:nvPr/>
        </p:nvSpPr>
        <p:spPr>
          <a:xfrm>
            <a:off x="685800" y="1645920"/>
            <a:ext cx="1783080" cy="731520"/>
          </a:xfrm>
          <a:prstGeom prst="rect">
            <a:avLst/>
          </a:prstGeom>
          <a:noFill/>
          <a:ln/>
        </p:spPr>
        <p:txBody>
          <a:bodyPr wrap="square" lIns="0" tIns="0" rIns="0" bIns="0" rtlCol="0" anchor="ctr"/>
          <a:lstStyle/>
          <a:p>
            <a:pPr marL="0" indent="0">
              <a:buNone/>
            </a:pPr>
            <a:r>
              <a:rPr lang="en-US" sz="3200" b="1" dirty="0">
                <a:solidFill>
                  <a:schemeClr val="tx2"/>
                </a:solidFill>
                <a:latin typeface="+mj-lt" pitchFamily="34" charset="0"/>
                <a:ea typeface="+mj-lt" pitchFamily="34" charset="-122"/>
                <a:cs typeface="+mj-lt" pitchFamily="34" charset="-120"/>
              </a:rPr>
              <a:t>90%</a:t>
            </a:r>
            <a:endParaRPr lang="en-US" sz="3200" dirty="0"/>
          </a:p>
        </p:txBody>
      </p:sp>
      <p:sp>
        <p:nvSpPr>
          <p:cNvPr id="5" name="text-90"/>
          <p:cNvSpPr txBox="1"/>
          <p:nvPr/>
        </p:nvSpPr>
        <p:spPr>
          <a:xfrm>
            <a:off x="685800" y="2606040"/>
            <a:ext cx="1783080" cy="640080"/>
          </a:xfrm>
          <a:prstGeom prst="rect">
            <a:avLst/>
          </a:prstGeom>
          <a:noFill/>
          <a:ln/>
        </p:spPr>
        <p:txBody>
          <a:bodyPr wrap="square" lIns="0" tIns="0" rIns="0" bIns="0" rtlCol="0" anchor="t"/>
          <a:lstStyle/>
          <a:p>
            <a:pPr marL="0" indent="0">
              <a:buNone/>
            </a:pPr>
            <a:r>
              <a:rPr lang="en-US" sz="1800" b="1" dirty="0">
                <a:solidFill>
                  <a:schemeClr val="tx1"/>
                </a:solidFill>
              </a:rPr>
              <a:t>Faster issuance</a:t>
            </a:r>
            <a:endParaRPr lang="en-US" sz="1800" dirty="0"/>
          </a:p>
        </p:txBody>
      </p:sp>
      <p:sp>
        <p:nvSpPr>
          <p:cNvPr id="6" name="text-91"/>
          <p:cNvSpPr txBox="1"/>
          <p:nvPr/>
        </p:nvSpPr>
        <p:spPr>
          <a:xfrm>
            <a:off x="685800" y="3291840"/>
            <a:ext cx="1783080" cy="1097280"/>
          </a:xfrm>
          <a:prstGeom prst="rect">
            <a:avLst/>
          </a:prstGeom>
          <a:noFill/>
          <a:ln/>
        </p:spPr>
        <p:txBody>
          <a:bodyPr wrap="square" lIns="0" tIns="0" rIns="0" bIns="0" rtlCol="0" anchor="t"/>
          <a:lstStyle/>
          <a:p>
            <a:pPr marL="0" indent="0">
              <a:buNone/>
            </a:pPr>
            <a:r>
              <a:rPr lang="en-US" sz="1600" dirty="0">
                <a:solidFill>
                  <a:schemeClr val="accent6"/>
                </a:solidFill>
              </a:rPr>
              <a:t>8–12 min down to under 60 s</a:t>
            </a:r>
            <a:endParaRPr lang="en-US" sz="1600" dirty="0"/>
          </a:p>
        </p:txBody>
      </p:sp>
      <p:sp>
        <p:nvSpPr>
          <p:cNvPr id="7" name="shape-92"/>
          <p:cNvSpPr/>
          <p:nvPr/>
        </p:nvSpPr>
        <p:spPr>
          <a:xfrm>
            <a:off x="2807208" y="1325880"/>
            <a:ext cx="2029968" cy="3291840"/>
          </a:xfrm>
          <a:prstGeom prst="roundRect">
            <a:avLst>
              <a:gd name="adj" fmla="val 4505"/>
            </a:avLst>
          </a:prstGeom>
          <a:solidFill>
            <a:schemeClr val="bg2"/>
          </a:solidFill>
          <a:ln/>
        </p:spPr>
      </p:sp>
      <p:sp>
        <p:nvSpPr>
          <p:cNvPr id="8" name="text-93"/>
          <p:cNvSpPr txBox="1"/>
          <p:nvPr/>
        </p:nvSpPr>
        <p:spPr>
          <a:xfrm>
            <a:off x="2944368" y="1645920"/>
            <a:ext cx="1783080" cy="731520"/>
          </a:xfrm>
          <a:prstGeom prst="rect">
            <a:avLst/>
          </a:prstGeom>
          <a:noFill/>
          <a:ln/>
        </p:spPr>
        <p:txBody>
          <a:bodyPr wrap="square" lIns="0" tIns="0" rIns="0" bIns="0" rtlCol="0" anchor="ctr"/>
          <a:lstStyle/>
          <a:p>
            <a:pPr marL="0" indent="0">
              <a:buNone/>
            </a:pPr>
            <a:r>
              <a:rPr lang="en-US" sz="3200" b="1" dirty="0">
                <a:solidFill>
                  <a:schemeClr val="tx2"/>
                </a:solidFill>
                <a:latin typeface="+mj-lt" pitchFamily="34" charset="0"/>
                <a:ea typeface="+mj-lt" pitchFamily="34" charset="-122"/>
                <a:cs typeface="+mj-lt" pitchFamily="34" charset="-120"/>
              </a:rPr>
              <a:t>&lt;500 ms</a:t>
            </a:r>
            <a:endParaRPr lang="en-US" sz="3200" dirty="0"/>
          </a:p>
        </p:txBody>
      </p:sp>
      <p:sp>
        <p:nvSpPr>
          <p:cNvPr id="9" name="text-94"/>
          <p:cNvSpPr txBox="1"/>
          <p:nvPr/>
        </p:nvSpPr>
        <p:spPr>
          <a:xfrm>
            <a:off x="2944368" y="2606040"/>
            <a:ext cx="1783080" cy="640080"/>
          </a:xfrm>
          <a:prstGeom prst="rect">
            <a:avLst/>
          </a:prstGeom>
          <a:noFill/>
          <a:ln/>
        </p:spPr>
        <p:txBody>
          <a:bodyPr wrap="square" lIns="0" tIns="0" rIns="0" bIns="0" rtlCol="0" anchor="t"/>
          <a:lstStyle/>
          <a:p>
            <a:pPr marL="0" indent="0">
              <a:buNone/>
            </a:pPr>
            <a:r>
              <a:rPr lang="en-US" sz="1800" b="1" dirty="0">
                <a:solidFill>
                  <a:schemeClr val="tx1"/>
                </a:solidFill>
              </a:rPr>
              <a:t>Screening time</a:t>
            </a:r>
            <a:endParaRPr lang="en-US" sz="1800" dirty="0"/>
          </a:p>
        </p:txBody>
      </p:sp>
      <p:sp>
        <p:nvSpPr>
          <p:cNvPr id="10" name="text-95"/>
          <p:cNvSpPr txBox="1"/>
          <p:nvPr/>
        </p:nvSpPr>
        <p:spPr>
          <a:xfrm>
            <a:off x="2944368" y="3291840"/>
            <a:ext cx="1783080" cy="1097280"/>
          </a:xfrm>
          <a:prstGeom prst="rect">
            <a:avLst/>
          </a:prstGeom>
          <a:noFill/>
          <a:ln/>
        </p:spPr>
        <p:txBody>
          <a:bodyPr wrap="square" lIns="0" tIns="0" rIns="0" bIns="0" rtlCol="0" anchor="t"/>
          <a:lstStyle/>
          <a:p>
            <a:pPr marL="0" indent="0">
              <a:buNone/>
            </a:pPr>
            <a:r>
              <a:rPr lang="en-US" sz="1600" dirty="0">
                <a:solidFill>
                  <a:schemeClr val="accent6"/>
                </a:solidFill>
              </a:rPr>
              <a:t>Plates, licenses and warrants</a:t>
            </a:r>
            <a:endParaRPr lang="en-US" sz="1600" dirty="0"/>
          </a:p>
        </p:txBody>
      </p:sp>
      <p:sp>
        <p:nvSpPr>
          <p:cNvPr id="11" name="shape-96"/>
          <p:cNvSpPr/>
          <p:nvPr/>
        </p:nvSpPr>
        <p:spPr>
          <a:xfrm>
            <a:off x="5065776" y="1325880"/>
            <a:ext cx="2029968" cy="3291840"/>
          </a:xfrm>
          <a:prstGeom prst="roundRect">
            <a:avLst>
              <a:gd name="adj" fmla="val 4505"/>
            </a:avLst>
          </a:prstGeom>
          <a:solidFill>
            <a:schemeClr val="bg2"/>
          </a:solidFill>
          <a:ln/>
        </p:spPr>
      </p:sp>
      <p:sp>
        <p:nvSpPr>
          <p:cNvPr id="12" name="text-97"/>
          <p:cNvSpPr txBox="1"/>
          <p:nvPr/>
        </p:nvSpPr>
        <p:spPr>
          <a:xfrm>
            <a:off x="5202936" y="1645920"/>
            <a:ext cx="1783080" cy="731520"/>
          </a:xfrm>
          <a:prstGeom prst="rect">
            <a:avLst/>
          </a:prstGeom>
          <a:noFill/>
          <a:ln/>
        </p:spPr>
        <p:txBody>
          <a:bodyPr wrap="square" lIns="0" tIns="0" rIns="0" bIns="0" rtlCol="0" anchor="ctr"/>
          <a:lstStyle/>
          <a:p>
            <a:pPr marL="0" indent="0">
              <a:buNone/>
            </a:pPr>
            <a:r>
              <a:rPr lang="en-US" sz="3200" b="1" dirty="0">
                <a:solidFill>
                  <a:schemeClr val="tx2"/>
                </a:solidFill>
                <a:latin typeface="+mj-lt" pitchFamily="34" charset="0"/>
                <a:ea typeface="+mj-lt" pitchFamily="34" charset="-122"/>
                <a:cs typeface="+mj-lt" pitchFamily="34" charset="-120"/>
              </a:rPr>
              <a:t>0</a:t>
            </a:r>
            <a:endParaRPr lang="en-US" sz="3200" dirty="0"/>
          </a:p>
        </p:txBody>
      </p:sp>
      <p:sp>
        <p:nvSpPr>
          <p:cNvPr id="13" name="text-98"/>
          <p:cNvSpPr txBox="1"/>
          <p:nvPr/>
        </p:nvSpPr>
        <p:spPr>
          <a:xfrm>
            <a:off x="5202936" y="2606040"/>
            <a:ext cx="1783080" cy="640080"/>
          </a:xfrm>
          <a:prstGeom prst="rect">
            <a:avLst/>
          </a:prstGeom>
          <a:noFill/>
          <a:ln/>
        </p:spPr>
        <p:txBody>
          <a:bodyPr wrap="square" lIns="0" tIns="0" rIns="0" bIns="0" rtlCol="0" anchor="t"/>
          <a:lstStyle/>
          <a:p>
            <a:pPr marL="0" indent="0">
              <a:buNone/>
            </a:pPr>
            <a:r>
              <a:rPr lang="en-US" sz="1800" b="1" dirty="0">
                <a:solidFill>
                  <a:schemeClr val="tx1"/>
                </a:solidFill>
              </a:rPr>
              <a:t>Fine discrepancies</a:t>
            </a:r>
            <a:endParaRPr lang="en-US" sz="1800" dirty="0"/>
          </a:p>
        </p:txBody>
      </p:sp>
      <p:sp>
        <p:nvSpPr>
          <p:cNvPr id="14" name="text-99"/>
          <p:cNvSpPr txBox="1"/>
          <p:nvPr/>
        </p:nvSpPr>
        <p:spPr>
          <a:xfrm>
            <a:off x="5202936" y="3291840"/>
            <a:ext cx="1783080" cy="1097280"/>
          </a:xfrm>
          <a:prstGeom prst="rect">
            <a:avLst/>
          </a:prstGeom>
          <a:noFill/>
          <a:ln/>
        </p:spPr>
        <p:txBody>
          <a:bodyPr wrap="square" lIns="0" tIns="0" rIns="0" bIns="0" rtlCol="0" anchor="t"/>
          <a:lstStyle/>
          <a:p>
            <a:pPr marL="0" indent="0">
              <a:buNone/>
            </a:pPr>
            <a:r>
              <a:rPr lang="en-US" sz="1600" dirty="0">
                <a:solidFill>
                  <a:schemeClr val="accent6"/>
                </a:solidFill>
              </a:rPr>
              <a:t>Per LTO JAO 2014-01</a:t>
            </a:r>
            <a:endParaRPr lang="en-US" sz="1600" dirty="0"/>
          </a:p>
        </p:txBody>
      </p:sp>
      <p:sp>
        <p:nvSpPr>
          <p:cNvPr id="15" name="shape-100"/>
          <p:cNvSpPr/>
          <p:nvPr/>
        </p:nvSpPr>
        <p:spPr>
          <a:xfrm>
            <a:off x="7324344" y="1325880"/>
            <a:ext cx="2029968" cy="3291840"/>
          </a:xfrm>
          <a:prstGeom prst="roundRect">
            <a:avLst>
              <a:gd name="adj" fmla="val 4505"/>
            </a:avLst>
          </a:prstGeom>
          <a:solidFill>
            <a:schemeClr val="bg2"/>
          </a:solidFill>
          <a:ln/>
        </p:spPr>
      </p:sp>
      <p:sp>
        <p:nvSpPr>
          <p:cNvPr id="16" name="text-101"/>
          <p:cNvSpPr txBox="1"/>
          <p:nvPr/>
        </p:nvSpPr>
        <p:spPr>
          <a:xfrm>
            <a:off x="7461504" y="1645920"/>
            <a:ext cx="1783080" cy="731520"/>
          </a:xfrm>
          <a:prstGeom prst="rect">
            <a:avLst/>
          </a:prstGeom>
          <a:noFill/>
          <a:ln/>
        </p:spPr>
        <p:txBody>
          <a:bodyPr wrap="square" lIns="0" tIns="0" rIns="0" bIns="0" rtlCol="0" anchor="ctr"/>
          <a:lstStyle/>
          <a:p>
            <a:pPr marL="0" indent="0">
              <a:buNone/>
            </a:pPr>
            <a:r>
              <a:rPr lang="en-US" sz="3200" b="1" dirty="0">
                <a:solidFill>
                  <a:schemeClr val="tx2"/>
                </a:solidFill>
                <a:latin typeface="+mj-lt" pitchFamily="34" charset="0"/>
                <a:ea typeface="+mj-lt" pitchFamily="34" charset="-122"/>
                <a:cs typeface="+mj-lt" pitchFamily="34" charset="-120"/>
              </a:rPr>
              <a:t>100%</a:t>
            </a:r>
            <a:endParaRPr lang="en-US" sz="3200" dirty="0"/>
          </a:p>
        </p:txBody>
      </p:sp>
      <p:sp>
        <p:nvSpPr>
          <p:cNvPr id="17" name="text-102"/>
          <p:cNvSpPr txBox="1"/>
          <p:nvPr/>
        </p:nvSpPr>
        <p:spPr>
          <a:xfrm>
            <a:off x="7461504" y="2606040"/>
            <a:ext cx="1783080" cy="640080"/>
          </a:xfrm>
          <a:prstGeom prst="rect">
            <a:avLst/>
          </a:prstGeom>
          <a:noFill/>
          <a:ln/>
        </p:spPr>
        <p:txBody>
          <a:bodyPr wrap="square" lIns="0" tIns="0" rIns="0" bIns="0" rtlCol="0" anchor="t"/>
          <a:lstStyle/>
          <a:p>
            <a:pPr marL="0" indent="0">
              <a:buNone/>
            </a:pPr>
            <a:r>
              <a:rPr lang="en-US" sz="1800" b="1" dirty="0">
                <a:solidFill>
                  <a:schemeClr val="tx1"/>
                </a:solidFill>
              </a:rPr>
              <a:t>Offline-ready</a:t>
            </a:r>
            <a:endParaRPr lang="en-US" sz="1800" dirty="0"/>
          </a:p>
        </p:txBody>
      </p:sp>
      <p:sp>
        <p:nvSpPr>
          <p:cNvPr id="18" name="text-103"/>
          <p:cNvSpPr txBox="1"/>
          <p:nvPr/>
        </p:nvSpPr>
        <p:spPr>
          <a:xfrm>
            <a:off x="7461504" y="3291840"/>
            <a:ext cx="1783080" cy="1097280"/>
          </a:xfrm>
          <a:prstGeom prst="rect">
            <a:avLst/>
          </a:prstGeom>
          <a:noFill/>
          <a:ln/>
        </p:spPr>
        <p:txBody>
          <a:bodyPr wrap="square" lIns="0" tIns="0" rIns="0" bIns="0" rtlCol="0" anchor="t"/>
          <a:lstStyle/>
          <a:p>
            <a:pPr marL="0" indent="0">
              <a:buNone/>
            </a:pPr>
            <a:r>
              <a:rPr lang="en-US" sz="1600" dirty="0">
                <a:solidFill>
                  <a:schemeClr val="accent6"/>
                </a:solidFill>
              </a:rPr>
              <a:t>Embedded SQLite, no data loss</a:t>
            </a:r>
            <a:endParaRPr lang="en-US" sz="1600" dirty="0"/>
          </a:p>
        </p:txBody>
      </p:sp>
      <p:sp>
        <p:nvSpPr>
          <p:cNvPr id="19" name="shape-104"/>
          <p:cNvSpPr/>
          <p:nvPr/>
        </p:nvSpPr>
        <p:spPr>
          <a:xfrm>
            <a:off x="9582912" y="1325880"/>
            <a:ext cx="2029968" cy="3291840"/>
          </a:xfrm>
          <a:prstGeom prst="roundRect">
            <a:avLst>
              <a:gd name="adj" fmla="val 4505"/>
            </a:avLst>
          </a:prstGeom>
          <a:solidFill>
            <a:schemeClr val="bg2"/>
          </a:solidFill>
          <a:ln/>
        </p:spPr>
      </p:sp>
      <p:sp>
        <p:nvSpPr>
          <p:cNvPr id="20" name="text-105"/>
          <p:cNvSpPr txBox="1"/>
          <p:nvPr/>
        </p:nvSpPr>
        <p:spPr>
          <a:xfrm>
            <a:off x="9720072" y="1645920"/>
            <a:ext cx="1783080" cy="731520"/>
          </a:xfrm>
          <a:prstGeom prst="rect">
            <a:avLst/>
          </a:prstGeom>
          <a:noFill/>
          <a:ln/>
        </p:spPr>
        <p:txBody>
          <a:bodyPr wrap="square" lIns="0" tIns="0" rIns="0" bIns="0" rtlCol="0" anchor="ctr"/>
          <a:lstStyle/>
          <a:p>
            <a:pPr marL="0" indent="0">
              <a:buNone/>
            </a:pPr>
            <a:r>
              <a:rPr lang="en-US" sz="3200" b="1" dirty="0">
                <a:solidFill>
                  <a:schemeClr val="tx2"/>
                </a:solidFill>
                <a:latin typeface="+mj-lt" pitchFamily="34" charset="0"/>
                <a:ea typeface="+mj-lt" pitchFamily="34" charset="-122"/>
                <a:cs typeface="+mj-lt" pitchFamily="34" charset="-120"/>
              </a:rPr>
              <a:t>100%</a:t>
            </a:r>
            <a:endParaRPr lang="en-US" sz="3200" dirty="0"/>
          </a:p>
        </p:txBody>
      </p:sp>
      <p:sp>
        <p:nvSpPr>
          <p:cNvPr id="21" name="text-106"/>
          <p:cNvSpPr txBox="1"/>
          <p:nvPr/>
        </p:nvSpPr>
        <p:spPr>
          <a:xfrm>
            <a:off x="9720072" y="2606040"/>
            <a:ext cx="1783080" cy="640080"/>
          </a:xfrm>
          <a:prstGeom prst="rect">
            <a:avLst/>
          </a:prstGeom>
          <a:noFill/>
          <a:ln/>
        </p:spPr>
        <p:txBody>
          <a:bodyPr wrap="square" lIns="0" tIns="0" rIns="0" bIns="0" rtlCol="0" anchor="t"/>
          <a:lstStyle/>
          <a:p>
            <a:pPr marL="0" indent="0">
              <a:buNone/>
            </a:pPr>
            <a:r>
              <a:rPr lang="en-US" sz="1800" b="1" dirty="0">
                <a:solidFill>
                  <a:schemeClr val="tx1"/>
                </a:solidFill>
              </a:rPr>
              <a:t>Auditable</a:t>
            </a:r>
            <a:endParaRPr lang="en-US" sz="1800" dirty="0"/>
          </a:p>
        </p:txBody>
      </p:sp>
      <p:sp>
        <p:nvSpPr>
          <p:cNvPr id="22" name="text-107"/>
          <p:cNvSpPr txBox="1"/>
          <p:nvPr/>
        </p:nvSpPr>
        <p:spPr>
          <a:xfrm>
            <a:off x="9720072" y="3291840"/>
            <a:ext cx="1783080" cy="1097280"/>
          </a:xfrm>
          <a:prstGeom prst="rect">
            <a:avLst/>
          </a:prstGeom>
          <a:noFill/>
          <a:ln/>
        </p:spPr>
        <p:txBody>
          <a:bodyPr wrap="square" lIns="0" tIns="0" rIns="0" bIns="0" rtlCol="0" anchor="t"/>
          <a:lstStyle/>
          <a:p>
            <a:r>
              <a:rPr lang="en-US" sz="1600" dirty="0">
                <a:solidFill>
                  <a:schemeClr val="accent6"/>
                </a:solidFill>
              </a:rPr>
              <a:t>Every citation tracks verified settlement status for treasury audit</a:t>
            </a:r>
            <a:endParaRPr lang="en-US" sz="1600" dirty="0"/>
          </a:p>
        </p:txBody>
      </p:sp>
      <p:sp>
        <p:nvSpPr>
          <p:cNvPr id="23" name="shape-108"/>
          <p:cNvSpPr/>
          <p:nvPr/>
        </p:nvSpPr>
        <p:spPr>
          <a:xfrm>
            <a:off x="548640" y="4937760"/>
            <a:ext cx="11064240" cy="822960"/>
          </a:xfrm>
          <a:prstGeom prst="roundRect">
            <a:avLst>
              <a:gd name="adj" fmla="val 11111"/>
            </a:avLst>
          </a:prstGeom>
          <a:solidFill>
            <a:schemeClr val="tx2"/>
          </a:solidFill>
          <a:ln/>
        </p:spPr>
      </p:sp>
      <p:sp>
        <p:nvSpPr>
          <p:cNvPr id="24" name="text-109"/>
          <p:cNvSpPr txBox="1"/>
          <p:nvPr/>
        </p:nvSpPr>
        <p:spPr>
          <a:xfrm>
            <a:off x="822960" y="4937760"/>
            <a:ext cx="10515600" cy="822960"/>
          </a:xfrm>
          <a:prstGeom prst="rect">
            <a:avLst/>
          </a:prstGeom>
          <a:noFill/>
          <a:ln/>
        </p:spPr>
        <p:txBody>
          <a:bodyPr wrap="square" lIns="0" tIns="0" rIns="0" bIns="0" rtlCol="0" anchor="ctr"/>
          <a:lstStyle/>
          <a:p>
            <a:pPr marL="0" indent="0">
              <a:buNone/>
            </a:pPr>
            <a:r>
              <a:rPr lang="en-US" sz="1900" b="1" dirty="0">
                <a:solidFill>
                  <a:schemeClr val="bg1"/>
                </a:solidFill>
              </a:rPr>
              <a:t>Met in v2.0-PRO: citation + receipt in under 45 s, and 14 of 14 tests passing.</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Vision vs. Prototype</a:t>
            </a:r>
            <a:endParaRPr lang="en-US" sz="3400" dirty="0"/>
          </a:p>
        </p:txBody>
      </p:sp>
      <p:sp>
        <p:nvSpPr>
          <p:cNvPr id="3" name="shape-110"/>
          <p:cNvSpPr/>
          <p:nvPr/>
        </p:nvSpPr>
        <p:spPr>
          <a:xfrm>
            <a:off x="548640" y="1325880"/>
            <a:ext cx="5029200" cy="3886200"/>
          </a:xfrm>
          <a:prstGeom prst="roundRect">
            <a:avLst>
              <a:gd name="adj" fmla="val 2353"/>
            </a:avLst>
          </a:prstGeom>
          <a:solidFill>
            <a:schemeClr val="bg2"/>
          </a:solidFill>
          <a:ln/>
        </p:spPr>
      </p:sp>
      <p:sp>
        <p:nvSpPr>
          <p:cNvPr id="4" name="text-111"/>
          <p:cNvSpPr txBox="1"/>
          <p:nvPr/>
        </p:nvSpPr>
        <p:spPr>
          <a:xfrm>
            <a:off x="822960" y="1554480"/>
            <a:ext cx="4480560" cy="274320"/>
          </a:xfrm>
          <a:prstGeom prst="rect">
            <a:avLst/>
          </a:prstGeom>
          <a:noFill/>
          <a:ln/>
        </p:spPr>
        <p:txBody>
          <a:bodyPr wrap="square" lIns="0" tIns="0" rIns="0" bIns="0" rtlCol="0" anchor="t"/>
          <a:lstStyle/>
          <a:p>
            <a:pPr marL="0" indent="0">
              <a:buNone/>
            </a:pPr>
            <a:r>
              <a:rPr lang="en-US" sz="1200" b="1" kern="0" spc="100" dirty="0">
                <a:solidFill>
                  <a:schemeClr val="accent2"/>
                </a:solidFill>
              </a:rPr>
              <a:t>TARGET VISION</a:t>
            </a:r>
            <a:endParaRPr lang="en-US" sz="1200" dirty="0"/>
          </a:p>
        </p:txBody>
      </p:sp>
      <p:sp>
        <p:nvSpPr>
          <p:cNvPr id="5" name="text-112"/>
          <p:cNvSpPr txBox="1"/>
          <p:nvPr/>
        </p:nvSpPr>
        <p:spPr>
          <a:xfrm>
            <a:off x="822960" y="1874520"/>
            <a:ext cx="4480560" cy="457200"/>
          </a:xfrm>
          <a:prstGeom prst="rect">
            <a:avLst/>
          </a:prstGeom>
          <a:noFill/>
          <a:ln/>
        </p:spPr>
        <p:txBody>
          <a:bodyPr wrap="square" lIns="0" tIns="0" rIns="0" bIns="0" rtlCol="0" anchor="t"/>
          <a:lstStyle/>
          <a:p>
            <a:pPr marL="0" indent="0">
              <a:buNone/>
            </a:pPr>
            <a:r>
              <a:rPr lang="en-US" sz="2400" b="1" dirty="0">
                <a:solidFill>
                  <a:schemeClr val="tx2"/>
                </a:solidFill>
              </a:rPr>
              <a:t>Multi-station cloud</a:t>
            </a:r>
            <a:endParaRPr lang="en-US" sz="2400" dirty="0"/>
          </a:p>
        </p:txBody>
      </p:sp>
      <p:sp>
        <p:nvSpPr>
          <p:cNvPr id="6" name="text-113"/>
          <p:cNvSpPr txBox="1"/>
          <p:nvPr/>
        </p:nvSpPr>
        <p:spPr>
          <a:xfrm>
            <a:off x="822960" y="2606040"/>
            <a:ext cx="4480560" cy="24688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One API for stations, HQs and patrols</a:t>
            </a:r>
            <a:endParaRPr lang="en-US" sz="1800" dirty="0"/>
          </a:p>
          <a:p>
            <a:pPr marL="342900" indent="-342900">
              <a:spcAft>
                <a:spcPts val="1200"/>
              </a:spcAft>
              <a:buSzPct val="100000"/>
              <a:buChar char="•"/>
            </a:pPr>
            <a:r>
              <a:rPr lang="en-US" sz="1800" dirty="0">
                <a:solidFill>
                  <a:schemeClr val="tx1"/>
                </a:solidFill>
              </a:rPr>
              <a:t>PostgreSQL cluster with replicas</a:t>
            </a:r>
            <a:endParaRPr lang="en-US" sz="1800" dirty="0"/>
          </a:p>
          <a:p>
            <a:pPr marL="342900" indent="-342900">
              <a:spcAft>
                <a:spcPts val="1200"/>
              </a:spcAft>
              <a:buSzPct val="100000"/>
              <a:buChar char="•"/>
            </a:pPr>
            <a:r>
              <a:rPr lang="en-US" sz="1800" dirty="0">
                <a:solidFill>
                  <a:schemeClr val="tx1"/>
                </a:solidFill>
              </a:rPr>
              <a:t>Live alert push (WebSockets / SSE)</a:t>
            </a:r>
            <a:endParaRPr lang="en-US" sz="1800" dirty="0"/>
          </a:p>
          <a:p>
            <a:pPr marL="342900" indent="-342900">
              <a:spcAft>
                <a:spcPts val="1200"/>
              </a:spcAft>
              <a:buSzPct val="100000"/>
              <a:buChar char="•"/>
            </a:pPr>
            <a:r>
              <a:rPr lang="en-US" sz="1800" dirty="0">
                <a:solidFill>
                  <a:schemeClr val="tx1"/>
                </a:solidFill>
              </a:rPr>
              <a:t>LTO, HPG and payment gateways</a:t>
            </a:r>
            <a:endParaRPr lang="en-US" sz="1800" dirty="0"/>
          </a:p>
        </p:txBody>
      </p:sp>
      <p:sp>
        <p:nvSpPr>
          <p:cNvPr id="7" name="arrow-114"/>
          <p:cNvSpPr/>
          <p:nvPr/>
        </p:nvSpPr>
        <p:spPr>
          <a:xfrm>
            <a:off x="5669280" y="3063240"/>
            <a:ext cx="822960" cy="502920"/>
          </a:xfrm>
          <a:prstGeom prst="leftArrow">
            <a:avLst/>
          </a:prstGeom>
          <a:solidFill>
            <a:schemeClr val="accent1"/>
          </a:solidFill>
          <a:ln/>
        </p:spPr>
      </p:sp>
      <p:sp>
        <p:nvSpPr>
          <p:cNvPr id="8" name="shape-115"/>
          <p:cNvSpPr/>
          <p:nvPr/>
        </p:nvSpPr>
        <p:spPr>
          <a:xfrm>
            <a:off x="6611112" y="1325880"/>
            <a:ext cx="5029200" cy="3886200"/>
          </a:xfrm>
          <a:prstGeom prst="roundRect">
            <a:avLst>
              <a:gd name="adj" fmla="val 2353"/>
            </a:avLst>
          </a:prstGeom>
          <a:solidFill>
            <a:schemeClr val="tx2"/>
          </a:solidFill>
          <a:ln/>
        </p:spPr>
      </p:sp>
      <p:sp>
        <p:nvSpPr>
          <p:cNvPr id="9" name="text-116"/>
          <p:cNvSpPr txBox="1"/>
          <p:nvPr/>
        </p:nvSpPr>
        <p:spPr>
          <a:xfrm>
            <a:off x="6885432" y="1554480"/>
            <a:ext cx="44805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BUILT FOR THIS DEFENSE</a:t>
            </a:r>
            <a:endParaRPr lang="en-US" sz="1200" dirty="0"/>
          </a:p>
        </p:txBody>
      </p:sp>
      <p:sp>
        <p:nvSpPr>
          <p:cNvPr id="10" name="text-117"/>
          <p:cNvSpPr txBox="1"/>
          <p:nvPr/>
        </p:nvSpPr>
        <p:spPr>
          <a:xfrm>
            <a:off x="6885432" y="1874520"/>
            <a:ext cx="4480560" cy="457200"/>
          </a:xfrm>
          <a:prstGeom prst="rect">
            <a:avLst/>
          </a:prstGeom>
          <a:noFill/>
          <a:ln/>
        </p:spPr>
        <p:txBody>
          <a:bodyPr wrap="square" lIns="0" tIns="0" rIns="0" bIns="0" rtlCol="0" anchor="t"/>
          <a:lstStyle/>
          <a:p>
            <a:pPr marL="0" indent="0">
              <a:buNone/>
            </a:pPr>
            <a:r>
              <a:rPr lang="en-US" sz="2400" b="1" dirty="0">
                <a:solidFill>
                  <a:schemeClr val="bg1"/>
                </a:solidFill>
              </a:rPr>
              <a:t>Self-contained edge app</a:t>
            </a:r>
            <a:endParaRPr lang="en-US" sz="2400" dirty="0"/>
          </a:p>
        </p:txBody>
      </p:sp>
      <p:sp>
        <p:nvSpPr>
          <p:cNvPr id="11" name="text-118"/>
          <p:cNvSpPr txBox="1"/>
          <p:nvPr/>
        </p:nvSpPr>
        <p:spPr>
          <a:xfrm>
            <a:off x="6885432" y="2606040"/>
            <a:ext cx="4480560" cy="24688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Node.js + Express at the station</a:t>
            </a:r>
            <a:endParaRPr lang="en-US" sz="1800" dirty="0"/>
          </a:p>
          <a:p>
            <a:pPr marL="342900" indent="-342900">
              <a:spcAft>
                <a:spcPts val="1200"/>
              </a:spcAft>
              <a:buSzPct val="100000"/>
              <a:buChar char="•"/>
            </a:pPr>
            <a:r>
              <a:rPr lang="en-US" sz="1800" dirty="0">
                <a:solidFill>
                  <a:schemeClr val="bg1"/>
                </a:solidFill>
              </a:rPr>
              <a:t>Embedded SQLite file</a:t>
            </a:r>
            <a:endParaRPr lang="en-US" sz="1800" dirty="0"/>
          </a:p>
          <a:p>
            <a:pPr marL="342900" indent="-342900">
              <a:spcAft>
                <a:spcPts val="1200"/>
              </a:spcAft>
              <a:buSzPct val="100000"/>
              <a:buChar char="•"/>
            </a:pPr>
            <a:r>
              <a:rPr lang="en-US" sz="1800" dirty="0">
                <a:solidFill>
                  <a:schemeClr val="bg1"/>
                </a:solidFill>
              </a:rPr>
              <a:t>Rule-based screening data</a:t>
            </a:r>
            <a:endParaRPr lang="en-US" sz="1800" dirty="0"/>
          </a:p>
          <a:p>
            <a:pPr marL="342900" indent="-342900">
              <a:spcAft>
                <a:spcPts val="1200"/>
              </a:spcAft>
              <a:buSzPct val="100000"/>
              <a:buChar char="•"/>
            </a:pPr>
            <a:r>
              <a:rPr lang="en-US" sz="1800" dirty="0">
                <a:solidFill>
                  <a:schemeClr val="bg1"/>
                </a:solidFill>
              </a:rPr>
              <a:t>58 / 80 mm thermal receipts</a:t>
            </a:r>
            <a:endParaRPr lang="en-US" sz="1800" dirty="0"/>
          </a:p>
          <a:p>
            <a:pPr marL="342900" indent="-342900">
              <a:spcAft>
                <a:spcPts val="1200"/>
              </a:spcAft>
              <a:buSzPct val="100000"/>
              <a:buChar char="•"/>
            </a:pPr>
            <a:r>
              <a:rPr lang="en-US" sz="1800" dirty="0">
                <a:solidFill>
                  <a:schemeClr val="bg1"/>
                </a:solidFill>
              </a:rPr>
              <a:t>One-click Start-CVPRMS.bat</a:t>
            </a:r>
            <a:endParaRPr lang="en-US" sz="1800" dirty="0"/>
          </a:p>
        </p:txBody>
      </p:sp>
      <p:sp>
        <p:nvSpPr>
          <p:cNvPr id="12" name="shape-119"/>
          <p:cNvSpPr/>
          <p:nvPr/>
        </p:nvSpPr>
        <p:spPr>
          <a:xfrm>
            <a:off x="548640" y="5440680"/>
            <a:ext cx="11091672" cy="731520"/>
          </a:xfrm>
          <a:prstGeom prst="roundRect">
            <a:avLst>
              <a:gd name="adj" fmla="val 12500"/>
            </a:avLst>
          </a:prstGeom>
          <a:solidFill>
            <a:schemeClr val="accent1"/>
          </a:solidFill>
          <a:ln/>
        </p:spPr>
      </p:sp>
      <p:sp>
        <p:nvSpPr>
          <p:cNvPr id="13" name="text-120"/>
          <p:cNvSpPr txBox="1"/>
          <p:nvPr/>
        </p:nvSpPr>
        <p:spPr>
          <a:xfrm>
            <a:off x="822960" y="5440680"/>
            <a:ext cx="10515600" cy="731520"/>
          </a:xfrm>
          <a:prstGeom prst="rect">
            <a:avLst/>
          </a:prstGeom>
          <a:noFill/>
          <a:ln/>
        </p:spPr>
        <p:txBody>
          <a:bodyPr wrap="square" lIns="0" tIns="0" rIns="0" bIns="0" rtlCol="0" anchor="ctr"/>
          <a:lstStyle/>
          <a:p>
            <a:pPr marL="0" indent="0">
              <a:buNone/>
            </a:pPr>
            <a:r>
              <a:rPr lang="en-US" sz="1900" b="1" dirty="0">
                <a:solidFill>
                  <a:schemeClr val="tx1"/>
                </a:solidFill>
              </a:rPr>
              <a:t>Why edge? Time constraints, plus zero downtime and a predictable demo. A cloud platform with live sync is our target vision, while edge deployment guarantees 100% field uptime today.</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Requirements → Code → Tests</a:t>
            </a:r>
            <a:endParaRPr lang="en-US" sz="3400" dirty="0"/>
          </a:p>
        </p:txBody>
      </p:sp>
      <p:graphicFrame>
        <p:nvGraphicFramePr>
          <p:cNvPr id="7" name="table-121"/>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3657600"/>
        </p:xfrm>
        <a:graphic>
          <a:graphicData uri="http://schemas.openxmlformats.org/drawingml/2006/table">
            <a:tbl>
              <a:tblPr/>
              <a:tblGrid>
                <a:gridCol w="100584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57200">
                <a:tc>
                  <a:txBody>
                    <a:bodyPr/>
                    <a:lstStyle/>
                    <a:p>
                      <a:pPr marL="0" indent="0">
                        <a:buNone/>
                      </a:pPr>
                      <a:r>
                        <a:rPr lang="en-US" sz="1400" b="1" dirty="0">
                          <a:solidFill>
                            <a:schemeClr val="bg1"/>
                          </a:solidFill>
                        </a:rPr>
                        <a:t>REQ</a:t>
                      </a:r>
                      <a:endParaRPr lang="en-US" sz="14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REQUIREMENT</a:t>
                      </a:r>
                      <a:endParaRPr lang="en-US" sz="14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IMPLEMENTED IN</a:t>
                      </a:r>
                      <a:endParaRPr lang="en-US" sz="14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VERIFIED BY TEST</a:t>
                      </a:r>
                      <a:endParaRPr lang="en-US" sz="14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40080">
                <a:tc>
                  <a:txBody>
                    <a:bodyPr/>
                    <a:lstStyle/>
                    <a:p>
                      <a:pPr marL="0" indent="0">
                        <a:buNone/>
                      </a:pPr>
                      <a:r>
                        <a:rPr lang="en-US" sz="1500" b="1" dirty="0">
                          <a:solidFill>
                            <a:schemeClr val="accent2"/>
                          </a:solidFill>
                        </a:rPr>
                        <a:t>FR-01</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Live screening vs. HPG alarms</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assessScreening()</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Flags ALARM and WARNING</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40080">
                <a:tc>
                  <a:txBody>
                    <a:bodyPr/>
                    <a:lstStyle/>
                    <a:p>
                      <a:pPr marL="0" indent="0">
                        <a:buNone/>
                      </a:pPr>
                      <a:r>
                        <a:rPr lang="en-US" sz="1500" b="1" dirty="0">
                          <a:solidFill>
                            <a:schemeClr val="accent2"/>
                          </a:solidFill>
                        </a:rPr>
                        <a:t>FR-02</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Alt-ID for unlicensed drivers</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validateViolationPayload()</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Rejects missing Alt-ID</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40080">
                <a:tc>
                  <a:txBody>
                    <a:bodyPr/>
                    <a:lstStyle/>
                    <a:p>
                      <a:pPr marL="0" indent="0">
                        <a:buNone/>
                      </a:pPr>
                      <a:r>
                        <a:rPr lang="en-US" sz="1500" b="1" dirty="0">
                          <a:solidFill>
                            <a:schemeClr val="accent2"/>
                          </a:solidFill>
                        </a:rPr>
                        <a:t>FR-03</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Statutory fine totaling</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calculateViolationTotal()</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Adds multiple fees</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40080">
                <a:tc>
                  <a:txBody>
                    <a:bodyPr/>
                    <a:lstStyle/>
                    <a:p>
                      <a:pPr marL="0" indent="0">
                        <a:buNone/>
                      </a:pPr>
                      <a:r>
                        <a:rPr lang="en-US" sz="1500" b="1" dirty="0">
                          <a:solidFill>
                            <a:schemeClr val="accent2"/>
                          </a:solidFill>
                        </a:rPr>
                        <a:t>FR-04</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Impound slip required</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validateViolationPayload()</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Blocks Impounded without slip</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40080">
                <a:tc>
                  <a:txBody>
                    <a:bodyPr/>
                    <a:lstStyle/>
                    <a:p>
                      <a:pPr marL="0" indent="0">
                        <a:buNone/>
                      </a:pPr>
                      <a:r>
                        <a:rPr lang="en-US" sz="1500" b="1" dirty="0">
                          <a:solidFill>
                            <a:schemeClr val="accent2"/>
                          </a:solidFill>
                        </a:rPr>
                        <a:t>FR-05</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Settlement status + CSV export</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PATCH /api/violations/:id/status</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Updates; rejects invalid status</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shape-122"/>
          <p:cNvSpPr/>
          <p:nvPr/>
        </p:nvSpPr>
        <p:spPr>
          <a:xfrm>
            <a:off x="548640" y="5440680"/>
            <a:ext cx="11064240" cy="731520"/>
          </a:xfrm>
          <a:prstGeom prst="roundRect">
            <a:avLst>
              <a:gd name="adj" fmla="val 12500"/>
            </a:avLst>
          </a:prstGeom>
          <a:solidFill>
            <a:schemeClr val="bg2"/>
          </a:solidFill>
          <a:ln/>
        </p:spPr>
      </p:sp>
      <p:sp>
        <p:nvSpPr>
          <p:cNvPr id="5" name="text-123"/>
          <p:cNvSpPr txBox="1"/>
          <p:nvPr/>
        </p:nvSpPr>
        <p:spPr>
          <a:xfrm>
            <a:off x="822960" y="5440680"/>
            <a:ext cx="10515600" cy="731520"/>
          </a:xfrm>
          <a:prstGeom prst="rect">
            <a:avLst/>
          </a:prstGeom>
          <a:noFill/>
          <a:ln/>
        </p:spPr>
        <p:txBody>
          <a:bodyPr wrap="square" lIns="0" tIns="0" rIns="0" bIns="0" rtlCol="0" anchor="ctr"/>
          <a:lstStyle/>
          <a:p>
            <a:pPr marL="0" indent="0">
              <a:buNone/>
            </a:pPr>
            <a:r>
              <a:rPr lang="en-US" sz="1900" b="1" dirty="0">
                <a:solidFill>
                  <a:schemeClr val="tx2"/>
                </a:solidFill>
              </a:rPr>
              <a:t>Every requirement maps to a function, a UI element and an automated test.</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Data Flow: Context to Level 1</a:t>
            </a:r>
            <a:endParaRPr lang="en-US" sz="3400" dirty="0"/>
          </a:p>
        </p:txBody>
      </p:sp>
      <p:sp>
        <p:nvSpPr>
          <p:cNvPr id="3" name="frame-124"/>
          <p:cNvSpPr/>
          <p:nvPr/>
        </p:nvSpPr>
        <p:spPr>
          <a:xfrm>
            <a:off x="548640" y="1280160"/>
            <a:ext cx="5350818" cy="3611880"/>
          </a:xfrm>
          <a:prstGeom prst="rect">
            <a:avLst/>
          </a:prstGeom>
          <a:solidFill>
            <a:schemeClr val="bg1"/>
          </a:solidFill>
          <a:ln w="9525">
            <a:solidFill>
              <a:schemeClr val="accent6"/>
            </a:solidFill>
            <a:prstDash val="solid"/>
          </a:ln>
        </p:spPr>
      </p:sp>
      <p:pic>
        <p:nvPicPr>
          <p:cNvPr id="4" name="image-125" descr="Stage 0 context data flow diagram with five external entities"/>
          <p:cNvPicPr>
            <a:picLocks noChangeAspect="1"/>
          </p:cNvPicPr>
          <p:nvPr/>
        </p:nvPicPr>
        <p:blipFill>
          <a:blip r:embed="rId3"/>
          <a:stretch>
            <a:fillRect/>
          </a:stretch>
        </p:blipFill>
        <p:spPr>
          <a:xfrm>
            <a:off x="548640" y="1280160"/>
            <a:ext cx="5350818" cy="3611880"/>
          </a:xfrm>
          <a:prstGeom prst="rect">
            <a:avLst/>
          </a:prstGeom>
        </p:spPr>
      </p:pic>
      <p:sp>
        <p:nvSpPr>
          <p:cNvPr id="5" name="frame-126"/>
          <p:cNvSpPr/>
          <p:nvPr/>
        </p:nvSpPr>
        <p:spPr>
          <a:xfrm>
            <a:off x="6310938" y="1280160"/>
            <a:ext cx="5204619" cy="3611880"/>
          </a:xfrm>
          <a:prstGeom prst="rect">
            <a:avLst/>
          </a:prstGeom>
          <a:solidFill>
            <a:schemeClr val="bg1"/>
          </a:solidFill>
          <a:ln w="9525">
            <a:solidFill>
              <a:schemeClr val="accent6"/>
            </a:solidFill>
            <a:prstDash val="solid"/>
          </a:ln>
        </p:spPr>
      </p:sp>
      <p:pic>
        <p:nvPicPr>
          <p:cNvPr id="6" name="image-127" descr="Level 1 data flow diagram with eight subsystems and four data stores"/>
          <p:cNvPicPr>
            <a:picLocks noChangeAspect="1"/>
          </p:cNvPicPr>
          <p:nvPr/>
        </p:nvPicPr>
        <p:blipFill>
          <a:blip r:embed="rId4"/>
          <a:stretch>
            <a:fillRect/>
          </a:stretch>
        </p:blipFill>
        <p:spPr>
          <a:xfrm>
            <a:off x="6310938" y="1280160"/>
            <a:ext cx="5204619" cy="3611880"/>
          </a:xfrm>
          <a:prstGeom prst="rect">
            <a:avLst/>
          </a:prstGeom>
        </p:spPr>
      </p:pic>
      <p:sp>
        <p:nvSpPr>
          <p:cNvPr id="7" name="text-128"/>
          <p:cNvSpPr txBox="1"/>
          <p:nvPr/>
        </p:nvSpPr>
        <p:spPr>
          <a:xfrm>
            <a:off x="548640" y="5120640"/>
            <a:ext cx="5350818" cy="365760"/>
          </a:xfrm>
          <a:prstGeom prst="rect">
            <a:avLst/>
          </a:prstGeom>
          <a:noFill/>
          <a:ln/>
        </p:spPr>
        <p:txBody>
          <a:bodyPr wrap="square" lIns="0" tIns="0" rIns="0" bIns="0" rtlCol="0" anchor="t"/>
          <a:lstStyle/>
          <a:p>
            <a:pPr marL="0" indent="0">
              <a:buNone/>
            </a:pPr>
            <a:r>
              <a:rPr lang="en-US" sz="2000" b="1" dirty="0">
                <a:solidFill>
                  <a:schemeClr val="tx2"/>
                </a:solidFill>
              </a:rPr>
              <a:t>Context diagram (Stage 0)</a:t>
            </a:r>
            <a:endParaRPr lang="en-US" sz="2000" dirty="0"/>
          </a:p>
        </p:txBody>
      </p:sp>
      <p:sp>
        <p:nvSpPr>
          <p:cNvPr id="8" name="text-129"/>
          <p:cNvSpPr txBox="1"/>
          <p:nvPr/>
        </p:nvSpPr>
        <p:spPr>
          <a:xfrm>
            <a:off x="548640" y="5532120"/>
            <a:ext cx="5350818" cy="365760"/>
          </a:xfrm>
          <a:prstGeom prst="rect">
            <a:avLst/>
          </a:prstGeom>
          <a:noFill/>
          <a:ln/>
        </p:spPr>
        <p:txBody>
          <a:bodyPr wrap="square" lIns="0" tIns="0" rIns="0" bIns="0" rtlCol="0" anchor="t"/>
          <a:lstStyle/>
          <a:p>
            <a:r>
              <a:rPr lang="en-PH" dirty="0"/>
              <a:t>One process (0.0), four external entities</a:t>
            </a:r>
            <a:endParaRPr lang="en-US" sz="1600" dirty="0"/>
          </a:p>
        </p:txBody>
      </p:sp>
      <p:sp>
        <p:nvSpPr>
          <p:cNvPr id="9" name="text-130"/>
          <p:cNvSpPr txBox="1"/>
          <p:nvPr/>
        </p:nvSpPr>
        <p:spPr>
          <a:xfrm>
            <a:off x="6310938" y="5120640"/>
            <a:ext cx="5204619" cy="365760"/>
          </a:xfrm>
          <a:prstGeom prst="rect">
            <a:avLst/>
          </a:prstGeom>
          <a:noFill/>
          <a:ln/>
        </p:spPr>
        <p:txBody>
          <a:bodyPr wrap="square" lIns="0" tIns="0" rIns="0" bIns="0" rtlCol="0" anchor="t"/>
          <a:lstStyle/>
          <a:p>
            <a:pPr marL="0" indent="0">
              <a:buNone/>
            </a:pPr>
            <a:r>
              <a:rPr lang="en-US" sz="2000" b="1" dirty="0">
                <a:solidFill>
                  <a:schemeClr val="tx2"/>
                </a:solidFill>
              </a:rPr>
              <a:t>Level 1 diagram</a:t>
            </a:r>
            <a:endParaRPr lang="en-US" sz="2000" dirty="0"/>
          </a:p>
        </p:txBody>
      </p:sp>
      <p:sp>
        <p:nvSpPr>
          <p:cNvPr id="10" name="text-131"/>
          <p:cNvSpPr txBox="1"/>
          <p:nvPr/>
        </p:nvSpPr>
        <p:spPr>
          <a:xfrm>
            <a:off x="6310938" y="5532120"/>
            <a:ext cx="5204619" cy="365760"/>
          </a:xfrm>
          <a:prstGeom prst="rect">
            <a:avLst/>
          </a:prstGeom>
          <a:noFill/>
          <a:ln/>
        </p:spPr>
        <p:txBody>
          <a:bodyPr wrap="square" lIns="0" tIns="0" rIns="0" bIns="0" rtlCol="0" anchor="t"/>
          <a:lstStyle/>
          <a:p>
            <a:r>
              <a:rPr lang="en-PH" dirty="0"/>
              <a:t>Six subsystems (1.0–6.0), three data stores (D1–D3)</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Data Model: One Table Now, 3NF Later</a:t>
            </a:r>
            <a:endParaRPr lang="en-US" sz="3400" dirty="0"/>
          </a:p>
        </p:txBody>
      </p:sp>
      <p:sp>
        <p:nvSpPr>
          <p:cNvPr id="3" name="frame-132"/>
          <p:cNvSpPr/>
          <p:nvPr/>
        </p:nvSpPr>
        <p:spPr>
          <a:xfrm>
            <a:off x="548640" y="1280160"/>
            <a:ext cx="7737689" cy="4297680"/>
          </a:xfrm>
          <a:prstGeom prst="rect">
            <a:avLst/>
          </a:prstGeom>
          <a:solidFill>
            <a:schemeClr val="bg1"/>
          </a:solidFill>
          <a:ln w="9525">
            <a:solidFill>
              <a:schemeClr val="accent6"/>
            </a:solidFill>
            <a:prstDash val="solid"/>
          </a:ln>
        </p:spPr>
      </p:sp>
      <p:pic>
        <p:nvPicPr>
          <p:cNvPr id="4" name="image-133" descr="Entity relationship diagram: conceptual 3NF model and physical single-table SQLite design"/>
          <p:cNvPicPr>
            <a:picLocks noChangeAspect="1"/>
          </p:cNvPicPr>
          <p:nvPr/>
        </p:nvPicPr>
        <p:blipFill>
          <a:blip r:embed="rId3"/>
          <a:stretch>
            <a:fillRect/>
          </a:stretch>
        </p:blipFill>
        <p:spPr>
          <a:xfrm>
            <a:off x="548640" y="1280160"/>
            <a:ext cx="7737689" cy="4297680"/>
          </a:xfrm>
          <a:prstGeom prst="rect">
            <a:avLst/>
          </a:prstGeom>
        </p:spPr>
      </p:pic>
      <p:sp>
        <p:nvSpPr>
          <p:cNvPr id="5" name="shape-134"/>
          <p:cNvSpPr/>
          <p:nvPr/>
        </p:nvSpPr>
        <p:spPr>
          <a:xfrm>
            <a:off x="8652089" y="1280160"/>
            <a:ext cx="2960791" cy="2011680"/>
          </a:xfrm>
          <a:prstGeom prst="roundRect">
            <a:avLst>
              <a:gd name="adj" fmla="val 4545"/>
            </a:avLst>
          </a:prstGeom>
          <a:solidFill>
            <a:schemeClr val="tx2"/>
          </a:solidFill>
          <a:ln/>
        </p:spPr>
      </p:sp>
      <p:sp>
        <p:nvSpPr>
          <p:cNvPr id="6" name="text-135"/>
          <p:cNvSpPr txBox="1"/>
          <p:nvPr/>
        </p:nvSpPr>
        <p:spPr>
          <a:xfrm>
            <a:off x="8880689" y="1463040"/>
            <a:ext cx="2503591"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PROTOTYPE</a:t>
            </a:r>
            <a:endParaRPr lang="en-US" sz="1200" dirty="0"/>
          </a:p>
        </p:txBody>
      </p:sp>
      <p:sp>
        <p:nvSpPr>
          <p:cNvPr id="7" name="text-136"/>
          <p:cNvSpPr txBox="1"/>
          <p:nvPr/>
        </p:nvSpPr>
        <p:spPr>
          <a:xfrm>
            <a:off x="8880689" y="1783080"/>
            <a:ext cx="2503591" cy="411480"/>
          </a:xfrm>
          <a:prstGeom prst="rect">
            <a:avLst/>
          </a:prstGeom>
          <a:noFill/>
          <a:ln/>
        </p:spPr>
        <p:txBody>
          <a:bodyPr wrap="square" lIns="0" tIns="0" rIns="0" bIns="0" rtlCol="0" anchor="t"/>
          <a:lstStyle/>
          <a:p>
            <a:pPr marL="0" indent="0">
              <a:buNone/>
            </a:pPr>
            <a:r>
              <a:rPr lang="en-US" sz="2200" b="1" dirty="0">
                <a:solidFill>
                  <a:schemeClr val="bg1"/>
                </a:solidFill>
              </a:rPr>
              <a:t>1 SQLite table</a:t>
            </a:r>
            <a:endParaRPr lang="en-US" sz="2200" dirty="0"/>
          </a:p>
        </p:txBody>
      </p:sp>
      <p:sp>
        <p:nvSpPr>
          <p:cNvPr id="8" name="text-137"/>
          <p:cNvSpPr txBox="1"/>
          <p:nvPr/>
        </p:nvSpPr>
        <p:spPr>
          <a:xfrm>
            <a:off x="8880689" y="2286000"/>
            <a:ext cx="2503591" cy="777240"/>
          </a:xfrm>
          <a:prstGeom prst="rect">
            <a:avLst/>
          </a:prstGeom>
          <a:noFill/>
          <a:ln/>
        </p:spPr>
        <p:txBody>
          <a:bodyPr wrap="square" lIns="0" tIns="0" rIns="0" bIns="0" rtlCol="0" anchor="t"/>
          <a:lstStyle/>
          <a:p>
            <a:pPr marL="0" indent="0">
              <a:buNone/>
            </a:pPr>
            <a:r>
              <a:rPr lang="en-US" sz="1500" dirty="0">
                <a:solidFill>
                  <a:schemeClr val="bg2"/>
                </a:solidFill>
              </a:rPr>
              <a:t>20 columns, sub-millisecond local reads and writes</a:t>
            </a:r>
            <a:endParaRPr lang="en-US" sz="1500" dirty="0"/>
          </a:p>
        </p:txBody>
      </p:sp>
      <p:sp>
        <p:nvSpPr>
          <p:cNvPr id="9" name="shape-138"/>
          <p:cNvSpPr/>
          <p:nvPr/>
        </p:nvSpPr>
        <p:spPr>
          <a:xfrm>
            <a:off x="8652089" y="3566160"/>
            <a:ext cx="2960791" cy="2011680"/>
          </a:xfrm>
          <a:prstGeom prst="roundRect">
            <a:avLst>
              <a:gd name="adj" fmla="val 4545"/>
            </a:avLst>
          </a:prstGeom>
          <a:solidFill>
            <a:schemeClr val="bg2"/>
          </a:solidFill>
          <a:ln/>
        </p:spPr>
      </p:sp>
      <p:sp>
        <p:nvSpPr>
          <p:cNvPr id="10" name="text-139"/>
          <p:cNvSpPr txBox="1"/>
          <p:nvPr/>
        </p:nvSpPr>
        <p:spPr>
          <a:xfrm>
            <a:off x="8880689" y="3749040"/>
            <a:ext cx="2503591" cy="274320"/>
          </a:xfrm>
          <a:prstGeom prst="rect">
            <a:avLst/>
          </a:prstGeom>
          <a:noFill/>
          <a:ln/>
        </p:spPr>
        <p:txBody>
          <a:bodyPr wrap="square" lIns="0" tIns="0" rIns="0" bIns="0" rtlCol="0" anchor="t"/>
          <a:lstStyle/>
          <a:p>
            <a:pPr marL="0" indent="0">
              <a:buNone/>
            </a:pPr>
            <a:r>
              <a:rPr lang="en-US" sz="1200" b="1" kern="0" spc="100" dirty="0">
                <a:solidFill>
                  <a:schemeClr val="accent2"/>
                </a:solidFill>
              </a:rPr>
              <a:t>CLOUD TARGET</a:t>
            </a:r>
            <a:endParaRPr lang="en-US" sz="1200" dirty="0"/>
          </a:p>
        </p:txBody>
      </p:sp>
      <p:sp>
        <p:nvSpPr>
          <p:cNvPr id="11" name="text-140"/>
          <p:cNvSpPr txBox="1"/>
          <p:nvPr/>
        </p:nvSpPr>
        <p:spPr>
          <a:xfrm>
            <a:off x="8880689" y="4091940"/>
            <a:ext cx="2877115" cy="411480"/>
          </a:xfrm>
          <a:prstGeom prst="rect">
            <a:avLst/>
          </a:prstGeom>
          <a:noFill/>
          <a:ln/>
        </p:spPr>
        <p:txBody>
          <a:bodyPr wrap="square" lIns="0" tIns="0" rIns="0" bIns="0" rtlCol="0" anchor="t"/>
          <a:lstStyle/>
          <a:p>
            <a:r>
              <a:rPr lang="en-PH" i="1" dirty="0"/>
              <a:t>6-to-8 entity normalized 3NF</a:t>
            </a:r>
          </a:p>
          <a:p>
            <a:r>
              <a:rPr lang="en-PH" i="1" dirty="0"/>
              <a:t>relational schema</a:t>
            </a:r>
            <a:endParaRPr lang="en-US" dirty="0"/>
          </a:p>
        </p:txBody>
      </p:sp>
      <p:sp>
        <p:nvSpPr>
          <p:cNvPr id="12" name="text-141"/>
          <p:cNvSpPr txBox="1"/>
          <p:nvPr/>
        </p:nvSpPr>
        <p:spPr>
          <a:xfrm>
            <a:off x="8880689" y="4764369"/>
            <a:ext cx="2503591" cy="777240"/>
          </a:xfrm>
          <a:prstGeom prst="rect">
            <a:avLst/>
          </a:prstGeom>
          <a:noFill/>
          <a:ln/>
        </p:spPr>
        <p:txBody>
          <a:bodyPr wrap="square" lIns="0" tIns="0" rIns="0" bIns="0" rtlCol="0" anchor="t"/>
          <a:lstStyle/>
          <a:p>
            <a:r>
              <a:rPr lang="en-PH" sz="1600" i="1" dirty="0"/>
              <a:t>with dedicated payments &amp; audit log</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Modular Design: Structure Chart</a:t>
            </a:r>
            <a:endParaRPr lang="en-US" sz="3400" dirty="0"/>
          </a:p>
        </p:txBody>
      </p:sp>
      <p:sp>
        <p:nvSpPr>
          <p:cNvPr id="3" name="frame-142"/>
          <p:cNvSpPr/>
          <p:nvPr/>
        </p:nvSpPr>
        <p:spPr>
          <a:xfrm>
            <a:off x="548640" y="1280160"/>
            <a:ext cx="7863840" cy="4067738"/>
          </a:xfrm>
          <a:prstGeom prst="rect">
            <a:avLst/>
          </a:prstGeom>
          <a:solidFill>
            <a:schemeClr val="bg1"/>
          </a:solidFill>
          <a:ln w="9525">
            <a:solidFill>
              <a:schemeClr val="accent6"/>
            </a:solidFill>
            <a:prstDash val="solid"/>
          </a:ln>
        </p:spPr>
      </p:sp>
      <p:pic>
        <p:nvPicPr>
          <p:cNvPr id="4" name="image-143" descr="Structure chart of client controllers and backend REST services"/>
          <p:cNvPicPr>
            <a:picLocks noChangeAspect="1"/>
          </p:cNvPicPr>
          <p:nvPr/>
        </p:nvPicPr>
        <p:blipFill>
          <a:blip r:embed="rId3"/>
          <a:stretch>
            <a:fillRect/>
          </a:stretch>
        </p:blipFill>
        <p:spPr>
          <a:xfrm>
            <a:off x="548640" y="1280160"/>
            <a:ext cx="7863840" cy="4067738"/>
          </a:xfrm>
          <a:prstGeom prst="rect">
            <a:avLst/>
          </a:prstGeom>
        </p:spPr>
      </p:pic>
      <p:sp>
        <p:nvSpPr>
          <p:cNvPr id="5" name="shape-144"/>
          <p:cNvSpPr/>
          <p:nvPr/>
        </p:nvSpPr>
        <p:spPr>
          <a:xfrm>
            <a:off x="8778240" y="1280160"/>
            <a:ext cx="2834640" cy="1203513"/>
          </a:xfrm>
          <a:prstGeom prst="roundRect">
            <a:avLst>
              <a:gd name="adj" fmla="val 7598"/>
            </a:avLst>
          </a:prstGeom>
          <a:solidFill>
            <a:schemeClr val="bg2"/>
          </a:solidFill>
          <a:ln/>
        </p:spPr>
      </p:sp>
      <p:sp>
        <p:nvSpPr>
          <p:cNvPr id="6" name="text-145"/>
          <p:cNvSpPr txBox="1"/>
          <p:nvPr/>
        </p:nvSpPr>
        <p:spPr>
          <a:xfrm>
            <a:off x="9006840" y="1463040"/>
            <a:ext cx="2377440" cy="274320"/>
          </a:xfrm>
          <a:prstGeom prst="rect">
            <a:avLst/>
          </a:prstGeom>
          <a:noFill/>
          <a:ln/>
        </p:spPr>
        <p:txBody>
          <a:bodyPr wrap="square" lIns="0" tIns="0" rIns="0" bIns="0" rtlCol="0" anchor="t"/>
          <a:lstStyle/>
          <a:p>
            <a:pPr marL="0" indent="0">
              <a:buNone/>
            </a:pPr>
            <a:r>
              <a:rPr lang="en-US" sz="1200" b="1" kern="0" spc="100" dirty="0">
                <a:solidFill>
                  <a:schemeClr val="accent2"/>
                </a:solidFill>
              </a:rPr>
              <a:t>CLIENT TIER</a:t>
            </a:r>
            <a:endParaRPr lang="en-US" sz="1200" dirty="0"/>
          </a:p>
        </p:txBody>
      </p:sp>
      <p:sp>
        <p:nvSpPr>
          <p:cNvPr id="7" name="text-146"/>
          <p:cNvSpPr txBox="1"/>
          <p:nvPr/>
        </p:nvSpPr>
        <p:spPr>
          <a:xfrm>
            <a:off x="9006840" y="1783080"/>
            <a:ext cx="2377440" cy="609153"/>
          </a:xfrm>
          <a:prstGeom prst="rect">
            <a:avLst/>
          </a:prstGeom>
          <a:noFill/>
          <a:ln/>
        </p:spPr>
        <p:txBody>
          <a:bodyPr wrap="square" lIns="0" tIns="0" rIns="0" bIns="0" rtlCol="0" anchor="t"/>
          <a:lstStyle/>
          <a:p>
            <a:pPr marL="0" indent="0">
              <a:buNone/>
            </a:pPr>
            <a:r>
              <a:rPr lang="en-US" sz="1600" b="1" dirty="0">
                <a:solidFill>
                  <a:schemeClr val="tx2"/>
                </a:solidFill>
              </a:rPr>
              <a:t>index.html controllers</a:t>
            </a:r>
            <a:endParaRPr lang="en-US" sz="1600" dirty="0"/>
          </a:p>
        </p:txBody>
      </p:sp>
      <p:sp>
        <p:nvSpPr>
          <p:cNvPr id="8" name="shape-147"/>
          <p:cNvSpPr/>
          <p:nvPr/>
        </p:nvSpPr>
        <p:spPr>
          <a:xfrm>
            <a:off x="8778240" y="2712273"/>
            <a:ext cx="2834640" cy="1203513"/>
          </a:xfrm>
          <a:prstGeom prst="roundRect">
            <a:avLst>
              <a:gd name="adj" fmla="val 7598"/>
            </a:avLst>
          </a:prstGeom>
          <a:solidFill>
            <a:schemeClr val="bg2"/>
          </a:solidFill>
          <a:ln/>
        </p:spPr>
      </p:sp>
      <p:sp>
        <p:nvSpPr>
          <p:cNvPr id="9" name="text-148"/>
          <p:cNvSpPr txBox="1"/>
          <p:nvPr/>
        </p:nvSpPr>
        <p:spPr>
          <a:xfrm>
            <a:off x="9006840" y="2895153"/>
            <a:ext cx="2377440" cy="274320"/>
          </a:xfrm>
          <a:prstGeom prst="rect">
            <a:avLst/>
          </a:prstGeom>
          <a:noFill/>
          <a:ln/>
        </p:spPr>
        <p:txBody>
          <a:bodyPr wrap="square" lIns="0" tIns="0" rIns="0" bIns="0" rtlCol="0" anchor="t"/>
          <a:lstStyle/>
          <a:p>
            <a:pPr marL="0" indent="0">
              <a:buNone/>
            </a:pPr>
            <a:r>
              <a:rPr lang="en-US" sz="1200" b="1" kern="0" spc="100" dirty="0">
                <a:solidFill>
                  <a:schemeClr val="accent2"/>
                </a:solidFill>
              </a:rPr>
              <a:t>SERVER TIER</a:t>
            </a:r>
            <a:endParaRPr lang="en-US" sz="1200" dirty="0"/>
          </a:p>
        </p:txBody>
      </p:sp>
      <p:sp>
        <p:nvSpPr>
          <p:cNvPr id="10" name="text-149"/>
          <p:cNvSpPr txBox="1"/>
          <p:nvPr/>
        </p:nvSpPr>
        <p:spPr>
          <a:xfrm>
            <a:off x="9006840" y="3215193"/>
            <a:ext cx="2377440" cy="609153"/>
          </a:xfrm>
          <a:prstGeom prst="rect">
            <a:avLst/>
          </a:prstGeom>
          <a:noFill/>
          <a:ln/>
        </p:spPr>
        <p:txBody>
          <a:bodyPr wrap="square" lIns="0" tIns="0" rIns="0" bIns="0" rtlCol="0" anchor="t"/>
          <a:lstStyle/>
          <a:p>
            <a:pPr marL="0" indent="0">
              <a:buNone/>
            </a:pPr>
            <a:r>
              <a:rPr lang="en-US" sz="1600" b="1" dirty="0">
                <a:solidFill>
                  <a:schemeClr val="tx2"/>
                </a:solidFill>
              </a:rPr>
              <a:t>server.js REST services</a:t>
            </a:r>
            <a:endParaRPr lang="en-US" sz="1600" dirty="0"/>
          </a:p>
        </p:txBody>
      </p:sp>
      <p:sp>
        <p:nvSpPr>
          <p:cNvPr id="11" name="shape-150"/>
          <p:cNvSpPr/>
          <p:nvPr/>
        </p:nvSpPr>
        <p:spPr>
          <a:xfrm>
            <a:off x="8778240" y="4144385"/>
            <a:ext cx="2834640" cy="1203513"/>
          </a:xfrm>
          <a:prstGeom prst="roundRect">
            <a:avLst>
              <a:gd name="adj" fmla="val 7598"/>
            </a:avLst>
          </a:prstGeom>
          <a:solidFill>
            <a:schemeClr val="tx2"/>
          </a:solidFill>
          <a:ln/>
        </p:spPr>
      </p:sp>
      <p:sp>
        <p:nvSpPr>
          <p:cNvPr id="12" name="text-151"/>
          <p:cNvSpPr txBox="1"/>
          <p:nvPr/>
        </p:nvSpPr>
        <p:spPr>
          <a:xfrm>
            <a:off x="9006840" y="4327265"/>
            <a:ext cx="237744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LOOSE COUPLING</a:t>
            </a:r>
            <a:endParaRPr lang="en-US" sz="1200" dirty="0"/>
          </a:p>
        </p:txBody>
      </p:sp>
      <p:sp>
        <p:nvSpPr>
          <p:cNvPr id="13" name="text-152"/>
          <p:cNvSpPr txBox="1"/>
          <p:nvPr/>
        </p:nvSpPr>
        <p:spPr>
          <a:xfrm>
            <a:off x="9006840" y="4647305"/>
            <a:ext cx="2377440" cy="609153"/>
          </a:xfrm>
          <a:prstGeom prst="rect">
            <a:avLst/>
          </a:prstGeom>
          <a:noFill/>
          <a:ln/>
        </p:spPr>
        <p:txBody>
          <a:bodyPr wrap="square" lIns="0" tIns="0" rIns="0" bIns="0" rtlCol="0" anchor="t"/>
          <a:lstStyle/>
          <a:p>
            <a:pPr marL="0" indent="0">
              <a:buNone/>
            </a:pPr>
            <a:r>
              <a:rPr lang="en-US" sz="1600" b="1" dirty="0">
                <a:solidFill>
                  <a:schemeClr val="bg1"/>
                </a:solidFill>
              </a:rPr>
              <a:t>JSON data couples, HTTP status control couples</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Tech Stack &amp; Trade-offs</a:t>
            </a:r>
            <a:endParaRPr lang="en-US" sz="3400" dirty="0"/>
          </a:p>
        </p:txBody>
      </p:sp>
      <p:sp>
        <p:nvSpPr>
          <p:cNvPr id="3" name="shape-153"/>
          <p:cNvSpPr/>
          <p:nvPr/>
        </p:nvSpPr>
        <p:spPr>
          <a:xfrm>
            <a:off x="548640" y="1280160"/>
            <a:ext cx="2560320" cy="1783080"/>
          </a:xfrm>
          <a:prstGeom prst="roundRect">
            <a:avLst>
              <a:gd name="adj" fmla="val 5128"/>
            </a:avLst>
          </a:prstGeom>
          <a:solidFill>
            <a:schemeClr val="bg2"/>
          </a:solidFill>
          <a:ln/>
        </p:spPr>
      </p:sp>
      <p:sp>
        <p:nvSpPr>
          <p:cNvPr id="4" name="iconbg-154"/>
          <p:cNvSpPr/>
          <p:nvPr/>
        </p:nvSpPr>
        <p:spPr>
          <a:xfrm>
            <a:off x="731520" y="1508760"/>
            <a:ext cx="640080" cy="640080"/>
          </a:xfrm>
          <a:prstGeom prst="ellipse">
            <a:avLst/>
          </a:prstGeom>
          <a:solidFill>
            <a:srgbClr val="162E5C"/>
          </a:solidFill>
          <a:ln/>
        </p:spPr>
      </p:sp>
      <p:pic>
        <p:nvPicPr>
          <p:cNvPr id="5" name="icon-155" descr="preencoded.png"/>
          <p:cNvPicPr>
            <a:picLocks noChangeAspect="1"/>
          </p:cNvPicPr>
          <p:nvPr/>
        </p:nvPicPr>
        <p:blipFill>
          <a:blip r:embed="rId3"/>
          <a:stretch>
            <a:fillRect/>
          </a:stretch>
        </p:blipFill>
        <p:spPr>
          <a:xfrm>
            <a:off x="891540" y="1668780"/>
            <a:ext cx="320040" cy="320040"/>
          </a:xfrm>
          <a:prstGeom prst="rect">
            <a:avLst/>
          </a:prstGeom>
        </p:spPr>
      </p:pic>
      <p:sp>
        <p:nvSpPr>
          <p:cNvPr id="6" name="text-156"/>
          <p:cNvSpPr txBox="1"/>
          <p:nvPr/>
        </p:nvSpPr>
        <p:spPr>
          <a:xfrm>
            <a:off x="1508760" y="1508760"/>
            <a:ext cx="1508760" cy="640080"/>
          </a:xfrm>
          <a:prstGeom prst="rect">
            <a:avLst/>
          </a:prstGeom>
          <a:noFill/>
          <a:ln/>
        </p:spPr>
        <p:txBody>
          <a:bodyPr wrap="square" lIns="0" tIns="0" rIns="0" bIns="0" rtlCol="0" anchor="ctr"/>
          <a:lstStyle/>
          <a:p>
            <a:pPr marL="0" indent="0">
              <a:buNone/>
            </a:pPr>
            <a:r>
              <a:rPr lang="en-US" sz="1700" b="1" dirty="0">
                <a:solidFill>
                  <a:schemeClr val="tx2"/>
                </a:solidFill>
              </a:rPr>
              <a:t>Node.js + Express</a:t>
            </a:r>
            <a:endParaRPr lang="en-US" sz="1700" dirty="0"/>
          </a:p>
        </p:txBody>
      </p:sp>
      <p:sp>
        <p:nvSpPr>
          <p:cNvPr id="7" name="text-157"/>
          <p:cNvSpPr txBox="1"/>
          <p:nvPr/>
        </p:nvSpPr>
        <p:spPr>
          <a:xfrm>
            <a:off x="731520" y="2331720"/>
            <a:ext cx="2194560" cy="594360"/>
          </a:xfrm>
          <a:prstGeom prst="rect">
            <a:avLst/>
          </a:prstGeom>
          <a:noFill/>
          <a:ln/>
        </p:spPr>
        <p:txBody>
          <a:bodyPr wrap="square" lIns="0" tIns="0" rIns="0" bIns="0" rtlCol="0" anchor="t"/>
          <a:lstStyle/>
          <a:p>
            <a:pPr marL="0" indent="0">
              <a:buNone/>
            </a:pPr>
            <a:r>
              <a:rPr lang="en-US" sz="1500" dirty="0">
                <a:solidFill>
                  <a:schemeClr val="tx1"/>
                </a:solidFill>
              </a:rPr>
              <a:t>Async REST API</a:t>
            </a:r>
            <a:endParaRPr lang="en-US" sz="1500" dirty="0"/>
          </a:p>
        </p:txBody>
      </p:sp>
      <p:sp>
        <p:nvSpPr>
          <p:cNvPr id="8" name="shape-158"/>
          <p:cNvSpPr/>
          <p:nvPr/>
        </p:nvSpPr>
        <p:spPr>
          <a:xfrm>
            <a:off x="3383280" y="1280160"/>
            <a:ext cx="2560320" cy="1783080"/>
          </a:xfrm>
          <a:prstGeom prst="roundRect">
            <a:avLst>
              <a:gd name="adj" fmla="val 5128"/>
            </a:avLst>
          </a:prstGeom>
          <a:solidFill>
            <a:schemeClr val="bg2"/>
          </a:solidFill>
          <a:ln/>
        </p:spPr>
      </p:sp>
      <p:sp>
        <p:nvSpPr>
          <p:cNvPr id="9" name="iconbg-159"/>
          <p:cNvSpPr/>
          <p:nvPr/>
        </p:nvSpPr>
        <p:spPr>
          <a:xfrm>
            <a:off x="3566160" y="1508760"/>
            <a:ext cx="640080" cy="640080"/>
          </a:xfrm>
          <a:prstGeom prst="ellipse">
            <a:avLst/>
          </a:prstGeom>
          <a:solidFill>
            <a:srgbClr val="162E5C"/>
          </a:solidFill>
          <a:ln/>
        </p:spPr>
      </p:sp>
      <p:pic>
        <p:nvPicPr>
          <p:cNvPr id="10" name="icon-160" descr="preencoded.png"/>
          <p:cNvPicPr>
            <a:picLocks noChangeAspect="1"/>
          </p:cNvPicPr>
          <p:nvPr/>
        </p:nvPicPr>
        <p:blipFill>
          <a:blip r:embed="rId4"/>
          <a:stretch>
            <a:fillRect/>
          </a:stretch>
        </p:blipFill>
        <p:spPr>
          <a:xfrm>
            <a:off x="3726180" y="1668780"/>
            <a:ext cx="320040" cy="320040"/>
          </a:xfrm>
          <a:prstGeom prst="rect">
            <a:avLst/>
          </a:prstGeom>
        </p:spPr>
      </p:pic>
      <p:sp>
        <p:nvSpPr>
          <p:cNvPr id="11" name="text-161"/>
          <p:cNvSpPr txBox="1"/>
          <p:nvPr/>
        </p:nvSpPr>
        <p:spPr>
          <a:xfrm>
            <a:off x="4343400" y="1508760"/>
            <a:ext cx="1508760" cy="640080"/>
          </a:xfrm>
          <a:prstGeom prst="rect">
            <a:avLst/>
          </a:prstGeom>
          <a:noFill/>
          <a:ln/>
        </p:spPr>
        <p:txBody>
          <a:bodyPr wrap="square" lIns="0" tIns="0" rIns="0" bIns="0" rtlCol="0" anchor="ctr"/>
          <a:lstStyle/>
          <a:p>
            <a:pPr marL="0" indent="0">
              <a:buNone/>
            </a:pPr>
            <a:r>
              <a:rPr lang="en-US" sz="1700" b="1" dirty="0">
                <a:solidFill>
                  <a:schemeClr val="tx2"/>
                </a:solidFill>
              </a:rPr>
              <a:t>SQLite3</a:t>
            </a:r>
            <a:endParaRPr lang="en-US" sz="1700" dirty="0"/>
          </a:p>
        </p:txBody>
      </p:sp>
      <p:sp>
        <p:nvSpPr>
          <p:cNvPr id="12" name="text-162"/>
          <p:cNvSpPr txBox="1"/>
          <p:nvPr/>
        </p:nvSpPr>
        <p:spPr>
          <a:xfrm>
            <a:off x="3566160" y="2331720"/>
            <a:ext cx="2194560" cy="594360"/>
          </a:xfrm>
          <a:prstGeom prst="rect">
            <a:avLst/>
          </a:prstGeom>
          <a:noFill/>
          <a:ln/>
        </p:spPr>
        <p:txBody>
          <a:bodyPr wrap="square" lIns="0" tIns="0" rIns="0" bIns="0" rtlCol="0" anchor="t"/>
          <a:lstStyle/>
          <a:p>
            <a:pPr marL="0" indent="0">
              <a:buNone/>
            </a:pPr>
            <a:r>
              <a:rPr lang="en-US" sz="1500" dirty="0">
                <a:solidFill>
                  <a:schemeClr val="tx1"/>
                </a:solidFill>
              </a:rPr>
              <a:t>Zero-config, USB-portable file DB</a:t>
            </a:r>
            <a:endParaRPr lang="en-US" sz="1500" dirty="0"/>
          </a:p>
        </p:txBody>
      </p:sp>
      <p:sp>
        <p:nvSpPr>
          <p:cNvPr id="13" name="shape-163"/>
          <p:cNvSpPr/>
          <p:nvPr/>
        </p:nvSpPr>
        <p:spPr>
          <a:xfrm>
            <a:off x="6217920" y="1280160"/>
            <a:ext cx="2560320" cy="1783080"/>
          </a:xfrm>
          <a:prstGeom prst="roundRect">
            <a:avLst>
              <a:gd name="adj" fmla="val 5128"/>
            </a:avLst>
          </a:prstGeom>
          <a:solidFill>
            <a:schemeClr val="bg2"/>
          </a:solidFill>
          <a:ln/>
        </p:spPr>
      </p:sp>
      <p:sp>
        <p:nvSpPr>
          <p:cNvPr id="14" name="iconbg-164"/>
          <p:cNvSpPr/>
          <p:nvPr/>
        </p:nvSpPr>
        <p:spPr>
          <a:xfrm>
            <a:off x="6400800" y="1508760"/>
            <a:ext cx="640080" cy="640080"/>
          </a:xfrm>
          <a:prstGeom prst="ellipse">
            <a:avLst/>
          </a:prstGeom>
          <a:solidFill>
            <a:srgbClr val="162E5C"/>
          </a:solidFill>
          <a:ln/>
        </p:spPr>
      </p:sp>
      <p:pic>
        <p:nvPicPr>
          <p:cNvPr id="15" name="icon-165" descr="preencoded.png"/>
          <p:cNvPicPr>
            <a:picLocks noChangeAspect="1"/>
          </p:cNvPicPr>
          <p:nvPr/>
        </p:nvPicPr>
        <p:blipFill>
          <a:blip r:embed="rId5"/>
          <a:stretch>
            <a:fillRect/>
          </a:stretch>
        </p:blipFill>
        <p:spPr>
          <a:xfrm>
            <a:off x="6560820" y="1668780"/>
            <a:ext cx="320040" cy="320040"/>
          </a:xfrm>
          <a:prstGeom prst="rect">
            <a:avLst/>
          </a:prstGeom>
        </p:spPr>
      </p:pic>
      <p:sp>
        <p:nvSpPr>
          <p:cNvPr id="16" name="text-166"/>
          <p:cNvSpPr txBox="1"/>
          <p:nvPr/>
        </p:nvSpPr>
        <p:spPr>
          <a:xfrm>
            <a:off x="7178040" y="1508760"/>
            <a:ext cx="1508760" cy="640080"/>
          </a:xfrm>
          <a:prstGeom prst="rect">
            <a:avLst/>
          </a:prstGeom>
          <a:noFill/>
          <a:ln/>
        </p:spPr>
        <p:txBody>
          <a:bodyPr wrap="square" lIns="0" tIns="0" rIns="0" bIns="0" rtlCol="0" anchor="ctr"/>
          <a:lstStyle/>
          <a:p>
            <a:pPr marL="0" indent="0">
              <a:buNone/>
            </a:pPr>
            <a:r>
              <a:rPr lang="en-US" sz="1700" b="1" dirty="0">
                <a:solidFill>
                  <a:schemeClr val="tx2"/>
                </a:solidFill>
              </a:rPr>
              <a:t>HTML5 + JS</a:t>
            </a:r>
            <a:endParaRPr lang="en-US" sz="1700" dirty="0"/>
          </a:p>
        </p:txBody>
      </p:sp>
      <p:sp>
        <p:nvSpPr>
          <p:cNvPr id="17" name="text-167"/>
          <p:cNvSpPr txBox="1"/>
          <p:nvPr/>
        </p:nvSpPr>
        <p:spPr>
          <a:xfrm>
            <a:off x="6400800" y="2331720"/>
            <a:ext cx="2194560" cy="594360"/>
          </a:xfrm>
          <a:prstGeom prst="rect">
            <a:avLst/>
          </a:prstGeom>
          <a:noFill/>
          <a:ln/>
        </p:spPr>
        <p:txBody>
          <a:bodyPr wrap="square" lIns="0" tIns="0" rIns="0" bIns="0" rtlCol="0" anchor="t"/>
          <a:lstStyle/>
          <a:p>
            <a:pPr marL="0" indent="0">
              <a:buNone/>
            </a:pPr>
            <a:r>
              <a:rPr lang="en-US" sz="1500" dirty="0">
                <a:solidFill>
                  <a:schemeClr val="tx1"/>
                </a:solidFill>
              </a:rPr>
              <a:t>Vanilla ES6+, no build step, under 100 KB</a:t>
            </a:r>
            <a:endParaRPr lang="en-US" sz="1500" dirty="0"/>
          </a:p>
        </p:txBody>
      </p:sp>
      <p:sp>
        <p:nvSpPr>
          <p:cNvPr id="18" name="shape-168"/>
          <p:cNvSpPr/>
          <p:nvPr/>
        </p:nvSpPr>
        <p:spPr>
          <a:xfrm>
            <a:off x="9052560" y="1280160"/>
            <a:ext cx="2560320" cy="1783080"/>
          </a:xfrm>
          <a:prstGeom prst="roundRect">
            <a:avLst>
              <a:gd name="adj" fmla="val 5128"/>
            </a:avLst>
          </a:prstGeom>
          <a:solidFill>
            <a:schemeClr val="bg2"/>
          </a:solidFill>
          <a:ln/>
        </p:spPr>
      </p:sp>
      <p:sp>
        <p:nvSpPr>
          <p:cNvPr id="19" name="iconbg-169"/>
          <p:cNvSpPr/>
          <p:nvPr/>
        </p:nvSpPr>
        <p:spPr>
          <a:xfrm>
            <a:off x="9235440" y="1508760"/>
            <a:ext cx="640080" cy="640080"/>
          </a:xfrm>
          <a:prstGeom prst="ellipse">
            <a:avLst/>
          </a:prstGeom>
          <a:solidFill>
            <a:srgbClr val="162E5C"/>
          </a:solidFill>
          <a:ln/>
        </p:spPr>
      </p:sp>
      <p:pic>
        <p:nvPicPr>
          <p:cNvPr id="20" name="icon-170" descr="preencoded.png"/>
          <p:cNvPicPr>
            <a:picLocks noChangeAspect="1"/>
          </p:cNvPicPr>
          <p:nvPr/>
        </p:nvPicPr>
        <p:blipFill>
          <a:blip r:embed="rId6"/>
          <a:stretch>
            <a:fillRect/>
          </a:stretch>
        </p:blipFill>
        <p:spPr>
          <a:xfrm>
            <a:off x="9395460" y="1668780"/>
            <a:ext cx="320040" cy="320040"/>
          </a:xfrm>
          <a:prstGeom prst="rect">
            <a:avLst/>
          </a:prstGeom>
        </p:spPr>
      </p:pic>
      <p:sp>
        <p:nvSpPr>
          <p:cNvPr id="21" name="text-171"/>
          <p:cNvSpPr txBox="1"/>
          <p:nvPr/>
        </p:nvSpPr>
        <p:spPr>
          <a:xfrm>
            <a:off x="10012680" y="1508760"/>
            <a:ext cx="1508760" cy="640080"/>
          </a:xfrm>
          <a:prstGeom prst="rect">
            <a:avLst/>
          </a:prstGeom>
          <a:noFill/>
          <a:ln/>
        </p:spPr>
        <p:txBody>
          <a:bodyPr wrap="square" lIns="0" tIns="0" rIns="0" bIns="0" rtlCol="0" anchor="ctr"/>
          <a:lstStyle/>
          <a:p>
            <a:pPr marL="0" indent="0">
              <a:buNone/>
            </a:pPr>
            <a:r>
              <a:rPr lang="en-US" sz="1700" b="1" dirty="0">
                <a:solidFill>
                  <a:schemeClr val="tx2"/>
                </a:solidFill>
              </a:rPr>
              <a:t>Batch launchers</a:t>
            </a:r>
            <a:endParaRPr lang="en-US" sz="1700" dirty="0"/>
          </a:p>
        </p:txBody>
      </p:sp>
      <p:sp>
        <p:nvSpPr>
          <p:cNvPr id="22" name="text-172"/>
          <p:cNvSpPr txBox="1"/>
          <p:nvPr/>
        </p:nvSpPr>
        <p:spPr>
          <a:xfrm>
            <a:off x="9235440" y="2331720"/>
            <a:ext cx="2194560" cy="594360"/>
          </a:xfrm>
          <a:prstGeom prst="rect">
            <a:avLst/>
          </a:prstGeom>
          <a:noFill/>
          <a:ln/>
        </p:spPr>
        <p:txBody>
          <a:bodyPr wrap="square" lIns="0" tIns="0" rIns="0" bIns="0" rtlCol="0" anchor="t"/>
          <a:lstStyle/>
          <a:p>
            <a:pPr marL="0" indent="0">
              <a:buNone/>
            </a:pPr>
            <a:r>
              <a:rPr lang="en-US" sz="1500" dirty="0">
                <a:solidFill>
                  <a:schemeClr val="tx1"/>
                </a:solidFill>
              </a:rPr>
              <a:t>One-click start with preflight check</a:t>
            </a:r>
            <a:endParaRPr lang="en-US" sz="1500" dirty="0"/>
          </a:p>
        </p:txBody>
      </p:sp>
      <p:sp>
        <p:nvSpPr>
          <p:cNvPr id="23" name="text-173"/>
          <p:cNvSpPr txBox="1"/>
          <p:nvPr/>
        </p:nvSpPr>
        <p:spPr>
          <a:xfrm>
            <a:off x="548640" y="3383280"/>
            <a:ext cx="5486400" cy="274320"/>
          </a:xfrm>
          <a:prstGeom prst="rect">
            <a:avLst/>
          </a:prstGeom>
          <a:noFill/>
          <a:ln/>
        </p:spPr>
        <p:txBody>
          <a:bodyPr wrap="square" lIns="0" tIns="0" rIns="0" bIns="0" rtlCol="0" anchor="t"/>
          <a:lstStyle/>
          <a:p>
            <a:pPr marL="0" indent="0">
              <a:buNone/>
            </a:pPr>
            <a:r>
              <a:rPr lang="en-US" sz="1200" b="1" kern="0" spc="100" dirty="0">
                <a:solidFill>
                  <a:schemeClr val="accent6"/>
                </a:solidFill>
              </a:rPr>
              <a:t>TRADE-OFFS WE ACCEPTED</a:t>
            </a:r>
            <a:endParaRPr lang="en-US" sz="1200" dirty="0"/>
          </a:p>
        </p:txBody>
      </p:sp>
      <p:sp>
        <p:nvSpPr>
          <p:cNvPr id="24" name="shape-174"/>
          <p:cNvSpPr/>
          <p:nvPr/>
        </p:nvSpPr>
        <p:spPr>
          <a:xfrm>
            <a:off x="548640" y="3749040"/>
            <a:ext cx="11064240" cy="731520"/>
          </a:xfrm>
          <a:prstGeom prst="roundRect">
            <a:avLst>
              <a:gd name="adj" fmla="val 12500"/>
            </a:avLst>
          </a:prstGeom>
          <a:solidFill>
            <a:schemeClr val="bg2"/>
          </a:solidFill>
          <a:ln/>
        </p:spPr>
      </p:sp>
      <p:sp>
        <p:nvSpPr>
          <p:cNvPr id="25" name="text-175"/>
          <p:cNvSpPr txBox="1"/>
          <p:nvPr/>
        </p:nvSpPr>
        <p:spPr>
          <a:xfrm>
            <a:off x="822960" y="3749040"/>
            <a:ext cx="3840480" cy="731520"/>
          </a:xfrm>
          <a:prstGeom prst="rect">
            <a:avLst/>
          </a:prstGeom>
          <a:noFill/>
          <a:ln/>
        </p:spPr>
        <p:txBody>
          <a:bodyPr wrap="square" lIns="0" tIns="0" rIns="0" bIns="0" rtlCol="0" anchor="ctr"/>
          <a:lstStyle/>
          <a:p>
            <a:pPr marL="0" indent="0">
              <a:buNone/>
            </a:pPr>
            <a:r>
              <a:rPr lang="en-US" sz="1700" b="1" dirty="0">
                <a:solidFill>
                  <a:schemeClr val="tx2"/>
                </a:solidFill>
              </a:rPr>
              <a:t>SQLite over a cloud DB</a:t>
            </a:r>
            <a:endParaRPr lang="en-US" sz="1700" dirty="0"/>
          </a:p>
        </p:txBody>
      </p:sp>
      <p:sp>
        <p:nvSpPr>
          <p:cNvPr id="26" name="text-176"/>
          <p:cNvSpPr txBox="1"/>
          <p:nvPr/>
        </p:nvSpPr>
        <p:spPr>
          <a:xfrm>
            <a:off x="4754880" y="3749040"/>
            <a:ext cx="3383280" cy="731520"/>
          </a:xfrm>
          <a:prstGeom prst="rect">
            <a:avLst/>
          </a:prstGeom>
          <a:noFill/>
          <a:ln/>
        </p:spPr>
        <p:txBody>
          <a:bodyPr wrap="square" lIns="0" tIns="0" rIns="0" bIns="0" rtlCol="0" anchor="ctr"/>
          <a:lstStyle/>
          <a:p>
            <a:pPr marL="0" indent="0">
              <a:buNone/>
            </a:pPr>
            <a:r>
              <a:rPr lang="en-US" sz="1600" b="1" dirty="0">
                <a:solidFill>
                  <a:schemeClr val="accent5"/>
                </a:solidFill>
              </a:rPr>
              <a:t>+  </a:t>
            </a:r>
            <a:r>
              <a:rPr lang="en-US" sz="1600" dirty="0">
                <a:solidFill>
                  <a:schemeClr val="tx1"/>
                </a:solidFill>
              </a:rPr>
              <a:t>100% offline uptime</a:t>
            </a:r>
            <a:endParaRPr lang="en-US" sz="1600" dirty="0"/>
          </a:p>
        </p:txBody>
      </p:sp>
      <p:sp>
        <p:nvSpPr>
          <p:cNvPr id="27" name="text-177"/>
          <p:cNvSpPr txBox="1"/>
          <p:nvPr/>
        </p:nvSpPr>
        <p:spPr>
          <a:xfrm>
            <a:off x="8229600" y="3749040"/>
            <a:ext cx="3291840" cy="731520"/>
          </a:xfrm>
          <a:prstGeom prst="rect">
            <a:avLst/>
          </a:prstGeom>
          <a:noFill/>
          <a:ln/>
        </p:spPr>
        <p:txBody>
          <a:bodyPr wrap="square" lIns="0" tIns="0" rIns="0" bIns="0" rtlCol="0" anchor="ctr"/>
          <a:lstStyle/>
          <a:p>
            <a:pPr marL="0" indent="0">
              <a:buNone/>
            </a:pPr>
            <a:r>
              <a:rPr lang="en-US" sz="1600" b="1" dirty="0">
                <a:solidFill>
                  <a:schemeClr val="accent3"/>
                </a:solidFill>
              </a:rPr>
              <a:t>–  </a:t>
            </a:r>
            <a:r>
              <a:rPr lang="en-US" sz="1600" dirty="0">
                <a:solidFill>
                  <a:schemeClr val="tx1"/>
                </a:solidFill>
              </a:rPr>
              <a:t>No multi-writer concurrency</a:t>
            </a:r>
            <a:endParaRPr lang="en-US" sz="1600" dirty="0"/>
          </a:p>
        </p:txBody>
      </p:sp>
      <p:sp>
        <p:nvSpPr>
          <p:cNvPr id="28" name="shape-178"/>
          <p:cNvSpPr/>
          <p:nvPr/>
        </p:nvSpPr>
        <p:spPr>
          <a:xfrm>
            <a:off x="548640" y="4590288"/>
            <a:ext cx="11064240" cy="731520"/>
          </a:xfrm>
          <a:prstGeom prst="roundRect">
            <a:avLst>
              <a:gd name="adj" fmla="val 12500"/>
            </a:avLst>
          </a:prstGeom>
          <a:solidFill>
            <a:schemeClr val="bg2"/>
          </a:solidFill>
          <a:ln/>
        </p:spPr>
      </p:sp>
      <p:sp>
        <p:nvSpPr>
          <p:cNvPr id="29" name="text-179"/>
          <p:cNvSpPr txBox="1"/>
          <p:nvPr/>
        </p:nvSpPr>
        <p:spPr>
          <a:xfrm>
            <a:off x="822960" y="4590288"/>
            <a:ext cx="3840480" cy="731520"/>
          </a:xfrm>
          <a:prstGeom prst="rect">
            <a:avLst/>
          </a:prstGeom>
          <a:noFill/>
          <a:ln/>
        </p:spPr>
        <p:txBody>
          <a:bodyPr wrap="square" lIns="0" tIns="0" rIns="0" bIns="0" rtlCol="0" anchor="ctr"/>
          <a:lstStyle/>
          <a:p>
            <a:pPr marL="0" indent="0">
              <a:buNone/>
            </a:pPr>
            <a:r>
              <a:rPr lang="en-US" sz="1700" b="1" dirty="0">
                <a:solidFill>
                  <a:schemeClr val="tx2"/>
                </a:solidFill>
              </a:rPr>
              <a:t>Vanilla JS over SPA frameworks</a:t>
            </a:r>
            <a:endParaRPr lang="en-US" sz="1700" dirty="0"/>
          </a:p>
        </p:txBody>
      </p:sp>
      <p:sp>
        <p:nvSpPr>
          <p:cNvPr id="30" name="text-180"/>
          <p:cNvSpPr txBox="1"/>
          <p:nvPr/>
        </p:nvSpPr>
        <p:spPr>
          <a:xfrm>
            <a:off x="4754880" y="4590288"/>
            <a:ext cx="3383280" cy="731520"/>
          </a:xfrm>
          <a:prstGeom prst="rect">
            <a:avLst/>
          </a:prstGeom>
          <a:noFill/>
          <a:ln/>
        </p:spPr>
        <p:txBody>
          <a:bodyPr wrap="square" lIns="0" tIns="0" rIns="0" bIns="0" rtlCol="0" anchor="ctr"/>
          <a:lstStyle/>
          <a:p>
            <a:pPr marL="0" indent="0">
              <a:buNone/>
            </a:pPr>
            <a:r>
              <a:rPr lang="en-US" sz="1600" b="1" dirty="0">
                <a:solidFill>
                  <a:schemeClr val="accent5"/>
                </a:solidFill>
              </a:rPr>
              <a:t>+  </a:t>
            </a:r>
            <a:r>
              <a:rPr lang="en-US" sz="1600" dirty="0">
                <a:solidFill>
                  <a:schemeClr val="tx1"/>
                </a:solidFill>
              </a:rPr>
              <a:t>Instant load, no build step</a:t>
            </a:r>
            <a:endParaRPr lang="en-US" sz="1600" dirty="0"/>
          </a:p>
        </p:txBody>
      </p:sp>
      <p:sp>
        <p:nvSpPr>
          <p:cNvPr id="31" name="text-181"/>
          <p:cNvSpPr txBox="1"/>
          <p:nvPr/>
        </p:nvSpPr>
        <p:spPr>
          <a:xfrm>
            <a:off x="8229600" y="4590288"/>
            <a:ext cx="3291840" cy="731520"/>
          </a:xfrm>
          <a:prstGeom prst="rect">
            <a:avLst/>
          </a:prstGeom>
          <a:noFill/>
          <a:ln/>
        </p:spPr>
        <p:txBody>
          <a:bodyPr wrap="square" lIns="0" tIns="0" rIns="0" bIns="0" rtlCol="0" anchor="ctr"/>
          <a:lstStyle/>
          <a:p>
            <a:pPr marL="0" indent="0">
              <a:buNone/>
            </a:pPr>
            <a:r>
              <a:rPr lang="en-US" sz="1600" b="1" dirty="0">
                <a:solidFill>
                  <a:schemeClr val="accent3"/>
                </a:solidFill>
              </a:rPr>
              <a:t>–  </a:t>
            </a:r>
            <a:r>
              <a:rPr lang="en-US" sz="1600" dirty="0">
                <a:solidFill>
                  <a:schemeClr val="tx1"/>
                </a:solidFill>
              </a:rPr>
              <a:t>Manual DOM updates</a:t>
            </a:r>
            <a:endParaRPr lang="en-US" sz="1600" dirty="0"/>
          </a:p>
        </p:txBody>
      </p:sp>
      <p:sp>
        <p:nvSpPr>
          <p:cNvPr id="32" name="shape-182"/>
          <p:cNvSpPr/>
          <p:nvPr/>
        </p:nvSpPr>
        <p:spPr>
          <a:xfrm>
            <a:off x="548640" y="5431536"/>
            <a:ext cx="11064240" cy="731520"/>
          </a:xfrm>
          <a:prstGeom prst="roundRect">
            <a:avLst>
              <a:gd name="adj" fmla="val 12500"/>
            </a:avLst>
          </a:prstGeom>
          <a:solidFill>
            <a:schemeClr val="bg2"/>
          </a:solidFill>
          <a:ln/>
        </p:spPr>
      </p:sp>
      <p:sp>
        <p:nvSpPr>
          <p:cNvPr id="33" name="text-183"/>
          <p:cNvSpPr txBox="1"/>
          <p:nvPr/>
        </p:nvSpPr>
        <p:spPr>
          <a:xfrm>
            <a:off x="822960" y="5431536"/>
            <a:ext cx="3840480" cy="731520"/>
          </a:xfrm>
          <a:prstGeom prst="rect">
            <a:avLst/>
          </a:prstGeom>
          <a:noFill/>
          <a:ln/>
        </p:spPr>
        <p:txBody>
          <a:bodyPr wrap="square" lIns="0" tIns="0" rIns="0" bIns="0" rtlCol="0" anchor="ctr"/>
          <a:lstStyle/>
          <a:p>
            <a:pPr marL="0" indent="0">
              <a:buNone/>
            </a:pPr>
            <a:r>
              <a:rPr lang="en-US" sz="1700" b="1" dirty="0">
                <a:solidFill>
                  <a:schemeClr val="tx2"/>
                </a:solidFill>
              </a:rPr>
              <a:t>Local blacklist over live APIs</a:t>
            </a:r>
            <a:endParaRPr lang="en-US" sz="1700" dirty="0"/>
          </a:p>
        </p:txBody>
      </p:sp>
      <p:sp>
        <p:nvSpPr>
          <p:cNvPr id="34" name="text-184"/>
          <p:cNvSpPr txBox="1"/>
          <p:nvPr/>
        </p:nvSpPr>
        <p:spPr>
          <a:xfrm>
            <a:off x="4754880" y="5431536"/>
            <a:ext cx="3383280" cy="731520"/>
          </a:xfrm>
          <a:prstGeom prst="rect">
            <a:avLst/>
          </a:prstGeom>
          <a:noFill/>
          <a:ln/>
        </p:spPr>
        <p:txBody>
          <a:bodyPr wrap="square" lIns="0" tIns="0" rIns="0" bIns="0" rtlCol="0" anchor="ctr"/>
          <a:lstStyle/>
          <a:p>
            <a:pPr marL="0" indent="0">
              <a:buNone/>
            </a:pPr>
            <a:r>
              <a:rPr lang="en-US" sz="1600" b="1" dirty="0">
                <a:solidFill>
                  <a:schemeClr val="accent5"/>
                </a:solidFill>
              </a:rPr>
              <a:t>+  </a:t>
            </a:r>
            <a:r>
              <a:rPr lang="en-US" sz="1600" dirty="0">
                <a:solidFill>
                  <a:schemeClr val="tx1"/>
                </a:solidFill>
              </a:rPr>
              <a:t>Reliable demo, no VPN</a:t>
            </a:r>
            <a:endParaRPr lang="en-US" sz="1600" dirty="0"/>
          </a:p>
        </p:txBody>
      </p:sp>
      <p:sp>
        <p:nvSpPr>
          <p:cNvPr id="35" name="text-185"/>
          <p:cNvSpPr txBox="1"/>
          <p:nvPr/>
        </p:nvSpPr>
        <p:spPr>
          <a:xfrm>
            <a:off x="8229600" y="5431536"/>
            <a:ext cx="3291840" cy="731520"/>
          </a:xfrm>
          <a:prstGeom prst="rect">
            <a:avLst/>
          </a:prstGeom>
          <a:noFill/>
          <a:ln/>
        </p:spPr>
        <p:txBody>
          <a:bodyPr wrap="square" lIns="0" tIns="0" rIns="0" bIns="0" rtlCol="0" anchor="ctr"/>
          <a:lstStyle/>
          <a:p>
            <a:pPr marL="0" indent="0">
              <a:buNone/>
            </a:pPr>
            <a:r>
              <a:rPr lang="en-US" sz="1600" b="1" dirty="0">
                <a:solidFill>
                  <a:schemeClr val="accent3"/>
                </a:solidFill>
              </a:rPr>
              <a:t>–  </a:t>
            </a:r>
            <a:r>
              <a:rPr lang="en-US" sz="1600" dirty="0">
                <a:solidFill>
                  <a:schemeClr val="tx1"/>
                </a:solidFill>
              </a:rPr>
              <a:t>Curated prototype data</a:t>
            </a:r>
            <a:endParaRPr lang="en-US" sz="1600" dirty="0"/>
          </a:p>
        </p:txBody>
      </p:sp>
      <p:sp>
        <p:nvSpPr>
          <p:cNvPr id="36"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Core Algorithms</a:t>
            </a:r>
            <a:endParaRPr lang="en-US" sz="3400" dirty="0"/>
          </a:p>
        </p:txBody>
      </p:sp>
      <p:sp>
        <p:nvSpPr>
          <p:cNvPr id="3" name="shape-186"/>
          <p:cNvSpPr/>
          <p:nvPr/>
        </p:nvSpPr>
        <p:spPr>
          <a:xfrm>
            <a:off x="548640" y="1280160"/>
            <a:ext cx="3566160" cy="4846320"/>
          </a:xfrm>
          <a:prstGeom prst="roundRect">
            <a:avLst>
              <a:gd name="adj" fmla="val 2564"/>
            </a:avLst>
          </a:prstGeom>
          <a:solidFill>
            <a:schemeClr val="bg2"/>
          </a:solidFill>
          <a:ln/>
        </p:spPr>
      </p:sp>
      <p:sp>
        <p:nvSpPr>
          <p:cNvPr id="4" name="badge-187"/>
          <p:cNvSpPr txBox="1"/>
          <p:nvPr/>
        </p:nvSpPr>
        <p:spPr>
          <a:xfrm>
            <a:off x="777240" y="1508760"/>
            <a:ext cx="502920" cy="502920"/>
          </a:xfrm>
          <a:prstGeom prst="ellipse">
            <a:avLst/>
          </a:prstGeom>
          <a:solidFill>
            <a:schemeClr val="tx2"/>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188"/>
          <p:cNvSpPr txBox="1"/>
          <p:nvPr/>
        </p:nvSpPr>
        <p:spPr>
          <a:xfrm>
            <a:off x="1417320" y="1481328"/>
            <a:ext cx="2560320" cy="365760"/>
          </a:xfrm>
          <a:prstGeom prst="rect">
            <a:avLst/>
          </a:prstGeom>
          <a:noFill/>
          <a:ln/>
        </p:spPr>
        <p:txBody>
          <a:bodyPr wrap="square" lIns="0" tIns="0" rIns="0" bIns="0" rtlCol="0" anchor="t"/>
          <a:lstStyle/>
          <a:p>
            <a:pPr marL="0" indent="0">
              <a:buNone/>
            </a:pPr>
            <a:r>
              <a:rPr lang="en-US" sz="1900" b="1" dirty="0">
                <a:solidFill>
                  <a:schemeClr val="tx2"/>
                </a:solidFill>
              </a:rPr>
              <a:t>Screening engine</a:t>
            </a:r>
            <a:endParaRPr lang="en-US" sz="1900" dirty="0"/>
          </a:p>
        </p:txBody>
      </p:sp>
      <p:sp>
        <p:nvSpPr>
          <p:cNvPr id="6" name="text-189"/>
          <p:cNvSpPr txBox="1"/>
          <p:nvPr/>
        </p:nvSpPr>
        <p:spPr>
          <a:xfrm>
            <a:off x="1417320" y="1847088"/>
            <a:ext cx="2651760" cy="274320"/>
          </a:xfrm>
          <a:prstGeom prst="rect">
            <a:avLst/>
          </a:prstGeom>
          <a:noFill/>
          <a:ln/>
        </p:spPr>
        <p:txBody>
          <a:bodyPr wrap="square" lIns="0" tIns="0" rIns="0" bIns="0" rtlCol="0" anchor="t"/>
          <a:lstStyle/>
          <a:p>
            <a:pPr marL="0" indent="0">
              <a:buNone/>
            </a:pPr>
            <a:r>
              <a:rPr lang="en-US" sz="1200" dirty="0">
                <a:solidFill>
                  <a:schemeClr val="accent6"/>
                </a:solidFill>
                <a:latin typeface="Courier New" pitchFamily="34" charset="0"/>
                <a:ea typeface="Courier New" pitchFamily="34" charset="-122"/>
                <a:cs typeface="Courier New" pitchFamily="34" charset="-120"/>
              </a:rPr>
              <a:t>assessScreening()</a:t>
            </a:r>
            <a:endParaRPr lang="en-US" sz="1200" dirty="0"/>
          </a:p>
        </p:txBody>
      </p:sp>
      <p:sp>
        <p:nvSpPr>
          <p:cNvPr id="7" name="shape-190"/>
          <p:cNvSpPr/>
          <p:nvPr/>
        </p:nvSpPr>
        <p:spPr>
          <a:xfrm>
            <a:off x="4297680" y="1280160"/>
            <a:ext cx="3566160" cy="4846320"/>
          </a:xfrm>
          <a:prstGeom prst="roundRect">
            <a:avLst>
              <a:gd name="adj" fmla="val 2564"/>
            </a:avLst>
          </a:prstGeom>
          <a:solidFill>
            <a:schemeClr val="bg2"/>
          </a:solidFill>
          <a:ln/>
        </p:spPr>
      </p:sp>
      <p:sp>
        <p:nvSpPr>
          <p:cNvPr id="8" name="badge-191"/>
          <p:cNvSpPr txBox="1"/>
          <p:nvPr/>
        </p:nvSpPr>
        <p:spPr>
          <a:xfrm>
            <a:off x="4526280" y="1508760"/>
            <a:ext cx="502920" cy="502920"/>
          </a:xfrm>
          <a:prstGeom prst="ellipse">
            <a:avLst/>
          </a:prstGeom>
          <a:solidFill>
            <a:schemeClr val="tx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192"/>
          <p:cNvSpPr txBox="1"/>
          <p:nvPr/>
        </p:nvSpPr>
        <p:spPr>
          <a:xfrm>
            <a:off x="5166360" y="1481328"/>
            <a:ext cx="2560320" cy="365760"/>
          </a:xfrm>
          <a:prstGeom prst="rect">
            <a:avLst/>
          </a:prstGeom>
          <a:noFill/>
          <a:ln/>
        </p:spPr>
        <p:txBody>
          <a:bodyPr wrap="square" lIns="0" tIns="0" rIns="0" bIns="0" rtlCol="0" anchor="t"/>
          <a:lstStyle/>
          <a:p>
            <a:pPr marL="0" indent="0">
              <a:buNone/>
            </a:pPr>
            <a:r>
              <a:rPr lang="en-US" sz="1900" b="1" dirty="0">
                <a:solidFill>
                  <a:schemeClr val="tx2"/>
                </a:solidFill>
              </a:rPr>
              <a:t>Unlicensed workflow</a:t>
            </a:r>
            <a:endParaRPr lang="en-US" sz="1900" dirty="0"/>
          </a:p>
        </p:txBody>
      </p:sp>
      <p:sp>
        <p:nvSpPr>
          <p:cNvPr id="10" name="text-193"/>
          <p:cNvSpPr txBox="1"/>
          <p:nvPr/>
        </p:nvSpPr>
        <p:spPr>
          <a:xfrm>
            <a:off x="5166360" y="1847088"/>
            <a:ext cx="2651760" cy="274320"/>
          </a:xfrm>
          <a:prstGeom prst="rect">
            <a:avLst/>
          </a:prstGeom>
          <a:noFill/>
          <a:ln/>
        </p:spPr>
        <p:txBody>
          <a:bodyPr wrap="square" lIns="0" tIns="0" rIns="0" bIns="0" rtlCol="0" anchor="t"/>
          <a:lstStyle/>
          <a:p>
            <a:pPr marL="0" indent="0">
              <a:buNone/>
            </a:pPr>
            <a:r>
              <a:rPr lang="en-US" sz="1200" dirty="0">
                <a:solidFill>
                  <a:schemeClr val="accent6"/>
                </a:solidFill>
                <a:latin typeface="Courier New" pitchFamily="34" charset="0"/>
                <a:ea typeface="Courier New" pitchFamily="34" charset="-122"/>
                <a:cs typeface="Courier New" pitchFamily="34" charset="-120"/>
              </a:rPr>
              <a:t>validateViolationPayload()</a:t>
            </a:r>
            <a:endParaRPr lang="en-US" sz="1200" dirty="0"/>
          </a:p>
        </p:txBody>
      </p:sp>
      <p:sp>
        <p:nvSpPr>
          <p:cNvPr id="11" name="shape-194"/>
          <p:cNvSpPr/>
          <p:nvPr/>
        </p:nvSpPr>
        <p:spPr>
          <a:xfrm>
            <a:off x="8046720" y="1280160"/>
            <a:ext cx="3566160" cy="4846320"/>
          </a:xfrm>
          <a:prstGeom prst="roundRect">
            <a:avLst>
              <a:gd name="adj" fmla="val 2564"/>
            </a:avLst>
          </a:prstGeom>
          <a:solidFill>
            <a:schemeClr val="bg2"/>
          </a:solidFill>
          <a:ln/>
        </p:spPr>
      </p:sp>
      <p:sp>
        <p:nvSpPr>
          <p:cNvPr id="12" name="badge-195"/>
          <p:cNvSpPr txBox="1"/>
          <p:nvPr/>
        </p:nvSpPr>
        <p:spPr>
          <a:xfrm>
            <a:off x="8275320" y="1508760"/>
            <a:ext cx="502920" cy="502920"/>
          </a:xfrm>
          <a:prstGeom prst="ellipse">
            <a:avLst/>
          </a:prstGeom>
          <a:solidFill>
            <a:schemeClr val="tx2"/>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196"/>
          <p:cNvSpPr txBox="1"/>
          <p:nvPr/>
        </p:nvSpPr>
        <p:spPr>
          <a:xfrm>
            <a:off x="8915400" y="1481328"/>
            <a:ext cx="2560320" cy="365760"/>
          </a:xfrm>
          <a:prstGeom prst="rect">
            <a:avLst/>
          </a:prstGeom>
          <a:noFill/>
          <a:ln/>
        </p:spPr>
        <p:txBody>
          <a:bodyPr wrap="square" lIns="0" tIns="0" rIns="0" bIns="0" rtlCol="0" anchor="t"/>
          <a:lstStyle/>
          <a:p>
            <a:pPr marL="0" indent="0">
              <a:buNone/>
            </a:pPr>
            <a:r>
              <a:rPr lang="en-US" sz="1900" b="1" dirty="0">
                <a:solidFill>
                  <a:schemeClr val="tx2"/>
                </a:solidFill>
              </a:rPr>
              <a:t>Fine totaling</a:t>
            </a:r>
            <a:endParaRPr lang="en-US" sz="1900" dirty="0"/>
          </a:p>
        </p:txBody>
      </p:sp>
      <p:sp>
        <p:nvSpPr>
          <p:cNvPr id="14" name="text-197"/>
          <p:cNvSpPr txBox="1"/>
          <p:nvPr/>
        </p:nvSpPr>
        <p:spPr>
          <a:xfrm>
            <a:off x="8915400" y="1847088"/>
            <a:ext cx="2651760" cy="274320"/>
          </a:xfrm>
          <a:prstGeom prst="rect">
            <a:avLst/>
          </a:prstGeom>
          <a:noFill/>
          <a:ln/>
        </p:spPr>
        <p:txBody>
          <a:bodyPr wrap="square" lIns="0" tIns="0" rIns="0" bIns="0" rtlCol="0" anchor="t"/>
          <a:lstStyle/>
          <a:p>
            <a:pPr marL="0" indent="0">
              <a:buNone/>
            </a:pPr>
            <a:r>
              <a:rPr lang="en-US" sz="1200" dirty="0">
                <a:solidFill>
                  <a:schemeClr val="accent6"/>
                </a:solidFill>
                <a:latin typeface="Courier New" pitchFamily="34" charset="0"/>
                <a:ea typeface="Courier New" pitchFamily="34" charset="-122"/>
                <a:cs typeface="Courier New" pitchFamily="34" charset="-120"/>
              </a:rPr>
              <a:t>calculateViolationTotal()</a:t>
            </a:r>
            <a:endParaRPr lang="en-US" sz="1200" dirty="0"/>
          </a:p>
        </p:txBody>
      </p:sp>
      <p:sp>
        <p:nvSpPr>
          <p:cNvPr id="15" name="pill-198"/>
          <p:cNvSpPr txBox="1"/>
          <p:nvPr/>
        </p:nvSpPr>
        <p:spPr>
          <a:xfrm>
            <a:off x="777240" y="2514600"/>
            <a:ext cx="1143000" cy="384048"/>
          </a:xfrm>
          <a:prstGeom prst="roundRect">
            <a:avLst>
              <a:gd name="adj" fmla="val 19048"/>
            </a:avLst>
          </a:prstGeom>
          <a:solidFill>
            <a:schemeClr val="accent3"/>
          </a:solidFill>
          <a:ln/>
        </p:spPr>
        <p:txBody>
          <a:bodyPr wrap="square" lIns="0" tIns="0" rIns="0" bIns="0" rtlCol="0" anchor="ctr"/>
          <a:lstStyle/>
          <a:p>
            <a:pPr marL="0" indent="0" algn="ctr">
              <a:buNone/>
            </a:pPr>
            <a:r>
              <a:rPr lang="en-US" sz="1200" b="1" dirty="0">
                <a:solidFill>
                  <a:schemeClr val="bg1"/>
                </a:solidFill>
              </a:rPr>
              <a:t>ALARM</a:t>
            </a:r>
            <a:endParaRPr lang="en-US" sz="1200" dirty="0"/>
          </a:p>
        </p:txBody>
      </p:sp>
      <p:sp>
        <p:nvSpPr>
          <p:cNvPr id="16" name="text-199"/>
          <p:cNvSpPr txBox="1"/>
          <p:nvPr/>
        </p:nvSpPr>
        <p:spPr>
          <a:xfrm>
            <a:off x="2103120" y="2514600"/>
            <a:ext cx="1920240" cy="384048"/>
          </a:xfrm>
          <a:prstGeom prst="rect">
            <a:avLst/>
          </a:prstGeom>
          <a:noFill/>
          <a:ln/>
        </p:spPr>
        <p:txBody>
          <a:bodyPr wrap="square" lIns="0" tIns="0" rIns="0" bIns="0" rtlCol="0" anchor="ctr"/>
          <a:lstStyle/>
          <a:p>
            <a:pPr marL="0" indent="0">
              <a:buNone/>
            </a:pPr>
            <a:r>
              <a:rPr lang="en-US" sz="1500" dirty="0">
                <a:solidFill>
                  <a:schemeClr val="tx1"/>
                </a:solidFill>
              </a:rPr>
              <a:t>Stolen plate (HPG)</a:t>
            </a:r>
            <a:endParaRPr lang="en-US" sz="1500" dirty="0"/>
          </a:p>
        </p:txBody>
      </p:sp>
      <p:sp>
        <p:nvSpPr>
          <p:cNvPr id="17" name="pill-200"/>
          <p:cNvSpPr txBox="1"/>
          <p:nvPr/>
        </p:nvSpPr>
        <p:spPr>
          <a:xfrm>
            <a:off x="777240" y="3200400"/>
            <a:ext cx="1143000" cy="384048"/>
          </a:xfrm>
          <a:prstGeom prst="roundRect">
            <a:avLst>
              <a:gd name="adj" fmla="val 19048"/>
            </a:avLst>
          </a:prstGeom>
          <a:solidFill>
            <a:schemeClr val="accent3"/>
          </a:solidFill>
          <a:ln/>
        </p:spPr>
        <p:txBody>
          <a:bodyPr wrap="square" lIns="0" tIns="0" rIns="0" bIns="0" rtlCol="0" anchor="ctr"/>
          <a:lstStyle/>
          <a:p>
            <a:pPr marL="0" indent="0" algn="ctr">
              <a:buNone/>
            </a:pPr>
            <a:r>
              <a:rPr lang="en-US" sz="1200" b="1" dirty="0">
                <a:solidFill>
                  <a:schemeClr val="bg1"/>
                </a:solidFill>
              </a:rPr>
              <a:t>ALARM</a:t>
            </a:r>
            <a:endParaRPr lang="en-US" sz="1200" dirty="0"/>
          </a:p>
        </p:txBody>
      </p:sp>
      <p:sp>
        <p:nvSpPr>
          <p:cNvPr id="18" name="text-201"/>
          <p:cNvSpPr txBox="1"/>
          <p:nvPr/>
        </p:nvSpPr>
        <p:spPr>
          <a:xfrm>
            <a:off x="2103120" y="3200400"/>
            <a:ext cx="1920240" cy="384048"/>
          </a:xfrm>
          <a:prstGeom prst="rect">
            <a:avLst/>
          </a:prstGeom>
          <a:noFill/>
          <a:ln/>
        </p:spPr>
        <p:txBody>
          <a:bodyPr wrap="square" lIns="0" tIns="0" rIns="0" bIns="0" rtlCol="0" anchor="ctr"/>
          <a:lstStyle/>
          <a:p>
            <a:pPr marL="0" indent="0">
              <a:buNone/>
            </a:pPr>
            <a:r>
              <a:rPr lang="en-US" sz="1500" dirty="0">
                <a:solidFill>
                  <a:schemeClr val="tx1"/>
                </a:solidFill>
              </a:rPr>
              <a:t>Court-warrant driver</a:t>
            </a:r>
            <a:endParaRPr lang="en-US" sz="1500" dirty="0"/>
          </a:p>
        </p:txBody>
      </p:sp>
      <p:sp>
        <p:nvSpPr>
          <p:cNvPr id="19" name="pill-202"/>
          <p:cNvSpPr txBox="1"/>
          <p:nvPr/>
        </p:nvSpPr>
        <p:spPr>
          <a:xfrm>
            <a:off x="777240" y="3886200"/>
            <a:ext cx="1143000" cy="384048"/>
          </a:xfrm>
          <a:prstGeom prst="roundRect">
            <a:avLst>
              <a:gd name="adj" fmla="val 19048"/>
            </a:avLst>
          </a:prstGeom>
          <a:solidFill>
            <a:schemeClr val="accent4"/>
          </a:solidFill>
          <a:ln/>
        </p:spPr>
        <p:txBody>
          <a:bodyPr wrap="square" lIns="0" tIns="0" rIns="0" bIns="0" rtlCol="0" anchor="ctr"/>
          <a:lstStyle/>
          <a:p>
            <a:pPr marL="0" indent="0" algn="ctr">
              <a:buNone/>
            </a:pPr>
            <a:r>
              <a:rPr lang="en-US" sz="1200" b="1" dirty="0">
                <a:solidFill>
                  <a:schemeClr val="tx1"/>
                </a:solidFill>
              </a:rPr>
              <a:t>WARNING</a:t>
            </a:r>
            <a:endParaRPr lang="en-US" sz="1200" dirty="0"/>
          </a:p>
        </p:txBody>
      </p:sp>
      <p:sp>
        <p:nvSpPr>
          <p:cNvPr id="20" name="text-203"/>
          <p:cNvSpPr txBox="1"/>
          <p:nvPr/>
        </p:nvSpPr>
        <p:spPr>
          <a:xfrm>
            <a:off x="2103120" y="3886200"/>
            <a:ext cx="1920240" cy="384048"/>
          </a:xfrm>
          <a:prstGeom prst="rect">
            <a:avLst/>
          </a:prstGeom>
          <a:noFill/>
          <a:ln/>
        </p:spPr>
        <p:txBody>
          <a:bodyPr wrap="square" lIns="0" tIns="0" rIns="0" bIns="0" rtlCol="0" anchor="ctr"/>
          <a:lstStyle/>
          <a:p>
            <a:pPr marL="0" indent="0">
              <a:buNone/>
            </a:pPr>
            <a:r>
              <a:rPr lang="en-US" sz="1500" dirty="0">
                <a:solidFill>
                  <a:schemeClr val="tx1"/>
                </a:solidFill>
              </a:rPr>
              <a:t>Suspended license</a:t>
            </a:r>
            <a:endParaRPr lang="en-US" sz="1500" dirty="0"/>
          </a:p>
        </p:txBody>
      </p:sp>
      <p:sp>
        <p:nvSpPr>
          <p:cNvPr id="21" name="pill-204"/>
          <p:cNvSpPr txBox="1"/>
          <p:nvPr/>
        </p:nvSpPr>
        <p:spPr>
          <a:xfrm>
            <a:off x="777240" y="4572000"/>
            <a:ext cx="1143000" cy="384048"/>
          </a:xfrm>
          <a:prstGeom prst="roundRect">
            <a:avLst>
              <a:gd name="adj" fmla="val 19048"/>
            </a:avLst>
          </a:prstGeom>
          <a:solidFill>
            <a:schemeClr val="accent4"/>
          </a:solidFill>
          <a:ln/>
        </p:spPr>
        <p:txBody>
          <a:bodyPr wrap="square" lIns="0" tIns="0" rIns="0" bIns="0" rtlCol="0" anchor="ctr"/>
          <a:lstStyle/>
          <a:p>
            <a:pPr marL="0" indent="0" algn="ctr">
              <a:buNone/>
            </a:pPr>
            <a:r>
              <a:rPr lang="en-US" sz="1200" b="1" dirty="0">
                <a:solidFill>
                  <a:schemeClr val="tx1"/>
                </a:solidFill>
              </a:rPr>
              <a:t>WARNING</a:t>
            </a:r>
            <a:endParaRPr lang="en-US" sz="1200" dirty="0"/>
          </a:p>
        </p:txBody>
      </p:sp>
      <p:sp>
        <p:nvSpPr>
          <p:cNvPr id="22" name="text-205"/>
          <p:cNvSpPr txBox="1"/>
          <p:nvPr/>
        </p:nvSpPr>
        <p:spPr>
          <a:xfrm>
            <a:off x="2103120" y="4572000"/>
            <a:ext cx="1920240" cy="384048"/>
          </a:xfrm>
          <a:prstGeom prst="rect">
            <a:avLst/>
          </a:prstGeom>
          <a:noFill/>
          <a:ln/>
        </p:spPr>
        <p:txBody>
          <a:bodyPr wrap="square" lIns="0" tIns="0" rIns="0" bIns="0" rtlCol="0" anchor="ctr"/>
          <a:lstStyle/>
          <a:p>
            <a:pPr marL="0" indent="0">
              <a:buNone/>
            </a:pPr>
            <a:r>
              <a:rPr lang="en-US" sz="1500" dirty="0">
                <a:solidFill>
                  <a:schemeClr val="tx1"/>
                </a:solidFill>
              </a:rPr>
              <a:t>Expired registration</a:t>
            </a:r>
            <a:endParaRPr lang="en-US" sz="1500" dirty="0"/>
          </a:p>
        </p:txBody>
      </p:sp>
      <p:sp>
        <p:nvSpPr>
          <p:cNvPr id="23" name="pill-206"/>
          <p:cNvSpPr txBox="1"/>
          <p:nvPr/>
        </p:nvSpPr>
        <p:spPr>
          <a:xfrm>
            <a:off x="777240" y="5257800"/>
            <a:ext cx="1143000" cy="384048"/>
          </a:xfrm>
          <a:prstGeom prst="roundRect">
            <a:avLst>
              <a:gd name="adj" fmla="val 19048"/>
            </a:avLst>
          </a:prstGeom>
          <a:solidFill>
            <a:schemeClr val="accent5"/>
          </a:solidFill>
          <a:ln/>
        </p:spPr>
        <p:txBody>
          <a:bodyPr wrap="square" lIns="0" tIns="0" rIns="0" bIns="0" rtlCol="0" anchor="ctr"/>
          <a:lstStyle/>
          <a:p>
            <a:pPr marL="0" indent="0" algn="ctr">
              <a:buNone/>
            </a:pPr>
            <a:r>
              <a:rPr lang="en-US" sz="1200" b="1" dirty="0">
                <a:solidFill>
                  <a:schemeClr val="bg1"/>
                </a:solidFill>
              </a:rPr>
              <a:t>CLEAR</a:t>
            </a:r>
            <a:endParaRPr lang="en-US" sz="1200" dirty="0"/>
          </a:p>
        </p:txBody>
      </p:sp>
      <p:sp>
        <p:nvSpPr>
          <p:cNvPr id="24" name="text-207"/>
          <p:cNvSpPr txBox="1"/>
          <p:nvPr/>
        </p:nvSpPr>
        <p:spPr>
          <a:xfrm>
            <a:off x="2103120" y="5257800"/>
            <a:ext cx="1920240" cy="384048"/>
          </a:xfrm>
          <a:prstGeom prst="rect">
            <a:avLst/>
          </a:prstGeom>
          <a:noFill/>
          <a:ln/>
        </p:spPr>
        <p:txBody>
          <a:bodyPr wrap="square" lIns="0" tIns="0" rIns="0" bIns="0" rtlCol="0" anchor="ctr"/>
          <a:lstStyle/>
          <a:p>
            <a:pPr marL="0" indent="0">
              <a:buNone/>
            </a:pPr>
            <a:r>
              <a:rPr lang="en-US" sz="1500" dirty="0">
                <a:solidFill>
                  <a:schemeClr val="tx1"/>
                </a:solidFill>
              </a:rPr>
              <a:t>No flags found</a:t>
            </a:r>
            <a:endParaRPr lang="en-US" sz="1500" dirty="0"/>
          </a:p>
        </p:txBody>
      </p:sp>
      <p:sp>
        <p:nvSpPr>
          <p:cNvPr id="25" name="text-208"/>
          <p:cNvSpPr txBox="1"/>
          <p:nvPr/>
        </p:nvSpPr>
        <p:spPr>
          <a:xfrm>
            <a:off x="4572000" y="2514600"/>
            <a:ext cx="3108960" cy="33832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No Driver's License locks the license field</a:t>
            </a:r>
            <a:endParaRPr lang="en-US" sz="1800" dirty="0"/>
          </a:p>
          <a:p>
            <a:pPr marL="342900" indent="-342900">
              <a:spcAft>
                <a:spcPts val="1400"/>
              </a:spcAft>
              <a:buSzPct val="100000"/>
              <a:buChar char="•"/>
            </a:pPr>
            <a:r>
              <a:rPr lang="en-US" sz="1800" dirty="0">
                <a:solidFill>
                  <a:schemeClr val="tx1"/>
                </a:solidFill>
              </a:rPr>
              <a:t>No false alarms on N/A licenses</a:t>
            </a:r>
            <a:endParaRPr lang="en-US" sz="1800" dirty="0"/>
          </a:p>
          <a:p>
            <a:pPr marL="342900" indent="-342900">
              <a:spcAft>
                <a:spcPts val="1400"/>
              </a:spcAft>
              <a:buSzPct val="100000"/>
              <a:buChar char="•"/>
            </a:pPr>
            <a:r>
              <a:rPr lang="en-US" sz="1800" dirty="0">
                <a:solidFill>
                  <a:schemeClr val="tx1"/>
                </a:solidFill>
              </a:rPr>
              <a:t>Alt-ID required: PhilID, SSS, Passport…</a:t>
            </a:r>
            <a:endParaRPr lang="en-US" sz="1800" dirty="0"/>
          </a:p>
          <a:p>
            <a:pPr marL="342900" indent="-342900">
              <a:spcAft>
                <a:spcPts val="1400"/>
              </a:spcAft>
              <a:buSzPct val="100000"/>
              <a:buChar char="•"/>
            </a:pPr>
            <a:r>
              <a:rPr lang="en-US" sz="1800" dirty="0">
                <a:solidFill>
                  <a:schemeClr val="tx1"/>
                </a:solidFill>
              </a:rPr>
              <a:t>Missing ID is rejected</a:t>
            </a:r>
            <a:endParaRPr lang="en-US" sz="1800" dirty="0"/>
          </a:p>
        </p:txBody>
      </p:sp>
      <p:sp>
        <p:nvSpPr>
          <p:cNvPr id="26" name="text-209"/>
          <p:cNvSpPr txBox="1"/>
          <p:nvPr/>
        </p:nvSpPr>
        <p:spPr>
          <a:xfrm>
            <a:off x="8321040" y="2514600"/>
            <a:ext cx="2011680" cy="365760"/>
          </a:xfrm>
          <a:prstGeom prst="rect">
            <a:avLst/>
          </a:prstGeom>
          <a:noFill/>
          <a:ln/>
        </p:spPr>
        <p:txBody>
          <a:bodyPr wrap="square" lIns="0" tIns="0" rIns="0" bIns="0" rtlCol="0" anchor="ctr"/>
          <a:lstStyle/>
          <a:p>
            <a:pPr marL="0" indent="0">
              <a:buNone/>
            </a:pPr>
            <a:r>
              <a:rPr lang="en-US" sz="1600" dirty="0">
                <a:solidFill>
                  <a:schemeClr val="tx1"/>
                </a:solidFill>
              </a:rPr>
              <a:t>No license</a:t>
            </a:r>
            <a:endParaRPr lang="en-US" sz="1600" dirty="0"/>
          </a:p>
        </p:txBody>
      </p:sp>
      <p:sp>
        <p:nvSpPr>
          <p:cNvPr id="27" name="text-210"/>
          <p:cNvSpPr txBox="1"/>
          <p:nvPr/>
        </p:nvSpPr>
        <p:spPr>
          <a:xfrm>
            <a:off x="10332720" y="2514600"/>
            <a:ext cx="1005840" cy="365760"/>
          </a:xfrm>
          <a:prstGeom prst="rect">
            <a:avLst/>
          </a:prstGeom>
          <a:noFill/>
          <a:ln/>
        </p:spPr>
        <p:txBody>
          <a:bodyPr wrap="square" lIns="0" tIns="0" rIns="0" bIns="0" rtlCol="0" anchor="ctr"/>
          <a:lstStyle/>
          <a:p>
            <a:pPr marL="0" indent="0" algn="r">
              <a:buNone/>
            </a:pPr>
            <a:r>
              <a:rPr lang="en-US" sz="1600" dirty="0">
                <a:solidFill>
                  <a:schemeClr val="tx1"/>
                </a:solidFill>
              </a:rPr>
              <a:t>₱1,500</a:t>
            </a:r>
            <a:endParaRPr lang="en-US" sz="1600" dirty="0"/>
          </a:p>
        </p:txBody>
      </p:sp>
      <p:sp>
        <p:nvSpPr>
          <p:cNvPr id="28" name="text-211"/>
          <p:cNvSpPr txBox="1"/>
          <p:nvPr/>
        </p:nvSpPr>
        <p:spPr>
          <a:xfrm>
            <a:off x="8321040" y="3017520"/>
            <a:ext cx="2011680" cy="365760"/>
          </a:xfrm>
          <a:prstGeom prst="rect">
            <a:avLst/>
          </a:prstGeom>
          <a:noFill/>
          <a:ln/>
        </p:spPr>
        <p:txBody>
          <a:bodyPr wrap="square" lIns="0" tIns="0" rIns="0" bIns="0" rtlCol="0" anchor="ctr"/>
          <a:lstStyle/>
          <a:p>
            <a:pPr marL="0" indent="0">
              <a:buNone/>
            </a:pPr>
            <a:r>
              <a:rPr lang="en-US" sz="1600" dirty="0">
                <a:solidFill>
                  <a:schemeClr val="tx1"/>
                </a:solidFill>
              </a:rPr>
              <a:t>Expired registration</a:t>
            </a:r>
            <a:endParaRPr lang="en-US" sz="1600" dirty="0"/>
          </a:p>
        </p:txBody>
      </p:sp>
      <p:sp>
        <p:nvSpPr>
          <p:cNvPr id="29" name="text-212"/>
          <p:cNvSpPr txBox="1"/>
          <p:nvPr/>
        </p:nvSpPr>
        <p:spPr>
          <a:xfrm>
            <a:off x="10332720" y="3017520"/>
            <a:ext cx="1005840" cy="365760"/>
          </a:xfrm>
          <a:prstGeom prst="rect">
            <a:avLst/>
          </a:prstGeom>
          <a:noFill/>
          <a:ln/>
        </p:spPr>
        <p:txBody>
          <a:bodyPr wrap="square" lIns="0" tIns="0" rIns="0" bIns="0" rtlCol="0" anchor="ctr"/>
          <a:lstStyle/>
          <a:p>
            <a:pPr marL="0" indent="0" algn="r">
              <a:buNone/>
            </a:pPr>
            <a:r>
              <a:rPr lang="en-US" sz="1600" dirty="0">
                <a:solidFill>
                  <a:schemeClr val="tx1"/>
                </a:solidFill>
              </a:rPr>
              <a:t>₱1,200</a:t>
            </a:r>
            <a:endParaRPr lang="en-US" sz="1600" dirty="0"/>
          </a:p>
        </p:txBody>
      </p:sp>
      <p:sp>
        <p:nvSpPr>
          <p:cNvPr id="30" name="text-213"/>
          <p:cNvSpPr txBox="1"/>
          <p:nvPr/>
        </p:nvSpPr>
        <p:spPr>
          <a:xfrm>
            <a:off x="8321040" y="3520440"/>
            <a:ext cx="2011680" cy="365760"/>
          </a:xfrm>
          <a:prstGeom prst="rect">
            <a:avLst/>
          </a:prstGeom>
          <a:noFill/>
          <a:ln/>
        </p:spPr>
        <p:txBody>
          <a:bodyPr wrap="square" lIns="0" tIns="0" rIns="0" bIns="0" rtlCol="0" anchor="ctr"/>
          <a:lstStyle/>
          <a:p>
            <a:pPr marL="0" indent="0">
              <a:buNone/>
            </a:pPr>
            <a:r>
              <a:rPr lang="en-US" sz="1600" dirty="0">
                <a:solidFill>
                  <a:schemeClr val="tx1"/>
                </a:solidFill>
              </a:rPr>
              <a:t>No helmet</a:t>
            </a:r>
            <a:endParaRPr lang="en-US" sz="1600" dirty="0"/>
          </a:p>
        </p:txBody>
      </p:sp>
      <p:sp>
        <p:nvSpPr>
          <p:cNvPr id="31" name="text-214"/>
          <p:cNvSpPr txBox="1"/>
          <p:nvPr/>
        </p:nvSpPr>
        <p:spPr>
          <a:xfrm>
            <a:off x="10332720" y="3520440"/>
            <a:ext cx="1005840" cy="365760"/>
          </a:xfrm>
          <a:prstGeom prst="rect">
            <a:avLst/>
          </a:prstGeom>
          <a:noFill/>
          <a:ln/>
        </p:spPr>
        <p:txBody>
          <a:bodyPr wrap="square" lIns="0" tIns="0" rIns="0" bIns="0" rtlCol="0" anchor="ctr"/>
          <a:lstStyle/>
          <a:p>
            <a:pPr marL="0" indent="0" algn="r">
              <a:buNone/>
            </a:pPr>
            <a:r>
              <a:rPr lang="en-US" sz="1600" dirty="0">
                <a:solidFill>
                  <a:schemeClr val="tx1"/>
                </a:solidFill>
              </a:rPr>
              <a:t>₱1,000</a:t>
            </a:r>
            <a:endParaRPr lang="en-US" sz="1600" dirty="0"/>
          </a:p>
        </p:txBody>
      </p:sp>
      <p:sp>
        <p:nvSpPr>
          <p:cNvPr id="32" name="rule-215"/>
          <p:cNvSpPr/>
          <p:nvPr/>
        </p:nvSpPr>
        <p:spPr>
          <a:xfrm>
            <a:off x="8321040" y="4114800"/>
            <a:ext cx="3017520" cy="0"/>
          </a:xfrm>
          <a:prstGeom prst="line">
            <a:avLst/>
          </a:prstGeom>
          <a:noFill/>
          <a:ln w="19050">
            <a:solidFill>
              <a:schemeClr val="tx2"/>
            </a:solidFill>
            <a:prstDash val="solid"/>
          </a:ln>
        </p:spPr>
      </p:sp>
      <p:sp>
        <p:nvSpPr>
          <p:cNvPr id="33" name="text-216"/>
          <p:cNvSpPr txBox="1"/>
          <p:nvPr/>
        </p:nvSpPr>
        <p:spPr>
          <a:xfrm>
            <a:off x="8321040" y="4251960"/>
            <a:ext cx="1463040" cy="457200"/>
          </a:xfrm>
          <a:prstGeom prst="rect">
            <a:avLst/>
          </a:prstGeom>
          <a:noFill/>
          <a:ln/>
        </p:spPr>
        <p:txBody>
          <a:bodyPr wrap="square" lIns="0" tIns="0" rIns="0" bIns="0" rtlCol="0" anchor="ctr"/>
          <a:lstStyle/>
          <a:p>
            <a:pPr marL="0" indent="0">
              <a:buNone/>
            </a:pPr>
            <a:r>
              <a:rPr lang="en-US" sz="2000" b="1" dirty="0">
                <a:solidFill>
                  <a:schemeClr val="tx2"/>
                </a:solidFill>
              </a:rPr>
              <a:t>Total</a:t>
            </a:r>
            <a:endParaRPr lang="en-US" sz="2000" dirty="0"/>
          </a:p>
        </p:txBody>
      </p:sp>
      <p:sp>
        <p:nvSpPr>
          <p:cNvPr id="34" name="text-217"/>
          <p:cNvSpPr txBox="1"/>
          <p:nvPr/>
        </p:nvSpPr>
        <p:spPr>
          <a:xfrm>
            <a:off x="9784080" y="4251960"/>
            <a:ext cx="1554480" cy="457200"/>
          </a:xfrm>
          <a:prstGeom prst="rect">
            <a:avLst/>
          </a:prstGeom>
          <a:noFill/>
          <a:ln/>
        </p:spPr>
        <p:txBody>
          <a:bodyPr wrap="square" lIns="0" tIns="0" rIns="0" bIns="0" rtlCol="0" anchor="ctr"/>
          <a:lstStyle/>
          <a:p>
            <a:pPr marL="0" indent="0" algn="r">
              <a:buNone/>
            </a:pPr>
            <a:r>
              <a:rPr lang="en-US" sz="2400" b="1" dirty="0">
                <a:solidFill>
                  <a:schemeClr val="tx2"/>
                </a:solidFill>
              </a:rPr>
              <a:t>₱3,700</a:t>
            </a:r>
            <a:endParaRPr lang="en-US" sz="2400" dirty="0"/>
          </a:p>
        </p:txBody>
      </p:sp>
      <p:sp>
        <p:nvSpPr>
          <p:cNvPr id="35" name="text-218"/>
          <p:cNvSpPr txBox="1"/>
          <p:nvPr/>
        </p:nvSpPr>
        <p:spPr>
          <a:xfrm>
            <a:off x="8321040" y="4983480"/>
            <a:ext cx="3017520" cy="731520"/>
          </a:xfrm>
          <a:prstGeom prst="rect">
            <a:avLst/>
          </a:prstGeom>
          <a:noFill/>
          <a:ln/>
        </p:spPr>
        <p:txBody>
          <a:bodyPr wrap="square" lIns="0" tIns="0" rIns="0" bIns="0" rtlCol="0" anchor="t"/>
          <a:lstStyle/>
          <a:p>
            <a:pPr marL="0" indent="0">
              <a:buNone/>
            </a:pPr>
            <a:r>
              <a:rPr lang="en-US" sz="1500" dirty="0">
                <a:solidFill>
                  <a:schemeClr val="accent6"/>
                </a:solidFill>
              </a:rPr>
              <a:t>Overrides are allowed, and the original total is logged.</a:t>
            </a:r>
            <a:endParaRPr lang="en-US" sz="1500" dirty="0"/>
          </a:p>
        </p:txBody>
      </p:sp>
      <p:sp>
        <p:nvSpPr>
          <p:cNvPr id="36"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Four Problems We Solved</a:t>
            </a:r>
            <a:endParaRPr lang="en-US" sz="3400" dirty="0"/>
          </a:p>
        </p:txBody>
      </p:sp>
      <p:sp>
        <p:nvSpPr>
          <p:cNvPr id="3" name="shape-219"/>
          <p:cNvSpPr/>
          <p:nvPr/>
        </p:nvSpPr>
        <p:spPr>
          <a:xfrm>
            <a:off x="548640" y="1280160"/>
            <a:ext cx="5440680" cy="2240280"/>
          </a:xfrm>
          <a:prstGeom prst="roundRect">
            <a:avLst>
              <a:gd name="adj" fmla="val 4082"/>
            </a:avLst>
          </a:prstGeom>
          <a:solidFill>
            <a:schemeClr val="bg2"/>
          </a:solidFill>
          <a:ln/>
        </p:spPr>
      </p:sp>
      <p:sp>
        <p:nvSpPr>
          <p:cNvPr id="4" name="badge-220"/>
          <p:cNvSpPr txBox="1"/>
          <p:nvPr/>
        </p:nvSpPr>
        <p:spPr>
          <a:xfrm>
            <a:off x="822960" y="1554480"/>
            <a:ext cx="548640" cy="548640"/>
          </a:xfrm>
          <a:prstGeom prst="ellipse">
            <a:avLst/>
          </a:prstGeom>
          <a:solidFill>
            <a:schemeClr val="tx2"/>
          </a:solid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5" name="text-221"/>
          <p:cNvSpPr txBox="1"/>
          <p:nvPr/>
        </p:nvSpPr>
        <p:spPr>
          <a:xfrm>
            <a:off x="1600200" y="1536192"/>
            <a:ext cx="4206240" cy="411480"/>
          </a:xfrm>
          <a:prstGeom prst="rect">
            <a:avLst/>
          </a:prstGeom>
          <a:noFill/>
          <a:ln/>
        </p:spPr>
        <p:txBody>
          <a:bodyPr wrap="square" lIns="0" tIns="0" rIns="0" bIns="0" rtlCol="0" anchor="t"/>
          <a:lstStyle/>
          <a:p>
            <a:pPr marL="0" indent="0">
              <a:buNone/>
            </a:pPr>
            <a:r>
              <a:rPr lang="en-US" sz="2100" b="1" dirty="0">
                <a:solidFill>
                  <a:schemeClr val="tx2"/>
                </a:solidFill>
              </a:rPr>
              <a:t>HTTP 413 errors</a:t>
            </a:r>
            <a:endParaRPr lang="en-US" sz="2100" dirty="0"/>
          </a:p>
        </p:txBody>
      </p:sp>
      <p:sp>
        <p:nvSpPr>
          <p:cNvPr id="6" name="text-222"/>
          <p:cNvSpPr txBox="1"/>
          <p:nvPr/>
        </p:nvSpPr>
        <p:spPr>
          <a:xfrm>
            <a:off x="1600200" y="2011680"/>
            <a:ext cx="4206240" cy="365760"/>
          </a:xfrm>
          <a:prstGeom prst="rect">
            <a:avLst/>
          </a:prstGeom>
          <a:noFill/>
          <a:ln/>
        </p:spPr>
        <p:txBody>
          <a:bodyPr wrap="square" lIns="0" tIns="0" rIns="0" bIns="0" rtlCol="0" anchor="t"/>
          <a:lstStyle/>
          <a:p>
            <a:pPr marL="0" indent="0">
              <a:buNone/>
            </a:pPr>
            <a:r>
              <a:rPr lang="en-US" sz="1600" dirty="0">
                <a:solidFill>
                  <a:schemeClr val="accent6"/>
                </a:solidFill>
              </a:rPr>
              <a:t>5–10 MB phone photos crashed uploads</a:t>
            </a:r>
            <a:endParaRPr lang="en-US" sz="1600" dirty="0"/>
          </a:p>
        </p:txBody>
      </p:sp>
      <p:sp>
        <p:nvSpPr>
          <p:cNvPr id="7" name="pill-223"/>
          <p:cNvSpPr txBox="1"/>
          <p:nvPr/>
        </p:nvSpPr>
        <p:spPr>
          <a:xfrm>
            <a:off x="1600200" y="2724912"/>
            <a:ext cx="594360" cy="310896"/>
          </a:xfrm>
          <a:prstGeom prst="roundRect">
            <a:avLst>
              <a:gd name="adj" fmla="val 23529"/>
            </a:avLst>
          </a:prstGeom>
          <a:solidFill>
            <a:schemeClr val="accent5"/>
          </a:solidFill>
          <a:ln/>
        </p:spPr>
        <p:txBody>
          <a:bodyPr wrap="square" lIns="0" tIns="0" rIns="0" bIns="0" rtlCol="0" anchor="ctr"/>
          <a:lstStyle/>
          <a:p>
            <a:pPr marL="0" indent="0" algn="ctr">
              <a:buNone/>
            </a:pPr>
            <a:r>
              <a:rPr lang="en-US" sz="1200" b="1" dirty="0">
                <a:solidFill>
                  <a:schemeClr val="bg1"/>
                </a:solidFill>
              </a:rPr>
              <a:t>FIX</a:t>
            </a:r>
            <a:endParaRPr lang="en-US" sz="1200" dirty="0"/>
          </a:p>
        </p:txBody>
      </p:sp>
      <p:sp>
        <p:nvSpPr>
          <p:cNvPr id="8" name="text-224"/>
          <p:cNvSpPr txBox="1"/>
          <p:nvPr/>
        </p:nvSpPr>
        <p:spPr>
          <a:xfrm>
            <a:off x="2331720" y="2514600"/>
            <a:ext cx="3474720" cy="731520"/>
          </a:xfrm>
          <a:prstGeom prst="rect">
            <a:avLst/>
          </a:prstGeom>
          <a:noFill/>
          <a:ln/>
        </p:spPr>
        <p:txBody>
          <a:bodyPr wrap="square" lIns="0" tIns="0" rIns="0" bIns="0" rtlCol="0" anchor="ctr"/>
          <a:lstStyle/>
          <a:p>
            <a:pPr marL="0" indent="0">
              <a:buNone/>
            </a:pPr>
            <a:r>
              <a:rPr lang="en-US" sz="1600" b="1" dirty="0">
                <a:solidFill>
                  <a:schemeClr val="tx1"/>
                </a:solidFill>
              </a:rPr>
              <a:t>Browser compression to under 150 KB (~95% smaller)</a:t>
            </a:r>
            <a:endParaRPr lang="en-US" sz="1600" dirty="0"/>
          </a:p>
        </p:txBody>
      </p:sp>
      <p:sp>
        <p:nvSpPr>
          <p:cNvPr id="9" name="shape-225"/>
          <p:cNvSpPr/>
          <p:nvPr/>
        </p:nvSpPr>
        <p:spPr>
          <a:xfrm>
            <a:off x="6172200" y="1280160"/>
            <a:ext cx="5440680" cy="2240280"/>
          </a:xfrm>
          <a:prstGeom prst="roundRect">
            <a:avLst>
              <a:gd name="adj" fmla="val 4082"/>
            </a:avLst>
          </a:prstGeom>
          <a:solidFill>
            <a:schemeClr val="bg2"/>
          </a:solidFill>
          <a:ln/>
        </p:spPr>
      </p:sp>
      <p:sp>
        <p:nvSpPr>
          <p:cNvPr id="10" name="badge-226"/>
          <p:cNvSpPr txBox="1"/>
          <p:nvPr/>
        </p:nvSpPr>
        <p:spPr>
          <a:xfrm>
            <a:off x="6446520" y="1554480"/>
            <a:ext cx="548640" cy="548640"/>
          </a:xfrm>
          <a:prstGeom prst="ellipse">
            <a:avLst/>
          </a:prstGeom>
          <a:solidFill>
            <a:schemeClr val="tx2"/>
          </a:solid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1" name="text-227"/>
          <p:cNvSpPr txBox="1"/>
          <p:nvPr/>
        </p:nvSpPr>
        <p:spPr>
          <a:xfrm>
            <a:off x="7223760" y="1536192"/>
            <a:ext cx="4206240" cy="411480"/>
          </a:xfrm>
          <a:prstGeom prst="rect">
            <a:avLst/>
          </a:prstGeom>
          <a:noFill/>
          <a:ln/>
        </p:spPr>
        <p:txBody>
          <a:bodyPr wrap="square" lIns="0" tIns="0" rIns="0" bIns="0" rtlCol="0" anchor="t"/>
          <a:lstStyle/>
          <a:p>
            <a:pPr marL="0" indent="0">
              <a:buNone/>
            </a:pPr>
            <a:r>
              <a:rPr lang="en-US" sz="2100" b="1" dirty="0">
                <a:solidFill>
                  <a:schemeClr val="tx2"/>
                </a:solidFill>
              </a:rPr>
              <a:t>Garbled ₱ in Excel</a:t>
            </a:r>
            <a:endParaRPr lang="en-US" sz="2100" dirty="0"/>
          </a:p>
        </p:txBody>
      </p:sp>
      <p:sp>
        <p:nvSpPr>
          <p:cNvPr id="12" name="text-228"/>
          <p:cNvSpPr txBox="1"/>
          <p:nvPr/>
        </p:nvSpPr>
        <p:spPr>
          <a:xfrm>
            <a:off x="7223760" y="2011680"/>
            <a:ext cx="4206240" cy="365760"/>
          </a:xfrm>
          <a:prstGeom prst="rect">
            <a:avLst/>
          </a:prstGeom>
          <a:noFill/>
          <a:ln/>
        </p:spPr>
        <p:txBody>
          <a:bodyPr wrap="square" lIns="0" tIns="0" rIns="0" bIns="0" rtlCol="0" anchor="t"/>
          <a:lstStyle/>
          <a:p>
            <a:pPr marL="0" indent="0">
              <a:buNone/>
            </a:pPr>
            <a:r>
              <a:rPr lang="en-US" sz="1600" dirty="0">
                <a:solidFill>
                  <a:schemeClr val="accent6"/>
                </a:solidFill>
              </a:rPr>
              <a:t>CSV showed broken peso signs</a:t>
            </a:r>
            <a:endParaRPr lang="en-US" sz="1600" dirty="0"/>
          </a:p>
        </p:txBody>
      </p:sp>
      <p:sp>
        <p:nvSpPr>
          <p:cNvPr id="13" name="pill-229"/>
          <p:cNvSpPr txBox="1"/>
          <p:nvPr/>
        </p:nvSpPr>
        <p:spPr>
          <a:xfrm>
            <a:off x="7223760" y="2724912"/>
            <a:ext cx="594360" cy="310896"/>
          </a:xfrm>
          <a:prstGeom prst="roundRect">
            <a:avLst>
              <a:gd name="adj" fmla="val 23529"/>
            </a:avLst>
          </a:prstGeom>
          <a:solidFill>
            <a:schemeClr val="accent5"/>
          </a:solidFill>
          <a:ln/>
        </p:spPr>
        <p:txBody>
          <a:bodyPr wrap="square" lIns="0" tIns="0" rIns="0" bIns="0" rtlCol="0" anchor="ctr"/>
          <a:lstStyle/>
          <a:p>
            <a:pPr marL="0" indent="0" algn="ctr">
              <a:buNone/>
            </a:pPr>
            <a:r>
              <a:rPr lang="en-US" sz="1200" b="1" dirty="0">
                <a:solidFill>
                  <a:schemeClr val="bg1"/>
                </a:solidFill>
              </a:rPr>
              <a:t>FIX</a:t>
            </a:r>
            <a:endParaRPr lang="en-US" sz="1200" dirty="0"/>
          </a:p>
        </p:txBody>
      </p:sp>
      <p:sp>
        <p:nvSpPr>
          <p:cNvPr id="14" name="text-230"/>
          <p:cNvSpPr txBox="1"/>
          <p:nvPr/>
        </p:nvSpPr>
        <p:spPr>
          <a:xfrm>
            <a:off x="7955280" y="2514600"/>
            <a:ext cx="3474720" cy="731520"/>
          </a:xfrm>
          <a:prstGeom prst="rect">
            <a:avLst/>
          </a:prstGeom>
          <a:noFill/>
          <a:ln/>
        </p:spPr>
        <p:txBody>
          <a:bodyPr wrap="square" lIns="0" tIns="0" rIns="0" bIns="0" rtlCol="0" anchor="ctr"/>
          <a:lstStyle/>
          <a:p>
            <a:pPr marL="0" indent="0">
              <a:buNone/>
            </a:pPr>
            <a:r>
              <a:rPr lang="en-US" sz="1600" b="1" dirty="0">
                <a:solidFill>
                  <a:schemeClr val="tx1"/>
                </a:solidFill>
              </a:rPr>
              <a:t>UTF-8 byte order mark added to the export</a:t>
            </a:r>
            <a:endParaRPr lang="en-US" sz="1600" dirty="0"/>
          </a:p>
        </p:txBody>
      </p:sp>
      <p:sp>
        <p:nvSpPr>
          <p:cNvPr id="15" name="shape-231"/>
          <p:cNvSpPr/>
          <p:nvPr/>
        </p:nvSpPr>
        <p:spPr>
          <a:xfrm>
            <a:off x="548640" y="3749040"/>
            <a:ext cx="5440680" cy="2240280"/>
          </a:xfrm>
          <a:prstGeom prst="roundRect">
            <a:avLst>
              <a:gd name="adj" fmla="val 4082"/>
            </a:avLst>
          </a:prstGeom>
          <a:solidFill>
            <a:schemeClr val="bg2"/>
          </a:solidFill>
          <a:ln/>
        </p:spPr>
      </p:sp>
      <p:sp>
        <p:nvSpPr>
          <p:cNvPr id="16" name="badge-232"/>
          <p:cNvSpPr txBox="1"/>
          <p:nvPr/>
        </p:nvSpPr>
        <p:spPr>
          <a:xfrm>
            <a:off x="822960" y="4023360"/>
            <a:ext cx="548640" cy="548640"/>
          </a:xfrm>
          <a:prstGeom prst="ellipse">
            <a:avLst/>
          </a:prstGeom>
          <a:solidFill>
            <a:schemeClr val="tx2"/>
          </a:solid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7" name="text-233"/>
          <p:cNvSpPr txBox="1"/>
          <p:nvPr/>
        </p:nvSpPr>
        <p:spPr>
          <a:xfrm>
            <a:off x="1600200" y="4005072"/>
            <a:ext cx="4206240" cy="411480"/>
          </a:xfrm>
          <a:prstGeom prst="rect">
            <a:avLst/>
          </a:prstGeom>
          <a:noFill/>
          <a:ln/>
        </p:spPr>
        <p:txBody>
          <a:bodyPr wrap="square" lIns="0" tIns="0" rIns="0" bIns="0" rtlCol="0" anchor="t"/>
          <a:lstStyle/>
          <a:p>
            <a:pPr marL="0" indent="0">
              <a:buNone/>
            </a:pPr>
            <a:r>
              <a:rPr lang="en-US" sz="2100" b="1" dirty="0">
                <a:solidFill>
                  <a:schemeClr val="tx2"/>
                </a:solidFill>
              </a:rPr>
              <a:t>Thermal vs. A4 printing</a:t>
            </a:r>
            <a:endParaRPr lang="en-US" sz="2100" dirty="0"/>
          </a:p>
        </p:txBody>
      </p:sp>
      <p:sp>
        <p:nvSpPr>
          <p:cNvPr id="18" name="text-234"/>
          <p:cNvSpPr txBox="1"/>
          <p:nvPr/>
        </p:nvSpPr>
        <p:spPr>
          <a:xfrm>
            <a:off x="1600200" y="4480560"/>
            <a:ext cx="4206240" cy="365760"/>
          </a:xfrm>
          <a:prstGeom prst="rect">
            <a:avLst/>
          </a:prstGeom>
          <a:noFill/>
          <a:ln/>
        </p:spPr>
        <p:txBody>
          <a:bodyPr wrap="square" lIns="0" tIns="0" rIns="0" bIns="0" rtlCol="0" anchor="t"/>
          <a:lstStyle/>
          <a:p>
            <a:pPr marL="0" indent="0">
              <a:buNone/>
            </a:pPr>
            <a:r>
              <a:rPr lang="en-US" sz="1600" dirty="0">
                <a:solidFill>
                  <a:schemeClr val="accent6"/>
                </a:solidFill>
              </a:rPr>
              <a:t>Slips overflowed or printed blank</a:t>
            </a:r>
            <a:endParaRPr lang="en-US" sz="1600" dirty="0"/>
          </a:p>
        </p:txBody>
      </p:sp>
      <p:sp>
        <p:nvSpPr>
          <p:cNvPr id="19" name="pill-235"/>
          <p:cNvSpPr txBox="1"/>
          <p:nvPr/>
        </p:nvSpPr>
        <p:spPr>
          <a:xfrm>
            <a:off x="1600200" y="5193792"/>
            <a:ext cx="594360" cy="310896"/>
          </a:xfrm>
          <a:prstGeom prst="roundRect">
            <a:avLst>
              <a:gd name="adj" fmla="val 23529"/>
            </a:avLst>
          </a:prstGeom>
          <a:solidFill>
            <a:schemeClr val="accent5"/>
          </a:solidFill>
          <a:ln/>
        </p:spPr>
        <p:txBody>
          <a:bodyPr wrap="square" lIns="0" tIns="0" rIns="0" bIns="0" rtlCol="0" anchor="ctr"/>
          <a:lstStyle/>
          <a:p>
            <a:pPr marL="0" indent="0" algn="ctr">
              <a:buNone/>
            </a:pPr>
            <a:r>
              <a:rPr lang="en-US" sz="1200" b="1" dirty="0">
                <a:solidFill>
                  <a:schemeClr val="bg1"/>
                </a:solidFill>
              </a:rPr>
              <a:t>FIX</a:t>
            </a:r>
            <a:endParaRPr lang="en-US" sz="1200" dirty="0"/>
          </a:p>
        </p:txBody>
      </p:sp>
      <p:sp>
        <p:nvSpPr>
          <p:cNvPr id="20" name="text-236"/>
          <p:cNvSpPr txBox="1"/>
          <p:nvPr/>
        </p:nvSpPr>
        <p:spPr>
          <a:xfrm>
            <a:off x="2331720" y="4983480"/>
            <a:ext cx="3474720" cy="731520"/>
          </a:xfrm>
          <a:prstGeom prst="rect">
            <a:avLst/>
          </a:prstGeom>
          <a:noFill/>
          <a:ln/>
        </p:spPr>
        <p:txBody>
          <a:bodyPr wrap="square" lIns="0" tIns="0" rIns="0" bIns="0" rtlCol="0" anchor="ctr"/>
          <a:lstStyle/>
          <a:p>
            <a:pPr marL="0" indent="0">
              <a:buNone/>
            </a:pPr>
            <a:r>
              <a:rPr lang="en-US" sz="1600" b="1" dirty="0">
                <a:solidFill>
                  <a:schemeClr val="tx1"/>
                </a:solidFill>
              </a:rPr>
              <a:t>Print CSS with a fixed 76 mm container</a:t>
            </a:r>
            <a:endParaRPr lang="en-US" sz="1600" dirty="0"/>
          </a:p>
        </p:txBody>
      </p:sp>
      <p:sp>
        <p:nvSpPr>
          <p:cNvPr id="21" name="shape-237"/>
          <p:cNvSpPr/>
          <p:nvPr/>
        </p:nvSpPr>
        <p:spPr>
          <a:xfrm>
            <a:off x="6172200" y="3749040"/>
            <a:ext cx="5440680" cy="2240280"/>
          </a:xfrm>
          <a:prstGeom prst="roundRect">
            <a:avLst>
              <a:gd name="adj" fmla="val 4082"/>
            </a:avLst>
          </a:prstGeom>
          <a:solidFill>
            <a:schemeClr val="bg2"/>
          </a:solidFill>
          <a:ln/>
        </p:spPr>
      </p:sp>
      <p:sp>
        <p:nvSpPr>
          <p:cNvPr id="22" name="badge-238"/>
          <p:cNvSpPr txBox="1"/>
          <p:nvPr/>
        </p:nvSpPr>
        <p:spPr>
          <a:xfrm>
            <a:off x="6446520" y="4023360"/>
            <a:ext cx="548640" cy="548640"/>
          </a:xfrm>
          <a:prstGeom prst="ellipse">
            <a:avLst/>
          </a:prstGeom>
          <a:solidFill>
            <a:schemeClr val="tx2"/>
          </a:solid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3" name="text-239"/>
          <p:cNvSpPr txBox="1"/>
          <p:nvPr/>
        </p:nvSpPr>
        <p:spPr>
          <a:xfrm>
            <a:off x="7223760" y="4005072"/>
            <a:ext cx="4206240" cy="411480"/>
          </a:xfrm>
          <a:prstGeom prst="rect">
            <a:avLst/>
          </a:prstGeom>
          <a:noFill/>
          <a:ln/>
        </p:spPr>
        <p:txBody>
          <a:bodyPr wrap="square" lIns="0" tIns="0" rIns="0" bIns="0" rtlCol="0" anchor="t"/>
          <a:lstStyle/>
          <a:p>
            <a:pPr marL="0" indent="0">
              <a:buNone/>
            </a:pPr>
            <a:r>
              <a:rPr lang="en-US" sz="2100" b="1" dirty="0">
                <a:solidFill>
                  <a:schemeClr val="tx2"/>
                </a:solidFill>
              </a:rPr>
              <a:t>Impound chain of custody</a:t>
            </a:r>
            <a:endParaRPr lang="en-US" sz="2100" dirty="0"/>
          </a:p>
        </p:txBody>
      </p:sp>
      <p:sp>
        <p:nvSpPr>
          <p:cNvPr id="24" name="text-240"/>
          <p:cNvSpPr txBox="1"/>
          <p:nvPr/>
        </p:nvSpPr>
        <p:spPr>
          <a:xfrm>
            <a:off x="7223760" y="4480560"/>
            <a:ext cx="4206240" cy="365760"/>
          </a:xfrm>
          <a:prstGeom prst="rect">
            <a:avLst/>
          </a:prstGeom>
          <a:noFill/>
          <a:ln/>
        </p:spPr>
        <p:txBody>
          <a:bodyPr wrap="square" lIns="0" tIns="0" rIns="0" bIns="0" rtlCol="0" anchor="t"/>
          <a:lstStyle/>
          <a:p>
            <a:pPr marL="0" indent="0">
              <a:buNone/>
            </a:pPr>
            <a:r>
              <a:rPr lang="en-US" sz="1600" dirty="0">
                <a:solidFill>
                  <a:schemeClr val="accent6"/>
                </a:solidFill>
              </a:rPr>
              <a:t>Vehicles saved without a slip number</a:t>
            </a:r>
            <a:endParaRPr lang="en-US" sz="1600" dirty="0"/>
          </a:p>
        </p:txBody>
      </p:sp>
      <p:sp>
        <p:nvSpPr>
          <p:cNvPr id="25" name="pill-241"/>
          <p:cNvSpPr txBox="1"/>
          <p:nvPr/>
        </p:nvSpPr>
        <p:spPr>
          <a:xfrm>
            <a:off x="7223760" y="5193792"/>
            <a:ext cx="594360" cy="310896"/>
          </a:xfrm>
          <a:prstGeom prst="roundRect">
            <a:avLst>
              <a:gd name="adj" fmla="val 23529"/>
            </a:avLst>
          </a:prstGeom>
          <a:solidFill>
            <a:schemeClr val="accent5"/>
          </a:solidFill>
          <a:ln/>
        </p:spPr>
        <p:txBody>
          <a:bodyPr wrap="square" lIns="0" tIns="0" rIns="0" bIns="0" rtlCol="0" anchor="ctr"/>
          <a:lstStyle/>
          <a:p>
            <a:pPr marL="0" indent="0" algn="ctr">
              <a:buNone/>
            </a:pPr>
            <a:r>
              <a:rPr lang="en-US" sz="1200" b="1" dirty="0">
                <a:solidFill>
                  <a:schemeClr val="bg1"/>
                </a:solidFill>
              </a:rPr>
              <a:t>FIX</a:t>
            </a:r>
            <a:endParaRPr lang="en-US" sz="1200" dirty="0"/>
          </a:p>
        </p:txBody>
      </p:sp>
      <p:sp>
        <p:nvSpPr>
          <p:cNvPr id="26" name="text-242"/>
          <p:cNvSpPr txBox="1"/>
          <p:nvPr/>
        </p:nvSpPr>
        <p:spPr>
          <a:xfrm>
            <a:off x="7955280" y="4983480"/>
            <a:ext cx="3474720" cy="731520"/>
          </a:xfrm>
          <a:prstGeom prst="rect">
            <a:avLst/>
          </a:prstGeom>
          <a:noFill/>
          <a:ln/>
        </p:spPr>
        <p:txBody>
          <a:bodyPr wrap="square" lIns="0" tIns="0" rIns="0" bIns="0" rtlCol="0" anchor="ctr"/>
          <a:lstStyle/>
          <a:p>
            <a:pPr marL="0" indent="0">
              <a:buNone/>
            </a:pPr>
            <a:r>
              <a:rPr lang="en-US" sz="1600" b="1" dirty="0">
                <a:solidFill>
                  <a:schemeClr val="tx1"/>
                </a:solidFill>
              </a:rPr>
              <a:t>Client and server both reject it</a:t>
            </a:r>
            <a:endParaRPr lang="en-US" sz="1600" dirty="0"/>
          </a:p>
        </p:txBody>
      </p:sp>
      <p:sp>
        <p:nvSpPr>
          <p:cNvPr id="27"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Testing: 14 of 14 Passing</a:t>
            </a:r>
            <a:endParaRPr lang="en-US" sz="3400" dirty="0"/>
          </a:p>
        </p:txBody>
      </p:sp>
      <p:sp>
        <p:nvSpPr>
          <p:cNvPr id="3" name="shape-243"/>
          <p:cNvSpPr/>
          <p:nvPr/>
        </p:nvSpPr>
        <p:spPr>
          <a:xfrm>
            <a:off x="548640" y="1280160"/>
            <a:ext cx="3840480" cy="3383280"/>
          </a:xfrm>
          <a:prstGeom prst="roundRect">
            <a:avLst>
              <a:gd name="adj" fmla="val 2703"/>
            </a:avLst>
          </a:prstGeom>
          <a:solidFill>
            <a:schemeClr val="tx2"/>
          </a:solidFill>
          <a:ln/>
        </p:spPr>
      </p:sp>
      <p:sp>
        <p:nvSpPr>
          <p:cNvPr id="4" name="text-244"/>
          <p:cNvSpPr txBox="1"/>
          <p:nvPr/>
        </p:nvSpPr>
        <p:spPr>
          <a:xfrm>
            <a:off x="822960" y="1508760"/>
            <a:ext cx="338328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AUTOMATED TEST SCOREBOARD</a:t>
            </a:r>
            <a:endParaRPr lang="en-US" sz="1200" dirty="0"/>
          </a:p>
        </p:txBody>
      </p:sp>
      <p:sp>
        <p:nvSpPr>
          <p:cNvPr id="5" name="text-245"/>
          <p:cNvSpPr txBox="1"/>
          <p:nvPr/>
        </p:nvSpPr>
        <p:spPr>
          <a:xfrm>
            <a:off x="822960" y="2011680"/>
            <a:ext cx="3291840" cy="1097280"/>
          </a:xfrm>
          <a:prstGeom prst="rect">
            <a:avLst/>
          </a:prstGeom>
          <a:noFill/>
          <a:ln/>
        </p:spPr>
        <p:txBody>
          <a:bodyPr wrap="square" lIns="0" tIns="0" rIns="0" bIns="0" rtlCol="0" anchor="ctr"/>
          <a:lstStyle/>
          <a:p>
            <a:pPr marL="0" indent="0">
              <a:buNone/>
            </a:pPr>
            <a:r>
              <a:rPr lang="en-US" sz="6400" b="1" dirty="0">
                <a:solidFill>
                  <a:schemeClr val="bg1"/>
                </a:solidFill>
                <a:latin typeface="+mj-lt" pitchFamily="34" charset="0"/>
                <a:ea typeface="+mj-lt" pitchFamily="34" charset="-122"/>
                <a:cs typeface="+mj-lt" pitchFamily="34" charset="-120"/>
              </a:rPr>
              <a:t>14 / 14</a:t>
            </a:r>
            <a:endParaRPr lang="en-US" sz="6400" dirty="0"/>
          </a:p>
        </p:txBody>
      </p:sp>
      <p:sp>
        <p:nvSpPr>
          <p:cNvPr id="6" name="text-246"/>
          <p:cNvSpPr txBox="1"/>
          <p:nvPr/>
        </p:nvSpPr>
        <p:spPr>
          <a:xfrm>
            <a:off x="822960" y="3291840"/>
            <a:ext cx="3291840" cy="365760"/>
          </a:xfrm>
          <a:prstGeom prst="rect">
            <a:avLst/>
          </a:prstGeom>
          <a:noFill/>
          <a:ln/>
        </p:spPr>
        <p:txBody>
          <a:bodyPr wrap="square" lIns="0" tIns="0" rIns="0" bIns="0" rtlCol="0" anchor="t"/>
          <a:lstStyle/>
          <a:p>
            <a:pPr marL="0" indent="0">
              <a:buNone/>
            </a:pPr>
            <a:r>
              <a:rPr lang="en-US" sz="2000" b="1" dirty="0">
                <a:solidFill>
                  <a:schemeClr val="bg1"/>
                </a:solidFill>
              </a:rPr>
              <a:t>100% pass rate</a:t>
            </a:r>
            <a:endParaRPr lang="en-US" sz="2000" dirty="0"/>
          </a:p>
        </p:txBody>
      </p:sp>
      <p:sp>
        <p:nvSpPr>
          <p:cNvPr id="7" name="text-247"/>
          <p:cNvSpPr txBox="1"/>
          <p:nvPr/>
        </p:nvSpPr>
        <p:spPr>
          <a:xfrm>
            <a:off x="822960" y="3794760"/>
            <a:ext cx="3291840" cy="365760"/>
          </a:xfrm>
          <a:prstGeom prst="rect">
            <a:avLst/>
          </a:prstGeom>
          <a:noFill/>
          <a:ln/>
        </p:spPr>
        <p:txBody>
          <a:bodyPr wrap="square" lIns="0" tIns="0" rIns="0" bIns="0" rtlCol="0" anchor="t"/>
          <a:lstStyle/>
          <a:p>
            <a:pPr marL="0" indent="0">
              <a:buNone/>
            </a:pPr>
            <a:r>
              <a:rPr lang="en-US" sz="1500" dirty="0">
                <a:solidFill>
                  <a:schemeClr val="bg2"/>
                </a:solidFill>
              </a:rPr>
              <a:t>5.69 s run  ·  0 flaky  ·  0 skipped</a:t>
            </a:r>
            <a:endParaRPr lang="en-US" sz="1500" dirty="0"/>
          </a:p>
        </p:txBody>
      </p:sp>
      <p:sp>
        <p:nvSpPr>
          <p:cNvPr id="8" name="shape-248"/>
          <p:cNvSpPr/>
          <p:nvPr/>
        </p:nvSpPr>
        <p:spPr>
          <a:xfrm>
            <a:off x="4663440" y="1280160"/>
            <a:ext cx="6949440" cy="1024128"/>
          </a:xfrm>
          <a:prstGeom prst="roundRect">
            <a:avLst>
              <a:gd name="adj" fmla="val 8929"/>
            </a:avLst>
          </a:prstGeom>
          <a:solidFill>
            <a:schemeClr val="bg2"/>
          </a:solidFill>
          <a:ln/>
        </p:spPr>
      </p:sp>
      <p:sp>
        <p:nvSpPr>
          <p:cNvPr id="9" name="badge-249"/>
          <p:cNvSpPr txBox="1"/>
          <p:nvPr/>
        </p:nvSpPr>
        <p:spPr>
          <a:xfrm>
            <a:off x="4892040" y="1517904"/>
            <a:ext cx="548640" cy="54864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10" name="text-250"/>
          <p:cNvSpPr txBox="1"/>
          <p:nvPr/>
        </p:nvSpPr>
        <p:spPr>
          <a:xfrm>
            <a:off x="5669280" y="1463040"/>
            <a:ext cx="5760720" cy="365760"/>
          </a:xfrm>
          <a:prstGeom prst="rect">
            <a:avLst/>
          </a:prstGeom>
          <a:noFill/>
          <a:ln/>
        </p:spPr>
        <p:txBody>
          <a:bodyPr wrap="square" lIns="0" tIns="0" rIns="0" bIns="0" rtlCol="0" anchor="t"/>
          <a:lstStyle/>
          <a:p>
            <a:pPr marL="0" indent="0">
              <a:buNone/>
            </a:pPr>
            <a:r>
              <a:rPr lang="en-US" sz="1900" b="1" dirty="0">
                <a:solidFill>
                  <a:schemeClr val="tx2"/>
                </a:solidFill>
              </a:rPr>
              <a:t>Unit tests</a:t>
            </a:r>
            <a:endParaRPr lang="en-US" sz="1900" dirty="0"/>
          </a:p>
        </p:txBody>
      </p:sp>
      <p:sp>
        <p:nvSpPr>
          <p:cNvPr id="11" name="text-251"/>
          <p:cNvSpPr txBox="1"/>
          <p:nvPr/>
        </p:nvSpPr>
        <p:spPr>
          <a:xfrm>
            <a:off x="5669280" y="1847088"/>
            <a:ext cx="5760720" cy="365760"/>
          </a:xfrm>
          <a:prstGeom prst="rect">
            <a:avLst/>
          </a:prstGeom>
          <a:noFill/>
          <a:ln/>
        </p:spPr>
        <p:txBody>
          <a:bodyPr wrap="square" lIns="0" tIns="0" rIns="0" bIns="0" rtlCol="0" anchor="t"/>
          <a:lstStyle/>
          <a:p>
            <a:pPr marL="0" indent="0">
              <a:buNone/>
            </a:pPr>
            <a:r>
              <a:rPr lang="en-US" sz="1500" dirty="0">
                <a:solidFill>
                  <a:schemeClr val="tx1"/>
                </a:solidFill>
              </a:rPr>
              <a:t>Fine totals, ticket ID format, screening logic</a:t>
            </a:r>
            <a:endParaRPr lang="en-US" sz="1500" dirty="0"/>
          </a:p>
        </p:txBody>
      </p:sp>
      <p:sp>
        <p:nvSpPr>
          <p:cNvPr id="12" name="shape-252"/>
          <p:cNvSpPr/>
          <p:nvPr/>
        </p:nvSpPr>
        <p:spPr>
          <a:xfrm>
            <a:off x="4663440" y="2441448"/>
            <a:ext cx="6949440" cy="1024128"/>
          </a:xfrm>
          <a:prstGeom prst="roundRect">
            <a:avLst>
              <a:gd name="adj" fmla="val 8929"/>
            </a:avLst>
          </a:prstGeom>
          <a:solidFill>
            <a:schemeClr val="bg2"/>
          </a:solidFill>
          <a:ln/>
        </p:spPr>
      </p:sp>
      <p:sp>
        <p:nvSpPr>
          <p:cNvPr id="13" name="badge-253"/>
          <p:cNvSpPr txBox="1"/>
          <p:nvPr/>
        </p:nvSpPr>
        <p:spPr>
          <a:xfrm>
            <a:off x="4892040" y="2679192"/>
            <a:ext cx="548640" cy="54864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4" name="text-254"/>
          <p:cNvSpPr txBox="1"/>
          <p:nvPr/>
        </p:nvSpPr>
        <p:spPr>
          <a:xfrm>
            <a:off x="5669280" y="2624328"/>
            <a:ext cx="5760720" cy="365760"/>
          </a:xfrm>
          <a:prstGeom prst="rect">
            <a:avLst/>
          </a:prstGeom>
          <a:noFill/>
          <a:ln/>
        </p:spPr>
        <p:txBody>
          <a:bodyPr wrap="square" lIns="0" tIns="0" rIns="0" bIns="0" rtlCol="0" anchor="t"/>
          <a:lstStyle/>
          <a:p>
            <a:pPr marL="0" indent="0">
              <a:buNone/>
            </a:pPr>
            <a:r>
              <a:rPr lang="en-US" sz="1900" b="1" dirty="0">
                <a:solidFill>
                  <a:schemeClr val="tx2"/>
                </a:solidFill>
              </a:rPr>
              <a:t>Defensive validation</a:t>
            </a:r>
            <a:endParaRPr lang="en-US" sz="1900" dirty="0"/>
          </a:p>
        </p:txBody>
      </p:sp>
      <p:sp>
        <p:nvSpPr>
          <p:cNvPr id="15" name="text-255"/>
          <p:cNvSpPr txBox="1"/>
          <p:nvPr/>
        </p:nvSpPr>
        <p:spPr>
          <a:xfrm>
            <a:off x="5669280" y="3008376"/>
            <a:ext cx="5760720" cy="365760"/>
          </a:xfrm>
          <a:prstGeom prst="rect">
            <a:avLst/>
          </a:prstGeom>
          <a:noFill/>
          <a:ln/>
        </p:spPr>
        <p:txBody>
          <a:bodyPr wrap="square" lIns="0" tIns="0" rIns="0" bIns="0" rtlCol="0" anchor="t"/>
          <a:lstStyle/>
          <a:p>
            <a:pPr marL="0" indent="0">
              <a:buNone/>
            </a:pPr>
            <a:r>
              <a:rPr lang="en-US" sz="1500" dirty="0">
                <a:solidFill>
                  <a:schemeClr val="tx1"/>
                </a:solidFill>
              </a:rPr>
              <a:t>Alt-ID, fine overrides, impound slip</a:t>
            </a:r>
            <a:endParaRPr lang="en-US" sz="1500" dirty="0"/>
          </a:p>
        </p:txBody>
      </p:sp>
      <p:sp>
        <p:nvSpPr>
          <p:cNvPr id="16" name="shape-256"/>
          <p:cNvSpPr/>
          <p:nvPr/>
        </p:nvSpPr>
        <p:spPr>
          <a:xfrm>
            <a:off x="4663440" y="3602736"/>
            <a:ext cx="6949440" cy="1024128"/>
          </a:xfrm>
          <a:prstGeom prst="roundRect">
            <a:avLst>
              <a:gd name="adj" fmla="val 8929"/>
            </a:avLst>
          </a:prstGeom>
          <a:solidFill>
            <a:schemeClr val="bg2"/>
          </a:solidFill>
          <a:ln/>
        </p:spPr>
      </p:sp>
      <p:sp>
        <p:nvSpPr>
          <p:cNvPr id="17" name="badge-257"/>
          <p:cNvSpPr txBox="1"/>
          <p:nvPr/>
        </p:nvSpPr>
        <p:spPr>
          <a:xfrm>
            <a:off x="4892040" y="3840480"/>
            <a:ext cx="548640" cy="54864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8" name="text-258"/>
          <p:cNvSpPr txBox="1"/>
          <p:nvPr/>
        </p:nvSpPr>
        <p:spPr>
          <a:xfrm>
            <a:off x="5669280" y="3785616"/>
            <a:ext cx="5760720" cy="365760"/>
          </a:xfrm>
          <a:prstGeom prst="rect">
            <a:avLst/>
          </a:prstGeom>
          <a:noFill/>
          <a:ln/>
        </p:spPr>
        <p:txBody>
          <a:bodyPr wrap="square" lIns="0" tIns="0" rIns="0" bIns="0" rtlCol="0" anchor="t"/>
          <a:lstStyle/>
          <a:p>
            <a:pPr marL="0" indent="0">
              <a:buNone/>
            </a:pPr>
            <a:r>
              <a:rPr lang="en-US" sz="1900" b="1" dirty="0">
                <a:solidFill>
                  <a:schemeClr val="tx2"/>
                </a:solidFill>
              </a:rPr>
              <a:t>Integration &amp; API</a:t>
            </a:r>
            <a:endParaRPr lang="en-US" sz="1900" dirty="0"/>
          </a:p>
        </p:txBody>
      </p:sp>
      <p:sp>
        <p:nvSpPr>
          <p:cNvPr id="19" name="text-259"/>
          <p:cNvSpPr txBox="1"/>
          <p:nvPr/>
        </p:nvSpPr>
        <p:spPr>
          <a:xfrm>
            <a:off x="5669280" y="4169664"/>
            <a:ext cx="5760720" cy="365760"/>
          </a:xfrm>
          <a:prstGeom prst="rect">
            <a:avLst/>
          </a:prstGeom>
          <a:noFill/>
          <a:ln/>
        </p:spPr>
        <p:txBody>
          <a:bodyPr wrap="square" lIns="0" tIns="0" rIns="0" bIns="0" rtlCol="0" anchor="t"/>
          <a:lstStyle/>
          <a:p>
            <a:pPr marL="0" indent="0">
              <a:buNone/>
            </a:pPr>
            <a:r>
              <a:rPr lang="en-US" sz="1500" dirty="0">
                <a:solidFill>
                  <a:schemeClr val="tx1"/>
                </a:solidFill>
              </a:rPr>
              <a:t>REST + SQLite: status updates, search, KPIs, 100 KB+ photos</a:t>
            </a:r>
            <a:endParaRPr lang="en-US" sz="1500" dirty="0"/>
          </a:p>
        </p:txBody>
      </p:sp>
      <p:sp>
        <p:nvSpPr>
          <p:cNvPr id="20" name="shape-260"/>
          <p:cNvSpPr/>
          <p:nvPr/>
        </p:nvSpPr>
        <p:spPr>
          <a:xfrm>
            <a:off x="548640" y="4983480"/>
            <a:ext cx="11064240" cy="1097280"/>
          </a:xfrm>
          <a:prstGeom prst="roundRect">
            <a:avLst>
              <a:gd name="adj" fmla="val 8333"/>
            </a:avLst>
          </a:prstGeom>
          <a:solidFill>
            <a:schemeClr val="tx1"/>
          </a:solidFill>
          <a:ln/>
        </p:spPr>
      </p:sp>
      <p:sp>
        <p:nvSpPr>
          <p:cNvPr id="21" name="text-261"/>
          <p:cNvSpPr txBox="1"/>
          <p:nvPr/>
        </p:nvSpPr>
        <p:spPr>
          <a:xfrm>
            <a:off x="822960" y="5120640"/>
            <a:ext cx="1051560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RE-RUN ANYTIME  |  native node:test, isolated local SQLite</a:t>
            </a:r>
            <a:endParaRPr lang="en-US" sz="1200" dirty="0"/>
          </a:p>
        </p:txBody>
      </p:sp>
      <p:sp>
        <p:nvSpPr>
          <p:cNvPr id="22" name="text-262"/>
          <p:cNvSpPr txBox="1"/>
          <p:nvPr/>
        </p:nvSpPr>
        <p:spPr>
          <a:xfrm>
            <a:off x="822960" y="5486400"/>
            <a:ext cx="10515600" cy="457200"/>
          </a:xfrm>
          <a:prstGeom prst="rect">
            <a:avLst/>
          </a:prstGeom>
          <a:noFill/>
          <a:ln/>
        </p:spPr>
        <p:txBody>
          <a:bodyPr wrap="square" lIns="0" tIns="0" rIns="0" bIns="0" rtlCol="0" anchor="ctr"/>
          <a:lstStyle/>
          <a:p>
            <a:pPr marL="0" indent="0">
              <a:buNone/>
            </a:pPr>
            <a:r>
              <a:rPr lang="en-US" sz="2200" dirty="0">
                <a:solidFill>
                  <a:schemeClr val="bg1"/>
                </a:solidFill>
                <a:latin typeface="Courier New" pitchFamily="34" charset="0"/>
                <a:ea typeface="Courier New" pitchFamily="34" charset="-122"/>
                <a:cs typeface="Courier New" pitchFamily="34" charset="-120"/>
              </a:rPr>
              <a:t>cd 'Source Code' &amp;&amp; node --test</a:t>
            </a:r>
            <a:endParaRPr lang="en-US" sz="2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Process &amp; SCM Governance</a:t>
            </a:r>
            <a:endParaRPr lang="en-US" sz="3400" dirty="0"/>
          </a:p>
        </p:txBody>
      </p:sp>
      <p:sp>
        <p:nvSpPr>
          <p:cNvPr id="3" name="shape-263"/>
          <p:cNvSpPr/>
          <p:nvPr/>
        </p:nvSpPr>
        <p:spPr>
          <a:xfrm>
            <a:off x="548640" y="1280160"/>
            <a:ext cx="2560320" cy="1691640"/>
          </a:xfrm>
          <a:prstGeom prst="roundRect">
            <a:avLst>
              <a:gd name="adj" fmla="val 5405"/>
            </a:avLst>
          </a:prstGeom>
          <a:solidFill>
            <a:schemeClr val="bg2"/>
          </a:solidFill>
          <a:ln/>
        </p:spPr>
      </p:sp>
      <p:sp>
        <p:nvSpPr>
          <p:cNvPr id="4" name="text-264"/>
          <p:cNvSpPr txBox="1"/>
          <p:nvPr/>
        </p:nvSpPr>
        <p:spPr>
          <a:xfrm>
            <a:off x="777240" y="1444752"/>
            <a:ext cx="2103120" cy="274320"/>
          </a:xfrm>
          <a:prstGeom prst="rect">
            <a:avLst/>
          </a:prstGeom>
          <a:noFill/>
          <a:ln/>
        </p:spPr>
        <p:txBody>
          <a:bodyPr wrap="square" lIns="0" tIns="0" rIns="0" bIns="0" rtlCol="0" anchor="t"/>
          <a:lstStyle/>
          <a:p>
            <a:pPr marL="0" indent="0">
              <a:buNone/>
            </a:pPr>
            <a:r>
              <a:rPr lang="en-US" sz="1200" b="1" kern="0" spc="100" dirty="0">
                <a:solidFill>
                  <a:schemeClr val="accent2"/>
                </a:solidFill>
              </a:rPr>
              <a:t>SPRINT 1</a:t>
            </a:r>
            <a:endParaRPr lang="en-US" sz="1200" dirty="0"/>
          </a:p>
        </p:txBody>
      </p:sp>
      <p:sp>
        <p:nvSpPr>
          <p:cNvPr id="5" name="text-265"/>
          <p:cNvSpPr txBox="1"/>
          <p:nvPr/>
        </p:nvSpPr>
        <p:spPr>
          <a:xfrm>
            <a:off x="777240" y="1755648"/>
            <a:ext cx="2148840" cy="365760"/>
          </a:xfrm>
          <a:prstGeom prst="rect">
            <a:avLst/>
          </a:prstGeom>
          <a:noFill/>
          <a:ln/>
        </p:spPr>
        <p:txBody>
          <a:bodyPr wrap="square" lIns="0" tIns="0" rIns="0" bIns="0" rtlCol="0" anchor="t"/>
          <a:lstStyle/>
          <a:p>
            <a:pPr marL="0" indent="0">
              <a:buNone/>
            </a:pPr>
            <a:r>
              <a:rPr lang="en-US" sz="1800" b="1" dirty="0">
                <a:solidFill>
                  <a:schemeClr val="tx2"/>
                </a:solidFill>
              </a:rPr>
              <a:t>Discovery &amp; baseline</a:t>
            </a:r>
            <a:endParaRPr lang="en-US" sz="1800" dirty="0"/>
          </a:p>
        </p:txBody>
      </p:sp>
      <p:sp>
        <p:nvSpPr>
          <p:cNvPr id="6" name="text-266"/>
          <p:cNvSpPr txBox="1"/>
          <p:nvPr/>
        </p:nvSpPr>
        <p:spPr>
          <a:xfrm>
            <a:off x="777240" y="2194560"/>
            <a:ext cx="2148840" cy="685800"/>
          </a:xfrm>
          <a:prstGeom prst="rect">
            <a:avLst/>
          </a:prstGeom>
          <a:noFill/>
          <a:ln/>
        </p:spPr>
        <p:txBody>
          <a:bodyPr wrap="square" lIns="0" tIns="0" rIns="0" bIns="0" rtlCol="0" anchor="t"/>
          <a:lstStyle/>
          <a:p>
            <a:pPr marL="0" indent="0">
              <a:buNone/>
            </a:pPr>
            <a:r>
              <a:rPr lang="en-US" sz="1500" dirty="0">
                <a:solidFill>
                  <a:schemeClr val="tx1"/>
                </a:solidFill>
              </a:rPr>
              <a:t>Agoo MPS interviews, SCM plan</a:t>
            </a:r>
            <a:endParaRPr lang="en-US" sz="1500" dirty="0"/>
          </a:p>
        </p:txBody>
      </p:sp>
      <p:sp>
        <p:nvSpPr>
          <p:cNvPr id="7" name="shape-267"/>
          <p:cNvSpPr/>
          <p:nvPr/>
        </p:nvSpPr>
        <p:spPr>
          <a:xfrm>
            <a:off x="3383280" y="1280160"/>
            <a:ext cx="2560320" cy="1691640"/>
          </a:xfrm>
          <a:prstGeom prst="roundRect">
            <a:avLst>
              <a:gd name="adj" fmla="val 5405"/>
            </a:avLst>
          </a:prstGeom>
          <a:solidFill>
            <a:schemeClr val="bg2"/>
          </a:solidFill>
          <a:ln/>
        </p:spPr>
      </p:sp>
      <p:sp>
        <p:nvSpPr>
          <p:cNvPr id="8" name="text-268"/>
          <p:cNvSpPr txBox="1"/>
          <p:nvPr/>
        </p:nvSpPr>
        <p:spPr>
          <a:xfrm>
            <a:off x="3611880" y="1444752"/>
            <a:ext cx="2103120" cy="274320"/>
          </a:xfrm>
          <a:prstGeom prst="rect">
            <a:avLst/>
          </a:prstGeom>
          <a:noFill/>
          <a:ln/>
        </p:spPr>
        <p:txBody>
          <a:bodyPr wrap="square" lIns="0" tIns="0" rIns="0" bIns="0" rtlCol="0" anchor="t"/>
          <a:lstStyle/>
          <a:p>
            <a:pPr marL="0" indent="0">
              <a:buNone/>
            </a:pPr>
            <a:r>
              <a:rPr lang="en-US" sz="1200" b="1" kern="0" spc="100" dirty="0">
                <a:solidFill>
                  <a:schemeClr val="accent2"/>
                </a:solidFill>
              </a:rPr>
              <a:t>SPRINT 2</a:t>
            </a:r>
            <a:endParaRPr lang="en-US" sz="1200" dirty="0"/>
          </a:p>
        </p:txBody>
      </p:sp>
      <p:sp>
        <p:nvSpPr>
          <p:cNvPr id="9" name="text-269"/>
          <p:cNvSpPr txBox="1"/>
          <p:nvPr/>
        </p:nvSpPr>
        <p:spPr>
          <a:xfrm>
            <a:off x="3611880" y="1755648"/>
            <a:ext cx="2148840" cy="365760"/>
          </a:xfrm>
          <a:prstGeom prst="rect">
            <a:avLst/>
          </a:prstGeom>
          <a:noFill/>
          <a:ln/>
        </p:spPr>
        <p:txBody>
          <a:bodyPr wrap="square" lIns="0" tIns="0" rIns="0" bIns="0" rtlCol="0" anchor="t"/>
          <a:lstStyle/>
          <a:p>
            <a:pPr marL="0" indent="0">
              <a:buNone/>
            </a:pPr>
            <a:r>
              <a:rPr lang="en-US" sz="1800" b="1" dirty="0">
                <a:solidFill>
                  <a:schemeClr val="tx2"/>
                </a:solidFill>
              </a:rPr>
              <a:t>Backend &amp; schema</a:t>
            </a:r>
            <a:endParaRPr lang="en-US" sz="1800" dirty="0"/>
          </a:p>
        </p:txBody>
      </p:sp>
      <p:sp>
        <p:nvSpPr>
          <p:cNvPr id="10" name="text-270"/>
          <p:cNvSpPr txBox="1"/>
          <p:nvPr/>
        </p:nvSpPr>
        <p:spPr>
          <a:xfrm>
            <a:off x="3611880" y="2194560"/>
            <a:ext cx="2148840" cy="685800"/>
          </a:xfrm>
          <a:prstGeom prst="rect">
            <a:avLst/>
          </a:prstGeom>
          <a:noFill/>
          <a:ln/>
        </p:spPr>
        <p:txBody>
          <a:bodyPr wrap="square" lIns="0" tIns="0" rIns="0" bIns="0" rtlCol="0" anchor="t"/>
          <a:lstStyle/>
          <a:p>
            <a:pPr marL="0" indent="0">
              <a:buNone/>
            </a:pPr>
            <a:r>
              <a:rPr lang="en-US" sz="1500" dirty="0">
                <a:solidFill>
                  <a:schemeClr val="tx1"/>
                </a:solidFill>
              </a:rPr>
              <a:t>Express, SQLite, fine engine</a:t>
            </a:r>
            <a:endParaRPr lang="en-US" sz="1500" dirty="0"/>
          </a:p>
        </p:txBody>
      </p:sp>
      <p:sp>
        <p:nvSpPr>
          <p:cNvPr id="11" name="shape-271"/>
          <p:cNvSpPr/>
          <p:nvPr/>
        </p:nvSpPr>
        <p:spPr>
          <a:xfrm>
            <a:off x="6217920" y="1280160"/>
            <a:ext cx="2560320" cy="1691640"/>
          </a:xfrm>
          <a:prstGeom prst="roundRect">
            <a:avLst>
              <a:gd name="adj" fmla="val 5405"/>
            </a:avLst>
          </a:prstGeom>
          <a:solidFill>
            <a:schemeClr val="bg2"/>
          </a:solidFill>
          <a:ln/>
        </p:spPr>
      </p:sp>
      <p:sp>
        <p:nvSpPr>
          <p:cNvPr id="12" name="text-272"/>
          <p:cNvSpPr txBox="1"/>
          <p:nvPr/>
        </p:nvSpPr>
        <p:spPr>
          <a:xfrm>
            <a:off x="6446520" y="1444752"/>
            <a:ext cx="2103120" cy="274320"/>
          </a:xfrm>
          <a:prstGeom prst="rect">
            <a:avLst/>
          </a:prstGeom>
          <a:noFill/>
          <a:ln/>
        </p:spPr>
        <p:txBody>
          <a:bodyPr wrap="square" lIns="0" tIns="0" rIns="0" bIns="0" rtlCol="0" anchor="t"/>
          <a:lstStyle/>
          <a:p>
            <a:pPr marL="0" indent="0">
              <a:buNone/>
            </a:pPr>
            <a:r>
              <a:rPr lang="en-US" sz="1200" b="1" kern="0" spc="100" dirty="0">
                <a:solidFill>
                  <a:schemeClr val="accent2"/>
                </a:solidFill>
              </a:rPr>
              <a:t>SPRINT 3</a:t>
            </a:r>
            <a:endParaRPr lang="en-US" sz="1200" dirty="0"/>
          </a:p>
        </p:txBody>
      </p:sp>
      <p:sp>
        <p:nvSpPr>
          <p:cNvPr id="13" name="text-273"/>
          <p:cNvSpPr txBox="1"/>
          <p:nvPr/>
        </p:nvSpPr>
        <p:spPr>
          <a:xfrm>
            <a:off x="6446520" y="1755648"/>
            <a:ext cx="2148840" cy="365760"/>
          </a:xfrm>
          <a:prstGeom prst="rect">
            <a:avLst/>
          </a:prstGeom>
          <a:noFill/>
          <a:ln/>
        </p:spPr>
        <p:txBody>
          <a:bodyPr wrap="square" lIns="0" tIns="0" rIns="0" bIns="0" rtlCol="0" anchor="t"/>
          <a:lstStyle/>
          <a:p>
            <a:pPr marL="0" indent="0">
              <a:buNone/>
            </a:pPr>
            <a:r>
              <a:rPr lang="en-US" sz="1800" b="1" dirty="0">
                <a:solidFill>
                  <a:schemeClr val="tx2"/>
                </a:solidFill>
              </a:rPr>
              <a:t>UI &amp; thermal POS</a:t>
            </a:r>
            <a:endParaRPr lang="en-US" sz="1800" dirty="0"/>
          </a:p>
        </p:txBody>
      </p:sp>
      <p:sp>
        <p:nvSpPr>
          <p:cNvPr id="14" name="text-274"/>
          <p:cNvSpPr txBox="1"/>
          <p:nvPr/>
        </p:nvSpPr>
        <p:spPr>
          <a:xfrm>
            <a:off x="6446520" y="2194560"/>
            <a:ext cx="2148840" cy="685800"/>
          </a:xfrm>
          <a:prstGeom prst="rect">
            <a:avLst/>
          </a:prstGeom>
          <a:noFill/>
          <a:ln/>
        </p:spPr>
        <p:txBody>
          <a:bodyPr wrap="square" lIns="0" tIns="0" rIns="0" bIns="0" rtlCol="0" anchor="t"/>
          <a:lstStyle/>
          <a:p>
            <a:pPr marL="0" indent="0">
              <a:buNone/>
            </a:pPr>
            <a:r>
              <a:rPr lang="en-US" sz="1500" dirty="0">
                <a:solidFill>
                  <a:schemeClr val="tx1"/>
                </a:solidFill>
              </a:rPr>
              <a:t>Daylight-ready UI, thermal receipts</a:t>
            </a:r>
            <a:endParaRPr lang="en-US" sz="1500" dirty="0"/>
          </a:p>
        </p:txBody>
      </p:sp>
      <p:sp>
        <p:nvSpPr>
          <p:cNvPr id="15" name="shape-275"/>
          <p:cNvSpPr/>
          <p:nvPr/>
        </p:nvSpPr>
        <p:spPr>
          <a:xfrm>
            <a:off x="9052560" y="1280160"/>
            <a:ext cx="2560320" cy="1691640"/>
          </a:xfrm>
          <a:prstGeom prst="roundRect">
            <a:avLst>
              <a:gd name="adj" fmla="val 5405"/>
            </a:avLst>
          </a:prstGeom>
          <a:solidFill>
            <a:schemeClr val="bg2"/>
          </a:solidFill>
          <a:ln/>
        </p:spPr>
      </p:sp>
      <p:sp>
        <p:nvSpPr>
          <p:cNvPr id="16" name="text-276"/>
          <p:cNvSpPr txBox="1"/>
          <p:nvPr/>
        </p:nvSpPr>
        <p:spPr>
          <a:xfrm>
            <a:off x="9281160" y="1444752"/>
            <a:ext cx="2103120" cy="274320"/>
          </a:xfrm>
          <a:prstGeom prst="rect">
            <a:avLst/>
          </a:prstGeom>
          <a:noFill/>
          <a:ln/>
        </p:spPr>
        <p:txBody>
          <a:bodyPr wrap="square" lIns="0" tIns="0" rIns="0" bIns="0" rtlCol="0" anchor="t"/>
          <a:lstStyle/>
          <a:p>
            <a:pPr marL="0" indent="0">
              <a:buNone/>
            </a:pPr>
            <a:r>
              <a:rPr lang="en-US" sz="1200" b="1" kern="0" spc="100" dirty="0">
                <a:solidFill>
                  <a:schemeClr val="accent2"/>
                </a:solidFill>
              </a:rPr>
              <a:t>SPRINT 4</a:t>
            </a:r>
            <a:endParaRPr lang="en-US" sz="1200" dirty="0"/>
          </a:p>
        </p:txBody>
      </p:sp>
      <p:sp>
        <p:nvSpPr>
          <p:cNvPr id="17" name="text-277"/>
          <p:cNvSpPr txBox="1"/>
          <p:nvPr/>
        </p:nvSpPr>
        <p:spPr>
          <a:xfrm>
            <a:off x="9281160" y="1755648"/>
            <a:ext cx="2148840" cy="365760"/>
          </a:xfrm>
          <a:prstGeom prst="rect">
            <a:avLst/>
          </a:prstGeom>
          <a:noFill/>
          <a:ln/>
        </p:spPr>
        <p:txBody>
          <a:bodyPr wrap="square" lIns="0" tIns="0" rIns="0" bIns="0" rtlCol="0" anchor="t"/>
          <a:lstStyle/>
          <a:p>
            <a:pPr marL="0" indent="0">
              <a:buNone/>
            </a:pPr>
            <a:r>
              <a:rPr lang="en-US" sz="1800" b="1" dirty="0">
                <a:solidFill>
                  <a:schemeClr val="tx2"/>
                </a:solidFill>
              </a:rPr>
              <a:t>Hardening &amp; audit</a:t>
            </a:r>
            <a:endParaRPr lang="en-US" sz="1800" dirty="0"/>
          </a:p>
        </p:txBody>
      </p:sp>
      <p:sp>
        <p:nvSpPr>
          <p:cNvPr id="18" name="text-278"/>
          <p:cNvSpPr txBox="1"/>
          <p:nvPr/>
        </p:nvSpPr>
        <p:spPr>
          <a:xfrm>
            <a:off x="9281160" y="2194560"/>
            <a:ext cx="2148840" cy="685800"/>
          </a:xfrm>
          <a:prstGeom prst="rect">
            <a:avLst/>
          </a:prstGeom>
          <a:noFill/>
          <a:ln/>
        </p:spPr>
        <p:txBody>
          <a:bodyPr wrap="square" lIns="0" tIns="0" rIns="0" bIns="0" rtlCol="0" anchor="t"/>
          <a:lstStyle/>
          <a:p>
            <a:pPr marL="0" indent="0">
              <a:buNone/>
            </a:pPr>
            <a:r>
              <a:rPr lang="en-US" sz="1500" dirty="0">
                <a:solidFill>
                  <a:schemeClr val="tx1"/>
                </a:solidFill>
              </a:rPr>
              <a:t>14 tests, CSV export, final audit</a:t>
            </a:r>
            <a:endParaRPr lang="en-US" sz="1500" dirty="0"/>
          </a:p>
        </p:txBody>
      </p:sp>
      <p:sp>
        <p:nvSpPr>
          <p:cNvPr id="19" name="shape-279"/>
          <p:cNvSpPr/>
          <p:nvPr/>
        </p:nvSpPr>
        <p:spPr>
          <a:xfrm>
            <a:off x="548640" y="3246120"/>
            <a:ext cx="3566160" cy="1143000"/>
          </a:xfrm>
          <a:prstGeom prst="roundRect">
            <a:avLst>
              <a:gd name="adj" fmla="val 8000"/>
            </a:avLst>
          </a:prstGeom>
          <a:solidFill>
            <a:schemeClr val="tx2"/>
          </a:solidFill>
          <a:ln/>
        </p:spPr>
      </p:sp>
      <p:sp>
        <p:nvSpPr>
          <p:cNvPr id="20" name="text-280"/>
          <p:cNvSpPr txBox="1"/>
          <p:nvPr/>
        </p:nvSpPr>
        <p:spPr>
          <a:xfrm>
            <a:off x="777240" y="3337560"/>
            <a:ext cx="3108960" cy="548640"/>
          </a:xfrm>
          <a:prstGeom prst="rect">
            <a:avLst/>
          </a:prstGeom>
          <a:noFill/>
          <a:ln/>
        </p:spPr>
        <p:txBody>
          <a:bodyPr wrap="square" lIns="0" tIns="0" rIns="0" bIns="0" rtlCol="0" anchor="ctr"/>
          <a:lstStyle/>
          <a:p>
            <a:pPr marL="0" indent="0">
              <a:buNone/>
            </a:pPr>
            <a:r>
              <a:rPr lang="en-US" sz="2800" b="1" dirty="0">
                <a:solidFill>
                  <a:schemeClr val="accent1"/>
                </a:solidFill>
                <a:latin typeface="+mj-lt" pitchFamily="34" charset="0"/>
                <a:ea typeface="+mj-lt" pitchFamily="34" charset="-122"/>
                <a:cs typeface="+mj-lt" pitchFamily="34" charset="-120"/>
              </a:rPr>
              <a:t>20</a:t>
            </a:r>
            <a:endParaRPr lang="en-US" sz="2800" dirty="0"/>
          </a:p>
        </p:txBody>
      </p:sp>
      <p:sp>
        <p:nvSpPr>
          <p:cNvPr id="21" name="text-281"/>
          <p:cNvSpPr txBox="1"/>
          <p:nvPr/>
        </p:nvSpPr>
        <p:spPr>
          <a:xfrm>
            <a:off x="777240" y="3931920"/>
            <a:ext cx="3108960" cy="365760"/>
          </a:xfrm>
          <a:prstGeom prst="rect">
            <a:avLst/>
          </a:prstGeom>
          <a:noFill/>
          <a:ln/>
        </p:spPr>
        <p:txBody>
          <a:bodyPr wrap="square" lIns="0" tIns="0" rIns="0" bIns="0" rtlCol="0" anchor="t"/>
          <a:lstStyle/>
          <a:p>
            <a:pPr marL="0" indent="0">
              <a:buNone/>
            </a:pPr>
            <a:r>
              <a:rPr lang="en-US" sz="1500" dirty="0">
                <a:solidFill>
                  <a:schemeClr val="bg1"/>
                </a:solidFill>
              </a:rPr>
              <a:t>controlled configuration items</a:t>
            </a:r>
            <a:endParaRPr lang="en-US" sz="1500" dirty="0"/>
          </a:p>
        </p:txBody>
      </p:sp>
      <p:sp>
        <p:nvSpPr>
          <p:cNvPr id="22" name="shape-282"/>
          <p:cNvSpPr/>
          <p:nvPr/>
        </p:nvSpPr>
        <p:spPr>
          <a:xfrm>
            <a:off x="4297680" y="3246120"/>
            <a:ext cx="3566160" cy="1143000"/>
          </a:xfrm>
          <a:prstGeom prst="roundRect">
            <a:avLst>
              <a:gd name="adj" fmla="val 8000"/>
            </a:avLst>
          </a:prstGeom>
          <a:solidFill>
            <a:schemeClr val="tx2"/>
          </a:solidFill>
          <a:ln/>
        </p:spPr>
      </p:sp>
      <p:sp>
        <p:nvSpPr>
          <p:cNvPr id="23" name="text-283"/>
          <p:cNvSpPr txBox="1"/>
          <p:nvPr/>
        </p:nvSpPr>
        <p:spPr>
          <a:xfrm>
            <a:off x="4526280" y="3337560"/>
            <a:ext cx="3108960" cy="548640"/>
          </a:xfrm>
          <a:prstGeom prst="rect">
            <a:avLst/>
          </a:prstGeom>
          <a:noFill/>
          <a:ln/>
        </p:spPr>
        <p:txBody>
          <a:bodyPr wrap="square" lIns="0" tIns="0" rIns="0" bIns="0" rtlCol="0" anchor="ctr"/>
          <a:lstStyle/>
          <a:p>
            <a:pPr marL="0" indent="0">
              <a:buNone/>
            </a:pPr>
            <a:r>
              <a:rPr lang="en-US" sz="2800" b="1" dirty="0">
                <a:solidFill>
                  <a:schemeClr val="accent1"/>
                </a:solidFill>
                <a:latin typeface="+mj-lt" pitchFamily="34" charset="0"/>
                <a:ea typeface="+mj-lt" pitchFamily="34" charset="-122"/>
                <a:cs typeface="+mj-lt" pitchFamily="34" charset="-120"/>
              </a:rPr>
              <a:t>v1.0.0 → v2.0-PRO</a:t>
            </a:r>
            <a:endParaRPr lang="en-US" sz="2800" dirty="0"/>
          </a:p>
        </p:txBody>
      </p:sp>
      <p:sp>
        <p:nvSpPr>
          <p:cNvPr id="24" name="text-284"/>
          <p:cNvSpPr txBox="1"/>
          <p:nvPr/>
        </p:nvSpPr>
        <p:spPr>
          <a:xfrm>
            <a:off x="4526280" y="3931920"/>
            <a:ext cx="3108960" cy="365760"/>
          </a:xfrm>
          <a:prstGeom prst="rect">
            <a:avLst/>
          </a:prstGeom>
          <a:noFill/>
          <a:ln/>
        </p:spPr>
        <p:txBody>
          <a:bodyPr wrap="square" lIns="0" tIns="0" rIns="0" bIns="0" rtlCol="0" anchor="t"/>
          <a:lstStyle/>
          <a:p>
            <a:pPr marL="0" indent="0">
              <a:buNone/>
            </a:pPr>
            <a:r>
              <a:rPr lang="en-US" sz="1500" dirty="0">
                <a:solidFill>
                  <a:schemeClr val="bg1"/>
                </a:solidFill>
              </a:rPr>
              <a:t>strict semantic versioning</a:t>
            </a:r>
            <a:endParaRPr lang="en-US" sz="1500" dirty="0"/>
          </a:p>
        </p:txBody>
      </p:sp>
      <p:sp>
        <p:nvSpPr>
          <p:cNvPr id="25" name="shape-285"/>
          <p:cNvSpPr/>
          <p:nvPr/>
        </p:nvSpPr>
        <p:spPr>
          <a:xfrm>
            <a:off x="8046720" y="3246120"/>
            <a:ext cx="3566160" cy="1143000"/>
          </a:xfrm>
          <a:prstGeom prst="roundRect">
            <a:avLst>
              <a:gd name="adj" fmla="val 8000"/>
            </a:avLst>
          </a:prstGeom>
          <a:solidFill>
            <a:schemeClr val="tx2"/>
          </a:solidFill>
          <a:ln/>
        </p:spPr>
      </p:sp>
      <p:sp>
        <p:nvSpPr>
          <p:cNvPr id="26" name="text-286"/>
          <p:cNvSpPr txBox="1"/>
          <p:nvPr/>
        </p:nvSpPr>
        <p:spPr>
          <a:xfrm>
            <a:off x="8275320" y="3337560"/>
            <a:ext cx="3108960" cy="548640"/>
          </a:xfrm>
          <a:prstGeom prst="rect">
            <a:avLst/>
          </a:prstGeom>
          <a:noFill/>
          <a:ln/>
        </p:spPr>
        <p:txBody>
          <a:bodyPr wrap="square" lIns="0" tIns="0" rIns="0" bIns="0" rtlCol="0" anchor="ctr"/>
          <a:lstStyle/>
          <a:p>
            <a:pPr marL="0" indent="0">
              <a:buNone/>
            </a:pPr>
            <a:r>
              <a:rPr lang="en-US" sz="2800" b="1" dirty="0">
                <a:solidFill>
                  <a:schemeClr val="accent1"/>
                </a:solidFill>
                <a:latin typeface="+mj-lt" pitchFamily="34" charset="0"/>
                <a:ea typeface="+mj-lt" pitchFamily="34" charset="-122"/>
                <a:cs typeface="+mj-lt" pitchFamily="34" charset="-120"/>
              </a:rPr>
              <a:t>0</a:t>
            </a:r>
            <a:endParaRPr lang="en-US" sz="2800" dirty="0"/>
          </a:p>
        </p:txBody>
      </p:sp>
      <p:sp>
        <p:nvSpPr>
          <p:cNvPr id="27" name="text-287"/>
          <p:cNvSpPr txBox="1"/>
          <p:nvPr/>
        </p:nvSpPr>
        <p:spPr>
          <a:xfrm>
            <a:off x="8275320" y="3931920"/>
            <a:ext cx="3108960" cy="365760"/>
          </a:xfrm>
          <a:prstGeom prst="rect">
            <a:avLst/>
          </a:prstGeom>
          <a:noFill/>
          <a:ln/>
        </p:spPr>
        <p:txBody>
          <a:bodyPr wrap="square" lIns="0" tIns="0" rIns="0" bIns="0" rtlCol="0" anchor="t"/>
          <a:lstStyle/>
          <a:p>
            <a:pPr marL="0" indent="0">
              <a:buNone/>
            </a:pPr>
            <a:r>
              <a:rPr lang="en-US" sz="1500" dirty="0">
                <a:solidFill>
                  <a:schemeClr val="bg1"/>
                </a:solidFill>
              </a:rPr>
              <a:t>direct pushes: tests gate every merge</a:t>
            </a:r>
            <a:endParaRPr lang="en-US" sz="1500" dirty="0"/>
          </a:p>
        </p:txBody>
      </p:sp>
      <p:sp>
        <p:nvSpPr>
          <p:cNvPr id="28" name="text-288"/>
          <p:cNvSpPr txBox="1"/>
          <p:nvPr/>
        </p:nvSpPr>
        <p:spPr>
          <a:xfrm>
            <a:off x="548640" y="4709160"/>
            <a:ext cx="3657600" cy="274320"/>
          </a:xfrm>
          <a:prstGeom prst="rect">
            <a:avLst/>
          </a:prstGeom>
          <a:noFill/>
          <a:ln/>
        </p:spPr>
        <p:txBody>
          <a:bodyPr wrap="square" lIns="0" tIns="0" rIns="0" bIns="0" rtlCol="0" anchor="t"/>
          <a:lstStyle/>
          <a:p>
            <a:pPr marL="0" indent="0">
              <a:buNone/>
            </a:pPr>
            <a:r>
              <a:rPr lang="en-US" sz="1200" b="1" kern="0" spc="100" dirty="0">
                <a:solidFill>
                  <a:schemeClr val="accent6"/>
                </a:solidFill>
              </a:rPr>
              <a:t>CHANGE WORKFLOW</a:t>
            </a:r>
            <a:endParaRPr lang="en-US" sz="1200" dirty="0"/>
          </a:p>
        </p:txBody>
      </p:sp>
      <p:sp>
        <p:nvSpPr>
          <p:cNvPr id="29" name="step-289"/>
          <p:cNvSpPr txBox="1"/>
          <p:nvPr/>
        </p:nvSpPr>
        <p:spPr>
          <a:xfrm>
            <a:off x="548640" y="5074920"/>
            <a:ext cx="2331720" cy="868680"/>
          </a:xfrm>
          <a:prstGeom prst="chevron">
            <a:avLst/>
          </a:prstGeom>
          <a:solidFill>
            <a:schemeClr val="tx2"/>
          </a:solidFill>
          <a:ln/>
        </p:spPr>
        <p:txBody>
          <a:bodyPr wrap="square" lIns="0" tIns="0" rIns="0" bIns="0" rtlCol="0" anchor="ctr"/>
          <a:lstStyle/>
          <a:p>
            <a:pPr marL="0" indent="0" algn="ctr">
              <a:buNone/>
            </a:pPr>
            <a:r>
              <a:rPr lang="en-US" sz="1500" b="1" dirty="0">
                <a:solidFill>
                  <a:schemeClr val="bg1"/>
                </a:solidFill>
              </a:rPr>
              <a:t>Change request</a:t>
            </a:r>
            <a:endParaRPr lang="en-US" sz="1500" dirty="0"/>
          </a:p>
        </p:txBody>
      </p:sp>
      <p:sp>
        <p:nvSpPr>
          <p:cNvPr id="30" name="step-290"/>
          <p:cNvSpPr txBox="1"/>
          <p:nvPr/>
        </p:nvSpPr>
        <p:spPr>
          <a:xfrm>
            <a:off x="2724912" y="5074920"/>
            <a:ext cx="2331720" cy="868680"/>
          </a:xfrm>
          <a:prstGeom prst="chevron">
            <a:avLst/>
          </a:prstGeom>
          <a:solidFill>
            <a:schemeClr val="tx2"/>
          </a:solidFill>
          <a:ln/>
        </p:spPr>
        <p:txBody>
          <a:bodyPr wrap="square" lIns="0" tIns="0" rIns="0" bIns="0" rtlCol="0" anchor="ctr"/>
          <a:lstStyle/>
          <a:p>
            <a:pPr marL="0" indent="0" algn="ctr">
              <a:buNone/>
            </a:pPr>
            <a:r>
              <a:rPr lang="en-US" sz="1500" b="1" dirty="0">
                <a:solidFill>
                  <a:schemeClr val="bg1"/>
                </a:solidFill>
              </a:rPr>
              <a:t>Reason</a:t>
            </a:r>
            <a:endParaRPr lang="en-US" sz="1500" dirty="0"/>
          </a:p>
        </p:txBody>
      </p:sp>
      <p:sp>
        <p:nvSpPr>
          <p:cNvPr id="31" name="step-291"/>
          <p:cNvSpPr txBox="1"/>
          <p:nvPr/>
        </p:nvSpPr>
        <p:spPr>
          <a:xfrm>
            <a:off x="4901184" y="5074920"/>
            <a:ext cx="2331720" cy="868680"/>
          </a:xfrm>
          <a:prstGeom prst="chevron">
            <a:avLst/>
          </a:prstGeom>
          <a:solidFill>
            <a:schemeClr val="tx2"/>
          </a:solidFill>
          <a:ln/>
        </p:spPr>
        <p:txBody>
          <a:bodyPr wrap="square" lIns="0" tIns="0" rIns="0" bIns="0" rtlCol="0" anchor="ctr"/>
          <a:lstStyle/>
          <a:p>
            <a:pPr marL="0" indent="0" algn="ctr">
              <a:buNone/>
            </a:pPr>
            <a:r>
              <a:rPr lang="en-US" sz="1500" b="1" dirty="0">
                <a:solidFill>
                  <a:schemeClr val="bg1"/>
                </a:solidFill>
              </a:rPr>
              <a:t>Develop &amp; test</a:t>
            </a:r>
            <a:endParaRPr lang="en-US" sz="1500" dirty="0"/>
          </a:p>
        </p:txBody>
      </p:sp>
      <p:sp>
        <p:nvSpPr>
          <p:cNvPr id="32" name="step-292"/>
          <p:cNvSpPr txBox="1"/>
          <p:nvPr/>
        </p:nvSpPr>
        <p:spPr>
          <a:xfrm>
            <a:off x="7077456" y="5074920"/>
            <a:ext cx="2331720" cy="868680"/>
          </a:xfrm>
          <a:prstGeom prst="chevron">
            <a:avLst/>
          </a:prstGeom>
          <a:solidFill>
            <a:schemeClr val="tx2"/>
          </a:solidFill>
          <a:ln/>
        </p:spPr>
        <p:txBody>
          <a:bodyPr wrap="square" lIns="0" tIns="0" rIns="0" bIns="0" rtlCol="0" anchor="ctr"/>
          <a:lstStyle/>
          <a:p>
            <a:pPr marL="0" indent="0" algn="ctr">
              <a:buNone/>
            </a:pPr>
            <a:r>
              <a:rPr lang="en-US" sz="1500" b="1" dirty="0">
                <a:solidFill>
                  <a:schemeClr val="bg1"/>
                </a:solidFill>
              </a:rPr>
              <a:t>PR review</a:t>
            </a:r>
            <a:endParaRPr lang="en-US" sz="1500" dirty="0"/>
          </a:p>
        </p:txBody>
      </p:sp>
      <p:sp>
        <p:nvSpPr>
          <p:cNvPr id="33" name="step-293"/>
          <p:cNvSpPr txBox="1"/>
          <p:nvPr/>
        </p:nvSpPr>
        <p:spPr>
          <a:xfrm>
            <a:off x="9253728" y="5074920"/>
            <a:ext cx="2331720" cy="868680"/>
          </a:xfrm>
          <a:prstGeom prst="chevron">
            <a:avLst/>
          </a:prstGeom>
          <a:solidFill>
            <a:schemeClr val="accent5"/>
          </a:solidFill>
          <a:ln/>
        </p:spPr>
        <p:txBody>
          <a:bodyPr wrap="square" lIns="0" tIns="0" rIns="0" bIns="0" rtlCol="0" anchor="ctr"/>
          <a:lstStyle/>
          <a:p>
            <a:pPr marL="0" indent="0" algn="ctr">
              <a:buNone/>
            </a:pPr>
            <a:r>
              <a:rPr lang="en-US" sz="1500" b="1" dirty="0">
                <a:solidFill>
                  <a:schemeClr val="bg1"/>
                </a:solidFill>
              </a:rPr>
              <a:t>Approve &amp; merge</a:t>
            </a:r>
            <a:endParaRPr lang="en-US" sz="1500" dirty="0"/>
          </a:p>
        </p:txBody>
      </p:sp>
      <p:sp>
        <p:nvSpPr>
          <p:cNvPr id="34"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bg1"/>
                </a:solidFill>
              </a:rPr>
              <a:t>Live Demo: 8 Steps</a:t>
            </a:r>
            <a:endParaRPr lang="en-US" sz="3400" dirty="0"/>
          </a:p>
        </p:txBody>
      </p:sp>
      <p:sp>
        <p:nvSpPr>
          <p:cNvPr id="3" name="shape-294"/>
          <p:cNvSpPr/>
          <p:nvPr/>
        </p:nvSpPr>
        <p:spPr>
          <a:xfrm>
            <a:off x="548640" y="1325880"/>
            <a:ext cx="2560320" cy="1965960"/>
          </a:xfrm>
          <a:prstGeom prst="roundRect">
            <a:avLst>
              <a:gd name="adj" fmla="val 4651"/>
            </a:avLst>
          </a:prstGeom>
          <a:solidFill>
            <a:schemeClr val="tx2"/>
          </a:solidFill>
          <a:ln/>
        </p:spPr>
      </p:sp>
      <p:sp>
        <p:nvSpPr>
          <p:cNvPr id="4" name="badge-295"/>
          <p:cNvSpPr txBox="1"/>
          <p:nvPr/>
        </p:nvSpPr>
        <p:spPr>
          <a:xfrm>
            <a:off x="777240" y="1554480"/>
            <a:ext cx="548640" cy="54864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296"/>
          <p:cNvSpPr txBox="1"/>
          <p:nvPr/>
        </p:nvSpPr>
        <p:spPr>
          <a:xfrm>
            <a:off x="1463040" y="1554480"/>
            <a:ext cx="1554480" cy="548640"/>
          </a:xfrm>
          <a:prstGeom prst="rect">
            <a:avLst/>
          </a:prstGeom>
          <a:noFill/>
          <a:ln/>
        </p:spPr>
        <p:txBody>
          <a:bodyPr wrap="square" lIns="0" tIns="0" rIns="0" bIns="0" rtlCol="0" anchor="ctr"/>
          <a:lstStyle/>
          <a:p>
            <a:pPr marL="0" indent="0">
              <a:buNone/>
            </a:pPr>
            <a:r>
              <a:rPr lang="en-US" sz="1800" b="1" dirty="0">
                <a:solidFill>
                  <a:schemeClr val="bg1"/>
                </a:solidFill>
              </a:rPr>
              <a:t>Start session</a:t>
            </a:r>
            <a:endParaRPr lang="en-US" sz="1800" dirty="0"/>
          </a:p>
        </p:txBody>
      </p:sp>
      <p:sp>
        <p:nvSpPr>
          <p:cNvPr id="6" name="text-297"/>
          <p:cNvSpPr txBox="1"/>
          <p:nvPr/>
        </p:nvSpPr>
        <p:spPr>
          <a:xfrm>
            <a:off x="777240" y="2331720"/>
            <a:ext cx="2194560" cy="822960"/>
          </a:xfrm>
          <a:prstGeom prst="rect">
            <a:avLst/>
          </a:prstGeom>
          <a:noFill/>
          <a:ln/>
        </p:spPr>
        <p:txBody>
          <a:bodyPr wrap="square" lIns="0" tIns="0" rIns="0" bIns="0" rtlCol="0" anchor="t"/>
          <a:lstStyle/>
          <a:p>
            <a:pPr marL="0" indent="0">
              <a:buNone/>
            </a:pPr>
            <a:r>
              <a:rPr lang="en-US" sz="1500" dirty="0">
                <a:solidFill>
                  <a:schemeClr val="bg2"/>
                </a:solidFill>
              </a:rPr>
              <a:t>Agoo MPS · San Nicolas Norte · Shift 2</a:t>
            </a:r>
            <a:endParaRPr lang="en-US" sz="1500" dirty="0"/>
          </a:p>
        </p:txBody>
      </p:sp>
      <p:sp>
        <p:nvSpPr>
          <p:cNvPr id="7" name="shape-298"/>
          <p:cNvSpPr/>
          <p:nvPr/>
        </p:nvSpPr>
        <p:spPr>
          <a:xfrm>
            <a:off x="3383280" y="1325880"/>
            <a:ext cx="2560320" cy="1965960"/>
          </a:xfrm>
          <a:prstGeom prst="roundRect">
            <a:avLst>
              <a:gd name="adj" fmla="val 4651"/>
            </a:avLst>
          </a:prstGeom>
          <a:solidFill>
            <a:schemeClr val="tx2"/>
          </a:solidFill>
          <a:ln/>
        </p:spPr>
      </p:sp>
      <p:sp>
        <p:nvSpPr>
          <p:cNvPr id="8" name="badge-299"/>
          <p:cNvSpPr txBox="1"/>
          <p:nvPr/>
        </p:nvSpPr>
        <p:spPr>
          <a:xfrm>
            <a:off x="3611880" y="1554480"/>
            <a:ext cx="548640" cy="54864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9" name="text-300"/>
          <p:cNvSpPr txBox="1"/>
          <p:nvPr/>
        </p:nvSpPr>
        <p:spPr>
          <a:xfrm>
            <a:off x="4297680" y="1554480"/>
            <a:ext cx="1554480" cy="548640"/>
          </a:xfrm>
          <a:prstGeom prst="rect">
            <a:avLst/>
          </a:prstGeom>
          <a:noFill/>
          <a:ln/>
        </p:spPr>
        <p:txBody>
          <a:bodyPr wrap="square" lIns="0" tIns="0" rIns="0" bIns="0" rtlCol="0" anchor="ctr"/>
          <a:lstStyle/>
          <a:p>
            <a:pPr marL="0" indent="0">
              <a:buNone/>
            </a:pPr>
            <a:r>
              <a:rPr lang="en-US" sz="1800" b="1" dirty="0">
                <a:solidFill>
                  <a:schemeClr val="bg1"/>
                </a:solidFill>
              </a:rPr>
              <a:t>Live screening</a:t>
            </a:r>
            <a:endParaRPr lang="en-US" sz="1800" dirty="0"/>
          </a:p>
        </p:txBody>
      </p:sp>
      <p:sp>
        <p:nvSpPr>
          <p:cNvPr id="10" name="text-301"/>
          <p:cNvSpPr txBox="1"/>
          <p:nvPr/>
        </p:nvSpPr>
        <p:spPr>
          <a:xfrm>
            <a:off x="3611880" y="2331720"/>
            <a:ext cx="2194560" cy="822960"/>
          </a:xfrm>
          <a:prstGeom prst="rect">
            <a:avLst/>
          </a:prstGeom>
          <a:noFill/>
          <a:ln/>
        </p:spPr>
        <p:txBody>
          <a:bodyPr wrap="square" lIns="0" tIns="0" rIns="0" bIns="0" rtlCol="0" anchor="t"/>
          <a:lstStyle/>
          <a:p>
            <a:pPr marL="0" indent="0">
              <a:buNone/>
            </a:pPr>
            <a:r>
              <a:rPr lang="en-US" sz="1500" dirty="0">
                <a:solidFill>
                  <a:schemeClr val="bg2"/>
                </a:solidFill>
              </a:rPr>
              <a:t>Green CLEAR, amber WARNING, red ALARM</a:t>
            </a:r>
            <a:endParaRPr lang="en-US" sz="1500" dirty="0"/>
          </a:p>
        </p:txBody>
      </p:sp>
      <p:sp>
        <p:nvSpPr>
          <p:cNvPr id="11" name="shape-302"/>
          <p:cNvSpPr/>
          <p:nvPr/>
        </p:nvSpPr>
        <p:spPr>
          <a:xfrm>
            <a:off x="6217920" y="1325880"/>
            <a:ext cx="2560320" cy="1965960"/>
          </a:xfrm>
          <a:prstGeom prst="roundRect">
            <a:avLst>
              <a:gd name="adj" fmla="val 4651"/>
            </a:avLst>
          </a:prstGeom>
          <a:solidFill>
            <a:schemeClr val="tx2"/>
          </a:solidFill>
          <a:ln/>
        </p:spPr>
      </p:sp>
      <p:sp>
        <p:nvSpPr>
          <p:cNvPr id="12" name="badge-303"/>
          <p:cNvSpPr txBox="1"/>
          <p:nvPr/>
        </p:nvSpPr>
        <p:spPr>
          <a:xfrm>
            <a:off x="6446520" y="1554480"/>
            <a:ext cx="548640" cy="54864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3" name="text-304"/>
          <p:cNvSpPr txBox="1"/>
          <p:nvPr/>
        </p:nvSpPr>
        <p:spPr>
          <a:xfrm>
            <a:off x="7132320" y="1554480"/>
            <a:ext cx="1554480" cy="548640"/>
          </a:xfrm>
          <a:prstGeom prst="rect">
            <a:avLst/>
          </a:prstGeom>
          <a:noFill/>
          <a:ln/>
        </p:spPr>
        <p:txBody>
          <a:bodyPr wrap="square" lIns="0" tIns="0" rIns="0" bIns="0" rtlCol="0" anchor="ctr"/>
          <a:lstStyle/>
          <a:p>
            <a:pPr marL="0" indent="0">
              <a:buNone/>
            </a:pPr>
            <a:r>
              <a:rPr lang="en-US" sz="1800" b="1" dirty="0">
                <a:solidFill>
                  <a:schemeClr val="bg1"/>
                </a:solidFill>
              </a:rPr>
              <a:t>Unlicensed flow</a:t>
            </a:r>
            <a:endParaRPr lang="en-US" sz="1800" dirty="0"/>
          </a:p>
        </p:txBody>
      </p:sp>
      <p:sp>
        <p:nvSpPr>
          <p:cNvPr id="14" name="text-305"/>
          <p:cNvSpPr txBox="1"/>
          <p:nvPr/>
        </p:nvSpPr>
        <p:spPr>
          <a:xfrm>
            <a:off x="6446520" y="2331720"/>
            <a:ext cx="2194560" cy="822960"/>
          </a:xfrm>
          <a:prstGeom prst="rect">
            <a:avLst/>
          </a:prstGeom>
          <a:noFill/>
          <a:ln/>
        </p:spPr>
        <p:txBody>
          <a:bodyPr wrap="square" lIns="0" tIns="0" rIns="0" bIns="0" rtlCol="0" anchor="t"/>
          <a:lstStyle/>
          <a:p>
            <a:pPr marL="0" indent="0">
              <a:buNone/>
            </a:pPr>
            <a:r>
              <a:rPr lang="en-US" sz="1500" dirty="0">
                <a:solidFill>
                  <a:schemeClr val="bg2"/>
                </a:solidFill>
              </a:rPr>
              <a:t>Alt-ID required, total ₱3,700</a:t>
            </a:r>
            <a:endParaRPr lang="en-US" sz="1500" dirty="0"/>
          </a:p>
        </p:txBody>
      </p:sp>
      <p:sp>
        <p:nvSpPr>
          <p:cNvPr id="15" name="shape-306"/>
          <p:cNvSpPr/>
          <p:nvPr/>
        </p:nvSpPr>
        <p:spPr>
          <a:xfrm>
            <a:off x="9052560" y="1325880"/>
            <a:ext cx="2560320" cy="1965960"/>
          </a:xfrm>
          <a:prstGeom prst="roundRect">
            <a:avLst>
              <a:gd name="adj" fmla="val 4651"/>
            </a:avLst>
          </a:prstGeom>
          <a:solidFill>
            <a:schemeClr val="tx2"/>
          </a:solidFill>
          <a:ln/>
        </p:spPr>
      </p:sp>
      <p:sp>
        <p:nvSpPr>
          <p:cNvPr id="16" name="badge-307"/>
          <p:cNvSpPr txBox="1"/>
          <p:nvPr/>
        </p:nvSpPr>
        <p:spPr>
          <a:xfrm>
            <a:off x="9281160" y="1554480"/>
            <a:ext cx="548640" cy="54864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7" name="text-308"/>
          <p:cNvSpPr txBox="1"/>
          <p:nvPr/>
        </p:nvSpPr>
        <p:spPr>
          <a:xfrm>
            <a:off x="9966960" y="1554480"/>
            <a:ext cx="1554480" cy="548640"/>
          </a:xfrm>
          <a:prstGeom prst="rect">
            <a:avLst/>
          </a:prstGeom>
          <a:noFill/>
          <a:ln/>
        </p:spPr>
        <p:txBody>
          <a:bodyPr wrap="square" lIns="0" tIns="0" rIns="0" bIns="0" rtlCol="0" anchor="ctr"/>
          <a:lstStyle/>
          <a:p>
            <a:pPr marL="0" indent="0">
              <a:buNone/>
            </a:pPr>
            <a:r>
              <a:rPr lang="en-US" sz="1800" b="1" dirty="0">
                <a:solidFill>
                  <a:schemeClr val="bg1"/>
                </a:solidFill>
              </a:rPr>
              <a:t>Impound rule</a:t>
            </a:r>
            <a:endParaRPr lang="en-US" sz="1800" dirty="0"/>
          </a:p>
        </p:txBody>
      </p:sp>
      <p:sp>
        <p:nvSpPr>
          <p:cNvPr id="18" name="text-309"/>
          <p:cNvSpPr txBox="1"/>
          <p:nvPr/>
        </p:nvSpPr>
        <p:spPr>
          <a:xfrm>
            <a:off x="9281160" y="2331720"/>
            <a:ext cx="2194560" cy="822960"/>
          </a:xfrm>
          <a:prstGeom prst="rect">
            <a:avLst/>
          </a:prstGeom>
          <a:noFill/>
          <a:ln/>
        </p:spPr>
        <p:txBody>
          <a:bodyPr wrap="square" lIns="0" tIns="0" rIns="0" bIns="0" rtlCol="0" anchor="t"/>
          <a:lstStyle/>
          <a:p>
            <a:pPr marL="0" indent="0">
              <a:buNone/>
            </a:pPr>
            <a:r>
              <a:rPr lang="en-US" sz="1500" dirty="0">
                <a:solidFill>
                  <a:schemeClr val="bg2"/>
                </a:solidFill>
              </a:rPr>
              <a:t>No slip number, no submission</a:t>
            </a:r>
            <a:endParaRPr lang="en-US" sz="1500" dirty="0"/>
          </a:p>
        </p:txBody>
      </p:sp>
      <p:sp>
        <p:nvSpPr>
          <p:cNvPr id="19" name="shape-310"/>
          <p:cNvSpPr/>
          <p:nvPr/>
        </p:nvSpPr>
        <p:spPr>
          <a:xfrm>
            <a:off x="548640" y="3520440"/>
            <a:ext cx="2560320" cy="1965960"/>
          </a:xfrm>
          <a:prstGeom prst="roundRect">
            <a:avLst>
              <a:gd name="adj" fmla="val 4651"/>
            </a:avLst>
          </a:prstGeom>
          <a:solidFill>
            <a:schemeClr val="tx2"/>
          </a:solidFill>
          <a:ln/>
        </p:spPr>
      </p:sp>
      <p:sp>
        <p:nvSpPr>
          <p:cNvPr id="20" name="badge-311"/>
          <p:cNvSpPr txBox="1"/>
          <p:nvPr/>
        </p:nvSpPr>
        <p:spPr>
          <a:xfrm>
            <a:off x="777240" y="3749040"/>
            <a:ext cx="548640" cy="54864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1" name="text-312"/>
          <p:cNvSpPr txBox="1"/>
          <p:nvPr/>
        </p:nvSpPr>
        <p:spPr>
          <a:xfrm>
            <a:off x="1463040" y="3749040"/>
            <a:ext cx="1554480" cy="548640"/>
          </a:xfrm>
          <a:prstGeom prst="rect">
            <a:avLst/>
          </a:prstGeom>
          <a:noFill/>
          <a:ln/>
        </p:spPr>
        <p:txBody>
          <a:bodyPr wrap="square" lIns="0" tIns="0" rIns="0" bIns="0" rtlCol="0" anchor="ctr"/>
          <a:lstStyle/>
          <a:p>
            <a:pPr marL="0" indent="0">
              <a:buNone/>
            </a:pPr>
            <a:r>
              <a:rPr lang="en-US" sz="1800" b="1" dirty="0">
                <a:solidFill>
                  <a:schemeClr val="bg1"/>
                </a:solidFill>
              </a:rPr>
              <a:t>Evidence &amp; print</a:t>
            </a:r>
            <a:endParaRPr lang="en-US" sz="1800" dirty="0"/>
          </a:p>
        </p:txBody>
      </p:sp>
      <p:sp>
        <p:nvSpPr>
          <p:cNvPr id="22" name="text-313"/>
          <p:cNvSpPr txBox="1"/>
          <p:nvPr/>
        </p:nvSpPr>
        <p:spPr>
          <a:xfrm>
            <a:off x="777240" y="4526280"/>
            <a:ext cx="2194560" cy="822960"/>
          </a:xfrm>
          <a:prstGeom prst="rect">
            <a:avLst/>
          </a:prstGeom>
          <a:noFill/>
          <a:ln/>
        </p:spPr>
        <p:txBody>
          <a:bodyPr wrap="square" lIns="0" tIns="0" rIns="0" bIns="0" rtlCol="0" anchor="t"/>
          <a:lstStyle/>
          <a:p>
            <a:pPr marL="0" indent="0">
              <a:buNone/>
            </a:pPr>
            <a:r>
              <a:rPr lang="en-US" sz="1500" dirty="0">
                <a:solidFill>
                  <a:schemeClr val="bg2"/>
                </a:solidFill>
              </a:rPr>
              <a:t>Photo, ticket ID, thermal receipt</a:t>
            </a:r>
            <a:endParaRPr lang="en-US" sz="1500" dirty="0"/>
          </a:p>
        </p:txBody>
      </p:sp>
      <p:sp>
        <p:nvSpPr>
          <p:cNvPr id="23" name="shape-314"/>
          <p:cNvSpPr/>
          <p:nvPr/>
        </p:nvSpPr>
        <p:spPr>
          <a:xfrm>
            <a:off x="3383280" y="3520440"/>
            <a:ext cx="2560320" cy="1965960"/>
          </a:xfrm>
          <a:prstGeom prst="roundRect">
            <a:avLst>
              <a:gd name="adj" fmla="val 4651"/>
            </a:avLst>
          </a:prstGeom>
          <a:solidFill>
            <a:schemeClr val="tx2"/>
          </a:solidFill>
          <a:ln/>
        </p:spPr>
      </p:sp>
      <p:sp>
        <p:nvSpPr>
          <p:cNvPr id="24" name="badge-315"/>
          <p:cNvSpPr txBox="1"/>
          <p:nvPr/>
        </p:nvSpPr>
        <p:spPr>
          <a:xfrm>
            <a:off x="3611880" y="3749040"/>
            <a:ext cx="548640" cy="54864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25" name="text-316"/>
          <p:cNvSpPr txBox="1"/>
          <p:nvPr/>
        </p:nvSpPr>
        <p:spPr>
          <a:xfrm>
            <a:off x="4297680" y="3749040"/>
            <a:ext cx="1554480" cy="548640"/>
          </a:xfrm>
          <a:prstGeom prst="rect">
            <a:avLst/>
          </a:prstGeom>
          <a:noFill/>
          <a:ln/>
        </p:spPr>
        <p:txBody>
          <a:bodyPr wrap="square" lIns="0" tIns="0" rIns="0" bIns="0" rtlCol="0" anchor="ctr"/>
          <a:lstStyle/>
          <a:p>
            <a:pPr marL="0" indent="0">
              <a:buNone/>
            </a:pPr>
            <a:r>
              <a:rPr lang="en-US" sz="1800" b="1" dirty="0">
                <a:solidFill>
                  <a:schemeClr val="bg1"/>
                </a:solidFill>
              </a:rPr>
              <a:t>Registry search</a:t>
            </a:r>
            <a:endParaRPr lang="en-US" sz="1800" dirty="0"/>
          </a:p>
        </p:txBody>
      </p:sp>
      <p:sp>
        <p:nvSpPr>
          <p:cNvPr id="26" name="text-317"/>
          <p:cNvSpPr txBox="1"/>
          <p:nvPr/>
        </p:nvSpPr>
        <p:spPr>
          <a:xfrm>
            <a:off x="3611880" y="4526280"/>
            <a:ext cx="2194560" cy="822960"/>
          </a:xfrm>
          <a:prstGeom prst="rect">
            <a:avLst/>
          </a:prstGeom>
          <a:noFill/>
          <a:ln/>
        </p:spPr>
        <p:txBody>
          <a:bodyPr wrap="square" lIns="0" tIns="0" rIns="0" bIns="0" rtlCol="0" anchor="t"/>
          <a:lstStyle/>
          <a:p>
            <a:pPr marL="0" indent="0">
              <a:buNone/>
            </a:pPr>
            <a:r>
              <a:rPr lang="en-US" sz="1500" dirty="0">
                <a:solidFill>
                  <a:schemeClr val="bg2"/>
                </a:solidFill>
              </a:rPr>
              <a:t>Ticket, plate, driver, filter chips</a:t>
            </a:r>
            <a:endParaRPr lang="en-US" sz="1500" dirty="0"/>
          </a:p>
        </p:txBody>
      </p:sp>
      <p:sp>
        <p:nvSpPr>
          <p:cNvPr id="27" name="shape-318"/>
          <p:cNvSpPr/>
          <p:nvPr/>
        </p:nvSpPr>
        <p:spPr>
          <a:xfrm>
            <a:off x="6217920" y="3520440"/>
            <a:ext cx="2560320" cy="1965960"/>
          </a:xfrm>
          <a:prstGeom prst="roundRect">
            <a:avLst>
              <a:gd name="adj" fmla="val 4651"/>
            </a:avLst>
          </a:prstGeom>
          <a:solidFill>
            <a:schemeClr val="tx2"/>
          </a:solidFill>
          <a:ln/>
        </p:spPr>
      </p:sp>
      <p:sp>
        <p:nvSpPr>
          <p:cNvPr id="28" name="badge-319"/>
          <p:cNvSpPr txBox="1"/>
          <p:nvPr/>
        </p:nvSpPr>
        <p:spPr>
          <a:xfrm>
            <a:off x="6446520" y="3749040"/>
            <a:ext cx="548640" cy="54864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7</a:t>
            </a:r>
            <a:endParaRPr lang="en-US" sz="2000" dirty="0"/>
          </a:p>
        </p:txBody>
      </p:sp>
      <p:sp>
        <p:nvSpPr>
          <p:cNvPr id="29" name="text-320"/>
          <p:cNvSpPr txBox="1"/>
          <p:nvPr/>
        </p:nvSpPr>
        <p:spPr>
          <a:xfrm>
            <a:off x="7132320" y="3749040"/>
            <a:ext cx="1554480" cy="548640"/>
          </a:xfrm>
          <a:prstGeom prst="rect">
            <a:avLst/>
          </a:prstGeom>
          <a:noFill/>
          <a:ln/>
        </p:spPr>
        <p:txBody>
          <a:bodyPr wrap="square" lIns="0" tIns="0" rIns="0" bIns="0" rtlCol="0" anchor="ctr"/>
          <a:lstStyle/>
          <a:p>
            <a:pPr marL="0" indent="0">
              <a:buNone/>
            </a:pPr>
            <a:r>
              <a:rPr lang="en-US" sz="1800" b="1" dirty="0">
                <a:solidFill>
                  <a:schemeClr val="bg1"/>
                </a:solidFill>
              </a:rPr>
              <a:t>Settlement</a:t>
            </a:r>
            <a:endParaRPr lang="en-US" sz="1800" dirty="0"/>
          </a:p>
        </p:txBody>
      </p:sp>
      <p:sp>
        <p:nvSpPr>
          <p:cNvPr id="30" name="text-321"/>
          <p:cNvSpPr txBox="1"/>
          <p:nvPr/>
        </p:nvSpPr>
        <p:spPr>
          <a:xfrm>
            <a:off x="6362299" y="4526280"/>
            <a:ext cx="2278781" cy="822960"/>
          </a:xfrm>
          <a:prstGeom prst="rect">
            <a:avLst/>
          </a:prstGeom>
          <a:noFill/>
          <a:ln/>
        </p:spPr>
        <p:txBody>
          <a:bodyPr wrap="square" lIns="0" tIns="0" rIns="0" bIns="0" rtlCol="0" anchor="t"/>
          <a:lstStyle/>
          <a:p>
            <a:pPr marL="0" indent="0">
              <a:buNone/>
            </a:pPr>
            <a:r>
              <a:rPr lang="en-US" sz="1500" dirty="0">
                <a:solidFill>
                  <a:schemeClr val="bg2"/>
                </a:solidFill>
              </a:rPr>
              <a:t>Update status to 'Settled / Paid at Treasury' via modal</a:t>
            </a:r>
            <a:endParaRPr lang="en-US" sz="1500" dirty="0"/>
          </a:p>
        </p:txBody>
      </p:sp>
      <p:sp>
        <p:nvSpPr>
          <p:cNvPr id="31" name="shape-322"/>
          <p:cNvSpPr/>
          <p:nvPr/>
        </p:nvSpPr>
        <p:spPr>
          <a:xfrm>
            <a:off x="9052560" y="3520440"/>
            <a:ext cx="2560320" cy="1965960"/>
          </a:xfrm>
          <a:prstGeom prst="roundRect">
            <a:avLst>
              <a:gd name="adj" fmla="val 4651"/>
            </a:avLst>
          </a:prstGeom>
          <a:solidFill>
            <a:schemeClr val="tx2"/>
          </a:solidFill>
          <a:ln/>
        </p:spPr>
      </p:sp>
      <p:sp>
        <p:nvSpPr>
          <p:cNvPr id="32" name="badge-323"/>
          <p:cNvSpPr txBox="1"/>
          <p:nvPr/>
        </p:nvSpPr>
        <p:spPr>
          <a:xfrm>
            <a:off x="9281160" y="3749040"/>
            <a:ext cx="548640" cy="54864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8</a:t>
            </a:r>
            <a:endParaRPr lang="en-US" sz="2000" dirty="0"/>
          </a:p>
        </p:txBody>
      </p:sp>
      <p:sp>
        <p:nvSpPr>
          <p:cNvPr id="33" name="text-324"/>
          <p:cNvSpPr txBox="1"/>
          <p:nvPr/>
        </p:nvSpPr>
        <p:spPr>
          <a:xfrm>
            <a:off x="9966960" y="3749040"/>
            <a:ext cx="1554480" cy="548640"/>
          </a:xfrm>
          <a:prstGeom prst="rect">
            <a:avLst/>
          </a:prstGeom>
          <a:noFill/>
          <a:ln/>
        </p:spPr>
        <p:txBody>
          <a:bodyPr wrap="square" lIns="0" tIns="0" rIns="0" bIns="0" rtlCol="0" anchor="ctr"/>
          <a:lstStyle/>
          <a:p>
            <a:pPr marL="0" indent="0">
              <a:buNone/>
            </a:pPr>
            <a:r>
              <a:rPr lang="en-US" sz="1800" b="1" dirty="0">
                <a:solidFill>
                  <a:schemeClr val="bg1"/>
                </a:solidFill>
              </a:rPr>
              <a:t>Export &amp; KPIs</a:t>
            </a:r>
            <a:endParaRPr lang="en-US" sz="1800" dirty="0"/>
          </a:p>
        </p:txBody>
      </p:sp>
      <p:sp>
        <p:nvSpPr>
          <p:cNvPr id="34" name="text-325"/>
          <p:cNvSpPr txBox="1"/>
          <p:nvPr/>
        </p:nvSpPr>
        <p:spPr>
          <a:xfrm>
            <a:off x="9281160" y="4526280"/>
            <a:ext cx="2194560" cy="822960"/>
          </a:xfrm>
          <a:prstGeom prst="rect">
            <a:avLst/>
          </a:prstGeom>
          <a:noFill/>
          <a:ln/>
        </p:spPr>
        <p:txBody>
          <a:bodyPr wrap="square" lIns="0" tIns="0" rIns="0" bIns="0" rtlCol="0" anchor="t"/>
          <a:lstStyle/>
          <a:p>
            <a:pPr marL="0" indent="0">
              <a:buNone/>
            </a:pPr>
            <a:r>
              <a:rPr lang="en-US" sz="1500" dirty="0">
                <a:solidFill>
                  <a:schemeClr val="bg2"/>
                </a:solidFill>
              </a:rPr>
              <a:t>Excel CSV, live header counters</a:t>
            </a:r>
            <a:endParaRPr lang="en-US" sz="1500" dirty="0"/>
          </a:p>
        </p:txBody>
      </p:sp>
      <p:sp>
        <p:nvSpPr>
          <p:cNvPr id="35" name="text-326"/>
          <p:cNvSpPr txBox="1"/>
          <p:nvPr/>
        </p:nvSpPr>
        <p:spPr>
          <a:xfrm>
            <a:off x="548640" y="5852160"/>
            <a:ext cx="7315200" cy="365760"/>
          </a:xfrm>
          <a:prstGeom prst="rect">
            <a:avLst/>
          </a:prstGeom>
          <a:noFill/>
          <a:ln/>
        </p:spPr>
        <p:txBody>
          <a:bodyPr wrap="square" lIns="0" tIns="0" rIns="0" bIns="0" rtlCol="0" anchor="t"/>
          <a:lstStyle/>
          <a:p>
            <a:pPr marL="0" indent="0">
              <a:buNone/>
            </a:pPr>
            <a:r>
              <a:rPr lang="en-US" sz="1800" b="1" dirty="0">
                <a:solidFill>
                  <a:schemeClr val="accent1"/>
                </a:solidFill>
              </a:rPr>
              <a:t>Browser: http://localhost:3000</a:t>
            </a:r>
            <a:endParaRPr lang="en-US" sz="1800" dirty="0"/>
          </a:p>
        </p:txBody>
      </p:sp>
      <p:sp>
        <p:nvSpPr>
          <p:cNvPr id="36"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Operational Analytics (sample data)</a:t>
            </a:r>
            <a:endParaRPr lang="en-US" sz="3400" dirty="0"/>
          </a:p>
        </p:txBody>
      </p:sp>
      <p:sp>
        <p:nvSpPr>
          <p:cNvPr id="3" name="shape-327"/>
          <p:cNvSpPr/>
          <p:nvPr/>
        </p:nvSpPr>
        <p:spPr>
          <a:xfrm>
            <a:off x="548640" y="1280160"/>
            <a:ext cx="2560320" cy="1051560"/>
          </a:xfrm>
          <a:prstGeom prst="roundRect">
            <a:avLst>
              <a:gd name="adj" fmla="val 8696"/>
            </a:avLst>
          </a:prstGeom>
          <a:solidFill>
            <a:schemeClr val="bg2"/>
          </a:solidFill>
          <a:ln/>
        </p:spPr>
      </p:sp>
      <p:sp>
        <p:nvSpPr>
          <p:cNvPr id="4" name="text-328"/>
          <p:cNvSpPr txBox="1"/>
          <p:nvPr/>
        </p:nvSpPr>
        <p:spPr>
          <a:xfrm>
            <a:off x="777240" y="1353312"/>
            <a:ext cx="2194560" cy="594360"/>
          </a:xfrm>
          <a:prstGeom prst="rect">
            <a:avLst/>
          </a:prstGeom>
          <a:noFill/>
          <a:ln/>
        </p:spPr>
        <p:txBody>
          <a:bodyPr wrap="square" lIns="0" tIns="0" rIns="0" bIns="0" rtlCol="0" anchor="ctr"/>
          <a:lstStyle/>
          <a:p>
            <a:pPr marL="0" indent="0">
              <a:buNone/>
            </a:pPr>
            <a:r>
              <a:rPr lang="en-US" sz="3000" b="1" dirty="0">
                <a:solidFill>
                  <a:schemeClr val="tx2"/>
                </a:solidFill>
                <a:latin typeface="+mj-lt" pitchFamily="34" charset="0"/>
                <a:ea typeface="+mj-lt" pitchFamily="34" charset="-122"/>
                <a:cs typeface="+mj-lt" pitchFamily="34" charset="-120"/>
              </a:rPr>
              <a:t>287</a:t>
            </a:r>
            <a:endParaRPr lang="en-US" sz="3000" dirty="0"/>
          </a:p>
        </p:txBody>
      </p:sp>
      <p:sp>
        <p:nvSpPr>
          <p:cNvPr id="5" name="text-329"/>
          <p:cNvSpPr txBox="1"/>
          <p:nvPr/>
        </p:nvSpPr>
        <p:spPr>
          <a:xfrm>
            <a:off x="777240" y="1938528"/>
            <a:ext cx="2194560" cy="320040"/>
          </a:xfrm>
          <a:prstGeom prst="rect">
            <a:avLst/>
          </a:prstGeom>
          <a:noFill/>
          <a:ln/>
        </p:spPr>
        <p:txBody>
          <a:bodyPr wrap="square" lIns="0" tIns="0" rIns="0" bIns="0" rtlCol="0" anchor="t"/>
          <a:lstStyle/>
          <a:p>
            <a:pPr marL="0" indent="0">
              <a:buNone/>
            </a:pPr>
            <a:r>
              <a:rPr lang="en-US" sz="1500" dirty="0">
                <a:solidFill>
                  <a:schemeClr val="accent6"/>
                </a:solidFill>
              </a:rPr>
              <a:t>Apprehensions</a:t>
            </a:r>
            <a:endParaRPr lang="en-US" sz="1500" dirty="0"/>
          </a:p>
        </p:txBody>
      </p:sp>
      <p:sp>
        <p:nvSpPr>
          <p:cNvPr id="6" name="shape-330"/>
          <p:cNvSpPr/>
          <p:nvPr/>
        </p:nvSpPr>
        <p:spPr>
          <a:xfrm>
            <a:off x="3383280" y="1280160"/>
            <a:ext cx="2560320" cy="1051560"/>
          </a:xfrm>
          <a:prstGeom prst="roundRect">
            <a:avLst>
              <a:gd name="adj" fmla="val 8696"/>
            </a:avLst>
          </a:prstGeom>
          <a:solidFill>
            <a:schemeClr val="bg2"/>
          </a:solidFill>
          <a:ln/>
        </p:spPr>
      </p:sp>
      <p:sp>
        <p:nvSpPr>
          <p:cNvPr id="7" name="text-331"/>
          <p:cNvSpPr txBox="1"/>
          <p:nvPr/>
        </p:nvSpPr>
        <p:spPr>
          <a:xfrm>
            <a:off x="3611880" y="1353312"/>
            <a:ext cx="2194560" cy="594360"/>
          </a:xfrm>
          <a:prstGeom prst="rect">
            <a:avLst/>
          </a:prstGeom>
          <a:noFill/>
          <a:ln/>
        </p:spPr>
        <p:txBody>
          <a:bodyPr wrap="square" lIns="0" tIns="0" rIns="0" bIns="0" rtlCol="0" anchor="ctr"/>
          <a:lstStyle/>
          <a:p>
            <a:pPr marL="0" indent="0">
              <a:buNone/>
            </a:pPr>
            <a:r>
              <a:rPr lang="en-US" sz="3000" b="1" dirty="0">
                <a:solidFill>
                  <a:schemeClr val="tx2"/>
                </a:solidFill>
                <a:latin typeface="+mj-lt" pitchFamily="34" charset="0"/>
                <a:ea typeface="+mj-lt" pitchFamily="34" charset="-122"/>
                <a:cs typeface="+mj-lt" pitchFamily="34" charset="-120"/>
              </a:rPr>
              <a:t>₱440,000</a:t>
            </a:r>
            <a:endParaRPr lang="en-US" sz="3000" dirty="0"/>
          </a:p>
        </p:txBody>
      </p:sp>
      <p:sp>
        <p:nvSpPr>
          <p:cNvPr id="8" name="text-332"/>
          <p:cNvSpPr txBox="1"/>
          <p:nvPr/>
        </p:nvSpPr>
        <p:spPr>
          <a:xfrm>
            <a:off x="3611880" y="1938528"/>
            <a:ext cx="2194560" cy="320040"/>
          </a:xfrm>
          <a:prstGeom prst="rect">
            <a:avLst/>
          </a:prstGeom>
          <a:noFill/>
          <a:ln/>
        </p:spPr>
        <p:txBody>
          <a:bodyPr wrap="square" lIns="0" tIns="0" rIns="0" bIns="0" rtlCol="0" anchor="t"/>
          <a:lstStyle/>
          <a:p>
            <a:pPr marL="0" indent="0">
              <a:buNone/>
            </a:pPr>
            <a:r>
              <a:rPr lang="en-US" sz="1500" dirty="0">
                <a:solidFill>
                  <a:schemeClr val="accent6"/>
                </a:solidFill>
              </a:rPr>
              <a:t>Fines levied</a:t>
            </a:r>
            <a:endParaRPr lang="en-US" sz="1500" dirty="0"/>
          </a:p>
        </p:txBody>
      </p:sp>
      <p:sp>
        <p:nvSpPr>
          <p:cNvPr id="9" name="shape-333"/>
          <p:cNvSpPr/>
          <p:nvPr/>
        </p:nvSpPr>
        <p:spPr>
          <a:xfrm>
            <a:off x="6217920" y="1280160"/>
            <a:ext cx="2560320" cy="1051560"/>
          </a:xfrm>
          <a:prstGeom prst="roundRect">
            <a:avLst>
              <a:gd name="adj" fmla="val 8696"/>
            </a:avLst>
          </a:prstGeom>
          <a:solidFill>
            <a:schemeClr val="bg2"/>
          </a:solidFill>
          <a:ln/>
        </p:spPr>
      </p:sp>
      <p:sp>
        <p:nvSpPr>
          <p:cNvPr id="10" name="text-334"/>
          <p:cNvSpPr txBox="1"/>
          <p:nvPr/>
        </p:nvSpPr>
        <p:spPr>
          <a:xfrm>
            <a:off x="6446520" y="1353312"/>
            <a:ext cx="2194560" cy="594360"/>
          </a:xfrm>
          <a:prstGeom prst="rect">
            <a:avLst/>
          </a:prstGeom>
          <a:noFill/>
          <a:ln/>
        </p:spPr>
        <p:txBody>
          <a:bodyPr wrap="square" lIns="0" tIns="0" rIns="0" bIns="0" rtlCol="0" anchor="ctr"/>
          <a:lstStyle/>
          <a:p>
            <a:pPr marL="0" indent="0">
              <a:buNone/>
            </a:pPr>
            <a:r>
              <a:rPr lang="en-US" sz="3000" b="1" dirty="0">
                <a:solidFill>
                  <a:schemeClr val="tx2"/>
                </a:solidFill>
                <a:latin typeface="+mj-lt" pitchFamily="34" charset="0"/>
                <a:ea typeface="+mj-lt" pitchFamily="34" charset="-122"/>
                <a:cs typeface="+mj-lt" pitchFamily="34" charset="-120"/>
              </a:rPr>
              <a:t>62</a:t>
            </a:r>
            <a:endParaRPr lang="en-US" sz="3000" dirty="0"/>
          </a:p>
        </p:txBody>
      </p:sp>
      <p:sp>
        <p:nvSpPr>
          <p:cNvPr id="11" name="text-335"/>
          <p:cNvSpPr txBox="1"/>
          <p:nvPr/>
        </p:nvSpPr>
        <p:spPr>
          <a:xfrm>
            <a:off x="6446520" y="1938528"/>
            <a:ext cx="2194560" cy="320040"/>
          </a:xfrm>
          <a:prstGeom prst="rect">
            <a:avLst/>
          </a:prstGeom>
          <a:noFill/>
          <a:ln/>
        </p:spPr>
        <p:txBody>
          <a:bodyPr wrap="square" lIns="0" tIns="0" rIns="0" bIns="0" rtlCol="0" anchor="t"/>
          <a:lstStyle/>
          <a:p>
            <a:pPr marL="0" indent="0">
              <a:buNone/>
            </a:pPr>
            <a:r>
              <a:rPr lang="en-US" sz="1500" dirty="0">
                <a:solidFill>
                  <a:schemeClr val="accent6"/>
                </a:solidFill>
              </a:rPr>
              <a:t>Flagged alerts (22%)</a:t>
            </a:r>
            <a:endParaRPr lang="en-US" sz="1500" dirty="0"/>
          </a:p>
        </p:txBody>
      </p:sp>
      <p:sp>
        <p:nvSpPr>
          <p:cNvPr id="12" name="shape-336"/>
          <p:cNvSpPr/>
          <p:nvPr/>
        </p:nvSpPr>
        <p:spPr>
          <a:xfrm>
            <a:off x="9052560" y="1280160"/>
            <a:ext cx="2560320" cy="1051560"/>
          </a:xfrm>
          <a:prstGeom prst="roundRect">
            <a:avLst>
              <a:gd name="adj" fmla="val 8696"/>
            </a:avLst>
          </a:prstGeom>
          <a:solidFill>
            <a:schemeClr val="bg2"/>
          </a:solidFill>
          <a:ln/>
        </p:spPr>
      </p:sp>
      <p:sp>
        <p:nvSpPr>
          <p:cNvPr id="13" name="text-337"/>
          <p:cNvSpPr txBox="1"/>
          <p:nvPr/>
        </p:nvSpPr>
        <p:spPr>
          <a:xfrm>
            <a:off x="9281160" y="1353312"/>
            <a:ext cx="2194560" cy="594360"/>
          </a:xfrm>
          <a:prstGeom prst="rect">
            <a:avLst/>
          </a:prstGeom>
          <a:noFill/>
          <a:ln/>
        </p:spPr>
        <p:txBody>
          <a:bodyPr wrap="square" lIns="0" tIns="0" rIns="0" bIns="0" rtlCol="0" anchor="ctr"/>
          <a:lstStyle/>
          <a:p>
            <a:pPr marL="0" indent="0">
              <a:buNone/>
            </a:pPr>
            <a:r>
              <a:rPr lang="en-US" sz="3000" b="1" dirty="0">
                <a:solidFill>
                  <a:schemeClr val="tx2"/>
                </a:solidFill>
                <a:latin typeface="+mj-lt" pitchFamily="34" charset="0"/>
                <a:ea typeface="+mj-lt" pitchFamily="34" charset="-122"/>
                <a:cs typeface="+mj-lt" pitchFamily="34" charset="-120"/>
              </a:rPr>
              <a:t>189</a:t>
            </a:r>
            <a:endParaRPr lang="en-US" sz="3000" dirty="0"/>
          </a:p>
        </p:txBody>
      </p:sp>
      <p:sp>
        <p:nvSpPr>
          <p:cNvPr id="14" name="text-338"/>
          <p:cNvSpPr txBox="1"/>
          <p:nvPr/>
        </p:nvSpPr>
        <p:spPr>
          <a:xfrm>
            <a:off x="9281160" y="1938528"/>
            <a:ext cx="2194560" cy="320040"/>
          </a:xfrm>
          <a:prstGeom prst="rect">
            <a:avLst/>
          </a:prstGeom>
          <a:noFill/>
          <a:ln/>
        </p:spPr>
        <p:txBody>
          <a:bodyPr wrap="square" lIns="0" tIns="0" rIns="0" bIns="0" rtlCol="0" anchor="t"/>
          <a:lstStyle/>
          <a:p>
            <a:pPr marL="0" indent="0">
              <a:buNone/>
            </a:pPr>
            <a:r>
              <a:rPr lang="en-US" sz="1500" dirty="0">
                <a:solidFill>
                  <a:schemeClr val="accent6"/>
                </a:solidFill>
              </a:rPr>
              <a:t>Unsettled (66%)</a:t>
            </a:r>
            <a:endParaRPr lang="en-US" sz="1500" dirty="0"/>
          </a:p>
        </p:txBody>
      </p:sp>
      <p:graphicFrame>
        <p:nvGraphicFramePr>
          <p:cNvPr id="15" name="chart-339"/>
          <p:cNvGraphicFramePr/>
          <p:nvPr/>
        </p:nvGraphicFramePr>
        <p:xfrm>
          <a:off x="548640" y="2514600"/>
          <a:ext cx="640080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340"/>
          <p:cNvGraphicFramePr/>
          <p:nvPr/>
        </p:nvGraphicFramePr>
        <p:xfrm>
          <a:off x="7223760" y="2514600"/>
          <a:ext cx="438912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17" name="shape-341"/>
          <p:cNvSpPr/>
          <p:nvPr/>
        </p:nvSpPr>
        <p:spPr>
          <a:xfrm>
            <a:off x="548640" y="5577840"/>
            <a:ext cx="11064240" cy="658368"/>
          </a:xfrm>
          <a:prstGeom prst="roundRect">
            <a:avLst>
              <a:gd name="adj" fmla="val 13889"/>
            </a:avLst>
          </a:prstGeom>
          <a:solidFill>
            <a:schemeClr val="tx2"/>
          </a:solidFill>
          <a:ln/>
        </p:spPr>
      </p:sp>
      <p:sp>
        <p:nvSpPr>
          <p:cNvPr id="18" name="text-342"/>
          <p:cNvSpPr txBox="1"/>
          <p:nvPr/>
        </p:nvSpPr>
        <p:spPr>
          <a:xfrm>
            <a:off x="822960" y="5577840"/>
            <a:ext cx="10515600" cy="658368"/>
          </a:xfrm>
          <a:prstGeom prst="rect">
            <a:avLst/>
          </a:prstGeom>
          <a:noFill/>
          <a:ln/>
        </p:spPr>
        <p:txBody>
          <a:bodyPr wrap="square" lIns="0" tIns="0" rIns="0" bIns="0" rtlCol="0" anchor="ctr"/>
          <a:lstStyle/>
          <a:p>
            <a:pPr marL="0" indent="0">
              <a:buNone/>
            </a:pPr>
            <a:r>
              <a:rPr lang="en-US" sz="1800" b="1" dirty="0">
                <a:solidFill>
                  <a:schemeClr val="bg1"/>
                </a:solidFill>
              </a:rPr>
              <a:t>Unlicensed + helmet violations = 51% of cases: prioritize motorcycle checkpoints.</a:t>
            </a:r>
            <a:endParaRPr lang="en-US" sz="18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bg1"/>
                </a:solidFill>
              </a:rPr>
              <a:t>Summary &amp; Roadmap</a:t>
            </a:r>
            <a:endParaRPr lang="en-US" sz="3400" dirty="0"/>
          </a:p>
        </p:txBody>
      </p:sp>
      <p:sp>
        <p:nvSpPr>
          <p:cNvPr id="3" name="shape-343"/>
          <p:cNvSpPr/>
          <p:nvPr/>
        </p:nvSpPr>
        <p:spPr>
          <a:xfrm>
            <a:off x="548640" y="1325880"/>
            <a:ext cx="3566160" cy="3840480"/>
          </a:xfrm>
          <a:prstGeom prst="roundRect">
            <a:avLst>
              <a:gd name="adj" fmla="val 2564"/>
            </a:avLst>
          </a:prstGeom>
          <a:solidFill>
            <a:schemeClr val="tx2"/>
          </a:solidFill>
          <a:ln/>
        </p:spPr>
      </p:sp>
      <p:sp>
        <p:nvSpPr>
          <p:cNvPr id="4" name="text-344"/>
          <p:cNvSpPr txBox="1"/>
          <p:nvPr/>
        </p:nvSpPr>
        <p:spPr>
          <a:xfrm>
            <a:off x="822960" y="1554480"/>
            <a:ext cx="3017520" cy="320040"/>
          </a:xfrm>
          <a:prstGeom prst="rect">
            <a:avLst/>
          </a:prstGeom>
          <a:noFill/>
          <a:ln/>
        </p:spPr>
        <p:txBody>
          <a:bodyPr wrap="square" lIns="0" tIns="0" rIns="0" bIns="0" rtlCol="0" anchor="t"/>
          <a:lstStyle/>
          <a:p>
            <a:pPr marL="0" indent="0">
              <a:buNone/>
            </a:pPr>
            <a:r>
              <a:rPr lang="en-US" sz="1400" b="1" kern="0" spc="100" dirty="0">
                <a:solidFill>
                  <a:schemeClr val="accent1"/>
                </a:solidFill>
              </a:rPr>
              <a:t>DELIVERED</a:t>
            </a:r>
            <a:endParaRPr lang="en-US" sz="1400" dirty="0"/>
          </a:p>
        </p:txBody>
      </p:sp>
      <p:sp>
        <p:nvSpPr>
          <p:cNvPr id="5" name="text-345"/>
          <p:cNvSpPr txBox="1"/>
          <p:nvPr/>
        </p:nvSpPr>
        <p:spPr>
          <a:xfrm>
            <a:off x="822960" y="2103120"/>
            <a:ext cx="301752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Working v2.0-PRO edge prototype</a:t>
            </a:r>
            <a:endParaRPr lang="en-US" sz="2000" dirty="0"/>
          </a:p>
          <a:p>
            <a:pPr marL="342900" indent="-342900">
              <a:spcAft>
                <a:spcPts val="1400"/>
              </a:spcAft>
              <a:buSzPct val="100000"/>
              <a:buChar char="•"/>
            </a:pPr>
            <a:r>
              <a:rPr lang="en-US" sz="2000" dirty="0">
                <a:solidFill>
                  <a:schemeClr val="bg1"/>
                </a:solidFill>
              </a:rPr>
              <a:t>Every requirement traced to a passing test</a:t>
            </a:r>
            <a:endParaRPr lang="en-US" sz="2000" dirty="0"/>
          </a:p>
          <a:p>
            <a:pPr marL="342900" indent="-342900">
              <a:spcAft>
                <a:spcPts val="1400"/>
              </a:spcAft>
              <a:buSzPct val="100000"/>
              <a:buChar char="•"/>
            </a:pPr>
            <a:r>
              <a:rPr lang="en-US" sz="2000" dirty="0">
                <a:solidFill>
                  <a:schemeClr val="bg1"/>
                </a:solidFill>
              </a:rPr>
              <a:t>Full docs: DFD, ERD, HIPO, SCM plan</a:t>
            </a:r>
            <a:endParaRPr lang="en-US" sz="2000" dirty="0"/>
          </a:p>
        </p:txBody>
      </p:sp>
      <p:sp>
        <p:nvSpPr>
          <p:cNvPr id="6" name="shape-346"/>
          <p:cNvSpPr/>
          <p:nvPr/>
        </p:nvSpPr>
        <p:spPr>
          <a:xfrm>
            <a:off x="4297680" y="1325880"/>
            <a:ext cx="3566160" cy="3840480"/>
          </a:xfrm>
          <a:prstGeom prst="roundRect">
            <a:avLst>
              <a:gd name="adj" fmla="val 2564"/>
            </a:avLst>
          </a:prstGeom>
          <a:solidFill>
            <a:schemeClr val="tx2"/>
          </a:solidFill>
          <a:ln/>
        </p:spPr>
      </p:sp>
      <p:sp>
        <p:nvSpPr>
          <p:cNvPr id="7" name="text-347"/>
          <p:cNvSpPr txBox="1"/>
          <p:nvPr/>
        </p:nvSpPr>
        <p:spPr>
          <a:xfrm>
            <a:off x="4572000" y="1554480"/>
            <a:ext cx="3017520" cy="320040"/>
          </a:xfrm>
          <a:prstGeom prst="rect">
            <a:avLst/>
          </a:prstGeom>
          <a:noFill/>
          <a:ln/>
        </p:spPr>
        <p:txBody>
          <a:bodyPr wrap="square" lIns="0" tIns="0" rIns="0" bIns="0" rtlCol="0" anchor="t"/>
          <a:lstStyle/>
          <a:p>
            <a:pPr marL="0" indent="0">
              <a:buNone/>
            </a:pPr>
            <a:r>
              <a:rPr lang="en-US" sz="1400" b="1" kern="0" spc="100" dirty="0">
                <a:solidFill>
                  <a:schemeClr val="accent1"/>
                </a:solidFill>
              </a:rPr>
              <a:t>LESSONS LEARNED</a:t>
            </a:r>
            <a:endParaRPr lang="en-US" sz="1400" dirty="0"/>
          </a:p>
        </p:txBody>
      </p:sp>
      <p:sp>
        <p:nvSpPr>
          <p:cNvPr id="8" name="text-348"/>
          <p:cNvSpPr txBox="1"/>
          <p:nvPr/>
        </p:nvSpPr>
        <p:spPr>
          <a:xfrm>
            <a:off x="4572000" y="2103120"/>
            <a:ext cx="301752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Set up SCM early</a:t>
            </a:r>
            <a:endParaRPr lang="en-US" sz="2000" dirty="0"/>
          </a:p>
          <a:p>
            <a:pPr marL="342900" indent="-342900">
              <a:spcAft>
                <a:spcPts val="1400"/>
              </a:spcAft>
              <a:buSzPct val="100000"/>
              <a:buChar char="•"/>
            </a:pPr>
            <a:r>
              <a:rPr lang="en-US" sz="2000" dirty="0">
                <a:solidFill>
                  <a:schemeClr val="bg1"/>
                </a:solidFill>
              </a:rPr>
              <a:t>Validate on the server</a:t>
            </a:r>
            <a:endParaRPr lang="en-US" sz="2000" dirty="0"/>
          </a:p>
          <a:p>
            <a:pPr marL="342900" indent="-342900">
              <a:spcAft>
                <a:spcPts val="1400"/>
              </a:spcAft>
              <a:buSzPct val="100000"/>
              <a:buChar char="•"/>
            </a:pPr>
            <a:r>
              <a:rPr lang="en-US" sz="2000" dirty="0">
                <a:solidFill>
                  <a:schemeClr val="bg1"/>
                </a:solidFill>
              </a:rPr>
              <a:t>Design for real hardware</a:t>
            </a:r>
            <a:endParaRPr lang="en-US" sz="2000" dirty="0"/>
          </a:p>
        </p:txBody>
      </p:sp>
      <p:sp>
        <p:nvSpPr>
          <p:cNvPr id="9" name="shape-349"/>
          <p:cNvSpPr/>
          <p:nvPr/>
        </p:nvSpPr>
        <p:spPr>
          <a:xfrm>
            <a:off x="8046720" y="1325880"/>
            <a:ext cx="3566160" cy="3840480"/>
          </a:xfrm>
          <a:prstGeom prst="roundRect">
            <a:avLst>
              <a:gd name="adj" fmla="val 2564"/>
            </a:avLst>
          </a:prstGeom>
          <a:solidFill>
            <a:schemeClr val="tx2"/>
          </a:solidFill>
          <a:ln/>
        </p:spPr>
      </p:sp>
      <p:sp>
        <p:nvSpPr>
          <p:cNvPr id="10" name="text-350"/>
          <p:cNvSpPr txBox="1"/>
          <p:nvPr/>
        </p:nvSpPr>
        <p:spPr>
          <a:xfrm>
            <a:off x="8321040" y="1554480"/>
            <a:ext cx="3017520" cy="320040"/>
          </a:xfrm>
          <a:prstGeom prst="rect">
            <a:avLst/>
          </a:prstGeom>
          <a:noFill/>
          <a:ln/>
        </p:spPr>
        <p:txBody>
          <a:bodyPr wrap="square" lIns="0" tIns="0" rIns="0" bIns="0" rtlCol="0" anchor="t"/>
          <a:lstStyle/>
          <a:p>
            <a:pPr marL="0" indent="0">
              <a:buNone/>
            </a:pPr>
            <a:r>
              <a:rPr lang="en-US" sz="1400" b="1" kern="0" spc="100" dirty="0">
                <a:solidFill>
                  <a:schemeClr val="accent1"/>
                </a:solidFill>
              </a:rPr>
              <a:t>NEXT: CLOUD ROADMAP</a:t>
            </a:r>
            <a:endParaRPr lang="en-US" sz="1400" dirty="0"/>
          </a:p>
        </p:txBody>
      </p:sp>
      <p:sp>
        <p:nvSpPr>
          <p:cNvPr id="11" name="text-351"/>
          <p:cNvSpPr txBox="1"/>
          <p:nvPr/>
        </p:nvSpPr>
        <p:spPr>
          <a:xfrm>
            <a:off x="8321040" y="2103120"/>
            <a:ext cx="301752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PostgreSQL + live alerts</a:t>
            </a:r>
            <a:endParaRPr lang="en-US" sz="2000" dirty="0"/>
          </a:p>
          <a:p>
            <a:pPr marL="342900" indent="-342900">
              <a:spcAft>
                <a:spcPts val="1400"/>
              </a:spcAft>
              <a:buSzPct val="100000"/>
              <a:buChar char="•"/>
            </a:pPr>
            <a:r>
              <a:rPr lang="en-US" sz="2000" dirty="0">
                <a:solidFill>
                  <a:schemeClr val="bg1"/>
                </a:solidFill>
              </a:rPr>
              <a:t>LTO / PNP gateways, online payments</a:t>
            </a:r>
            <a:endParaRPr lang="en-US" sz="2000" dirty="0"/>
          </a:p>
          <a:p>
            <a:pPr marL="342900" indent="-342900">
              <a:spcAft>
                <a:spcPts val="1400"/>
              </a:spcAft>
              <a:buSzPct val="100000"/>
              <a:buChar char="•"/>
            </a:pPr>
            <a:r>
              <a:rPr lang="en-US" sz="2000" dirty="0">
                <a:solidFill>
                  <a:schemeClr val="bg1"/>
                </a:solidFill>
              </a:rPr>
              <a:t>Offline-first mobile patrol app</a:t>
            </a:r>
            <a:endParaRPr lang="en-US" sz="2000" dirty="0"/>
          </a:p>
        </p:txBody>
      </p:sp>
      <p:sp>
        <p:nvSpPr>
          <p:cNvPr id="12" name="shape-352"/>
          <p:cNvSpPr/>
          <p:nvPr/>
        </p:nvSpPr>
        <p:spPr>
          <a:xfrm>
            <a:off x="548640" y="5440680"/>
            <a:ext cx="11064240" cy="777240"/>
          </a:xfrm>
          <a:prstGeom prst="roundRect">
            <a:avLst>
              <a:gd name="adj" fmla="val 11765"/>
            </a:avLst>
          </a:prstGeom>
          <a:solidFill>
            <a:schemeClr val="accent1"/>
          </a:solidFill>
          <a:ln/>
        </p:spPr>
      </p:sp>
      <p:sp>
        <p:nvSpPr>
          <p:cNvPr id="13" name="text-353"/>
          <p:cNvSpPr txBox="1"/>
          <p:nvPr/>
        </p:nvSpPr>
        <p:spPr>
          <a:xfrm>
            <a:off x="822960" y="5440680"/>
            <a:ext cx="10515600" cy="777240"/>
          </a:xfrm>
          <a:prstGeom prst="rect">
            <a:avLst/>
          </a:prstGeom>
          <a:noFill/>
          <a:ln/>
        </p:spPr>
        <p:txBody>
          <a:bodyPr wrap="square" lIns="0" tIns="0" rIns="0" bIns="0" rtlCol="0" anchor="ctr"/>
          <a:lstStyle/>
          <a:p>
            <a:pPr marL="0" indent="0">
              <a:buNone/>
            </a:pPr>
            <a:r>
              <a:rPr lang="en-US" sz="2400" b="1" dirty="0">
                <a:solidFill>
                  <a:schemeClr val="tx1"/>
                </a:solidFill>
              </a:rPr>
              <a:t>Thank you. We are ready for your questions.</a:t>
            </a:r>
            <a:endParaRPr lang="en-US" sz="2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PNP-CVPRMS">
  <a:themeElements>
    <a:clrScheme name="PNP-CVPRMS">
      <a:dk1>
        <a:srgbClr val="0F172A"/>
      </a:dk1>
      <a:lt1>
        <a:srgbClr val="FFFFFF"/>
      </a:lt1>
      <a:dk2>
        <a:srgbClr val="162E5C"/>
      </a:dk2>
      <a:lt2>
        <a:srgbClr val="EEF2F8"/>
      </a:lt2>
      <a:accent1>
        <a:srgbClr val="C9962B"/>
      </a:accent1>
      <a:accent2>
        <a:srgbClr val="2057B8"/>
      </a:accent2>
      <a:accent3>
        <a:srgbClr val="C62F3E"/>
      </a:accent3>
      <a:accent4>
        <a:srgbClr val="E89B20"/>
      </a:accent4>
      <a:accent5>
        <a:srgbClr val="23915F"/>
      </a:accent5>
      <a:accent6>
        <a:srgbClr val="5B6B82"/>
      </a:accent6>
      <a:hlink>
        <a:srgbClr val="2057B8"/>
      </a:hlink>
      <a:folHlink>
        <a:srgbClr val="5B6B82"/>
      </a:folHlink>
    </a:clrScheme>
    <a:fontScheme name="PNP-CVPR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4685</Words>
  <Application>Microsoft Office PowerPoint</Application>
  <PresentationFormat>Widescreen</PresentationFormat>
  <Paragraphs>355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PNP-CVPRMS</vt:lpstr>
      <vt:lpstr>Computerized Violation Processing &amp; Records Management System</vt:lpstr>
      <vt:lpstr>Who Presents What</vt:lpstr>
      <vt:lpstr>The Checkpoint Problem</vt:lpstr>
      <vt:lpstr>Five Measurable Goals</vt:lpstr>
      <vt:lpstr>Vision vs. Prototype</vt:lpstr>
      <vt:lpstr>Requirements → Code → Tests</vt:lpstr>
      <vt:lpstr>Data Flow: Context to Level 1</vt:lpstr>
      <vt:lpstr>Data Model: One Table Now, 3NF Later</vt:lpstr>
      <vt:lpstr>Modular Design: Structure Chart</vt:lpstr>
      <vt:lpstr>Tech Stack &amp; Trade-offs</vt:lpstr>
      <vt:lpstr>Core Algorithms</vt:lpstr>
      <vt:lpstr>Four Problems We Solved</vt:lpstr>
      <vt:lpstr>Testing: 14 of 14 Passing</vt:lpstr>
      <vt:lpstr>Process &amp; SCM Governance</vt:lpstr>
      <vt:lpstr>Live Demo: 8 Steps</vt:lpstr>
      <vt:lpstr>Operational Analytics (sample data)</vt:lpstr>
      <vt:lpstr>Summary &amp; Roadmap</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PNP-CVPRMS Final Capstone Defense</dc:title>
  <dc:subject>Computerized Violation Processing &amp; Records Management System</dc:subject>
  <dc:creator>PNP-CVPRMS Team</dc:creator>
  <cp:lastModifiedBy>Emmanuel John Paneda</cp:lastModifiedBy>
  <cp:revision>3</cp:revision>
  <dcterms:created xsi:type="dcterms:W3CDTF">2026-10-06T23:20:09Z</dcterms:created>
  <dcterms:modified xsi:type="dcterms:W3CDTF">2026-10-07T01:48:30Z</dcterms:modified>
</cp:coreProperties>
</file>